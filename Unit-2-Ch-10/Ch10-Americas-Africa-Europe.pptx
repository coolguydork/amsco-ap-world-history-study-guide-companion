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1691640"/>
            <a:ext cx="2962656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3218688" y="1691640"/>
            <a:ext cx="2962656" cy="54864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6" name="Shape 4"/>
          <p:cNvSpPr/>
          <p:nvPr/>
        </p:nvSpPr>
        <p:spPr>
          <a:xfrm>
            <a:off x="6181344" y="1691640"/>
            <a:ext cx="2962656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50292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C49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10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Exchange in the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4447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Americas, Africa &amp; Europe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208483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B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World History: Modern  •  Unit 2: Networks of Exchange  •  c. 1200–1450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468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2468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49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54496" y="2468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AMERICAS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2880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B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Trans-Saharan Trade  •  Mali Empire  •  Black Death in Europe  •  Americas' Isolation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4805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448056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0B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parallel regional networks — all unconnected to each other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Networks, One Period — All Operating in Parallel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2743200" cy="41605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2743200" cy="5303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0467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Trans-Saharan Trade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256032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Gold (south) ↔ Salt (north)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West Africa → North Africa → Mediterranean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Enabling tech: the camel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Islam spreads south via merchants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Mali Empire = wealthiest state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27832" y="804672"/>
            <a:ext cx="2743200" cy="41605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804672"/>
            <a:ext cx="2743200" cy="530352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11" name="Text 9"/>
          <p:cNvSpPr/>
          <p:nvPr/>
        </p:nvSpPr>
        <p:spPr>
          <a:xfrm>
            <a:off x="3319272" y="80467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Mediterranean &amp; Baltic Trade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9272" y="1389888"/>
            <a:ext cx="256032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Italian city-states: western Silk Road terminals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Venice, Genoa distribute Asian luxury goods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Hanseatic League: N. European grain/fish trade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Black Death (1347–53) kills ~1/3 of Europe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Commercial innovations fund Renaissance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35624" y="804672"/>
            <a:ext cx="2743200" cy="41605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35624" y="804672"/>
            <a:ext cx="2743200" cy="5303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6227064" y="80467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AMERICAS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Networks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27064" y="1389888"/>
            <a:ext cx="256032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Aztec: tribute + pochteca merchants + market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Inca: mit'a labor + road system + redistribution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Mississippian: river-based exchange (Cahokia)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contact with Old World — biologically isolated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Isolation → catastrophic vulnerability after 1492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468172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All three networks operated simultaneously — but were NOT connected to each other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Africa: Trans-Saharan Trade &amp; the Mali Empire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804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GOLD-SALT EXCHANGE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114800" cy="84124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73152" cy="841248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61872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9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West African GOLD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3858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Bambuk &amp; Bure goldfields (Mali); scarce in North Africa &amp; Mediterranean; commands premium prices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121408"/>
            <a:ext cx="4114800" cy="84124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21408"/>
            <a:ext cx="73152" cy="841248"/>
          </a:xfrm>
          <a:prstGeom prst="rect">
            <a:avLst/>
          </a:prstGeom>
          <a:solidFill>
            <a:srgbClr val="7A7A5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94560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Saharan SALT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441448"/>
            <a:ext cx="3858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Taghaza mines; essential for food preservation; scarce in forest/savanna West Africa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054096"/>
            <a:ext cx="4114800" cy="84124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54096"/>
            <a:ext cx="73152" cy="8412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27248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worked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374136"/>
            <a:ext cx="3858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scarcity: each side had what the other desperately needed — self-sustaining without external pressure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986784"/>
            <a:ext cx="4114800" cy="84124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986784"/>
            <a:ext cx="73152" cy="841248"/>
          </a:xfrm>
          <a:prstGeom prst="rect">
            <a:avLst/>
          </a:prstGeom>
          <a:solidFill>
            <a:srgbClr val="D4870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059936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7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camel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306824"/>
            <a:ext cx="3858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Bactrian/dromedary: 500 lb capacity, weeks without water — the enabling technology of trans-Saharan commerce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804672"/>
            <a:ext cx="4114800" cy="4160520"/>
          </a:xfrm>
          <a:prstGeom prst="rect">
            <a:avLst/>
          </a:prstGeom>
          <a:solidFill>
            <a:srgbClr val="0F1F0F"/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0" y="804672"/>
            <a:ext cx="4114800" cy="438912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24" name="Text 22"/>
          <p:cNvSpPr/>
          <p:nvPr/>
        </p:nvSpPr>
        <p:spPr>
          <a:xfrm>
            <a:off x="4736592" y="804672"/>
            <a:ext cx="3968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4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MALI EMPIRE &amp; MANSA MUSA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36592" y="1353312"/>
            <a:ext cx="54864" cy="438912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26" name="Text 24"/>
          <p:cNvSpPr/>
          <p:nvPr/>
        </p:nvSpPr>
        <p:spPr>
          <a:xfrm>
            <a:off x="4828032" y="140817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25312" y="140817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C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Sundiata Keita (c. 1235) — story preserved as Epic of Sundiata by griots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36592" y="1920240"/>
            <a:ext cx="54864" cy="438912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29" name="Text 27"/>
          <p:cNvSpPr/>
          <p:nvPr/>
        </p:nvSpPr>
        <p:spPr>
          <a:xfrm>
            <a:off x="4828032" y="197510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base: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25312" y="197510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C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of gold-producing regions + tax on trans-Saharan trade routes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36592" y="2487168"/>
            <a:ext cx="54864" cy="438912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32" name="Text 30"/>
          <p:cNvSpPr/>
          <p:nvPr/>
        </p:nvSpPr>
        <p:spPr>
          <a:xfrm>
            <a:off x="4828032" y="254203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Mansa Musa: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25312" y="254203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C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c. 1312–1337; richest ruler in the world at his peak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36592" y="3054096"/>
            <a:ext cx="54864" cy="438912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35" name="Text 33"/>
          <p:cNvSpPr/>
          <p:nvPr/>
        </p:nvSpPr>
        <p:spPr>
          <a:xfrm>
            <a:off x="4828032" y="31089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Hajj (1324–25):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25312" y="31089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C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60,000+ entourage; distributed so much gold Cairo prices fell for 12 YEARS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36592" y="3621024"/>
            <a:ext cx="54864" cy="438912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38" name="Text 36"/>
          <p:cNvSpPr/>
          <p:nvPr/>
        </p:nvSpPr>
        <p:spPr>
          <a:xfrm>
            <a:off x="4828032" y="36758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impact: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25312" y="367588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C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Mali on Islamic + European maps (Catalan Atlas 1375)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36592" y="4187952"/>
            <a:ext cx="54864" cy="438912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41" name="Text 39"/>
          <p:cNvSpPr/>
          <p:nvPr/>
        </p:nvSpPr>
        <p:spPr>
          <a:xfrm>
            <a:off x="4828032" y="424281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Timbuktu: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925312" y="424281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C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 scholarly center produced by trade wealth; major madrasas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663440" y="46634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49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AP: Mansa Musa's hajj is a prime stimulus source — know the Cairo gold inflation detail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49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Europe: Commercial Recovery &amp; the Black Death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4114800" cy="9601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73152" cy="960120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7782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9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Venice &amp; Genoa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52144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terminals of Silk Road luxury goods; distributed spices, silk, dyes to European markets; controlled Byzantine &amp; Black Sea routes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56232"/>
            <a:ext cx="4114800" cy="9601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56232"/>
            <a:ext cx="73152" cy="960120"/>
          </a:xfrm>
          <a:prstGeom prst="rect">
            <a:avLst/>
          </a:prstGeom>
          <a:solidFill>
            <a:srgbClr val="5A7A5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2938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7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Hanseatic League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203704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European commercial confederation; Baltic/North Sea trade in grain, fish, amber, timber; independent of Mediterranean network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907792"/>
            <a:ext cx="4114800" cy="9601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07792"/>
            <a:ext cx="73152" cy="960120"/>
          </a:xfrm>
          <a:prstGeom prst="rect">
            <a:avLst/>
          </a:prstGeom>
          <a:solidFill>
            <a:srgbClr val="D4870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8094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7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 innovations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255264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 bookkeeping, marine insurance, bills of exchange, banking — innovations that would later fund exploration and the Renaissance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959352"/>
            <a:ext cx="4114800" cy="9601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959352"/>
            <a:ext cx="73152" cy="96012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0325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Caffa (Crimea)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306824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Genoese Black Sea trading post — the point where the Black Death entered the European network via ship, 1347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804672"/>
            <a:ext cx="4114800" cy="4160520"/>
          </a:xfrm>
          <a:prstGeom prst="rect">
            <a:avLst/>
          </a:prstGeom>
          <a:solidFill>
            <a:srgbClr val="15050A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0" y="804672"/>
            <a:ext cx="4114800" cy="438912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23" name="Text 21"/>
          <p:cNvSpPr/>
          <p:nvPr/>
        </p:nvSpPr>
        <p:spPr>
          <a:xfrm>
            <a:off x="4736592" y="804672"/>
            <a:ext cx="3968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BLACK DEATH IN EUROPE (1347–53)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36592" y="1353312"/>
            <a:ext cx="54864" cy="438912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25" name="Text 23"/>
          <p:cNvSpPr/>
          <p:nvPr/>
        </p:nvSpPr>
        <p:spPr>
          <a:xfrm>
            <a:off x="4828032" y="140817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61888" y="1408176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Genoese ships from Caffa → Sicily 1347; spread rapidly across Europe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36592" y="1920240"/>
            <a:ext cx="54864" cy="438912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28" name="Text 26"/>
          <p:cNvSpPr/>
          <p:nvPr/>
        </p:nvSpPr>
        <p:spPr>
          <a:xfrm>
            <a:off x="4828032" y="197510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toll: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61888" y="1975104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million (~1/3 of European population) by 1353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36592" y="2487168"/>
            <a:ext cx="54864" cy="438912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31" name="Text 29"/>
          <p:cNvSpPr/>
          <p:nvPr/>
        </p:nvSpPr>
        <p:spPr>
          <a:xfrm>
            <a:off x="4828032" y="254203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effect: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61888" y="2542032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shortages → peasants gain bargaining power → serfdom ERODES in West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36592" y="3054096"/>
            <a:ext cx="54864" cy="438912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34" name="Text 32"/>
          <p:cNvSpPr/>
          <p:nvPr/>
        </p:nvSpPr>
        <p:spPr>
          <a:xfrm>
            <a:off x="4828032" y="310896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effect: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61888" y="3108960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authority challenged — couldn't explain or stop the plague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36592" y="3621024"/>
            <a:ext cx="54864" cy="438912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37" name="Text 35"/>
          <p:cNvSpPr/>
          <p:nvPr/>
        </p:nvSpPr>
        <p:spPr>
          <a:xfrm>
            <a:off x="4828032" y="367588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61888" y="3675888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Flagellants (self-punishment); Jewish pogroms (scapegoating); peasant revolts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36592" y="4187952"/>
            <a:ext cx="54864" cy="438912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40" name="Text 38"/>
          <p:cNvSpPr/>
          <p:nvPr/>
        </p:nvSpPr>
        <p:spPr>
          <a:xfrm>
            <a:off x="4828032" y="424281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irony: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61888" y="4242816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 city-state trade networks (Venice, Genoa) that drove European prosperity also imported the plague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Americas: Regional Exchange Networks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2743200" cy="41605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2743200" cy="548640"/>
          </a:xfrm>
          <a:prstGeom prst="rect">
            <a:avLst/>
          </a:prstGeom>
          <a:solidFill>
            <a:srgbClr val="5A8A3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04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AZTEC (MEXICA)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Mexico  •  c. 1300–1521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408176"/>
            <a:ext cx="2560320" cy="3438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Tenochtitlán: one of the world's largest cities by 1400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Pochteca: professional long-distance merchants in hereditary guilds; traded luxury goods + spied for the state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Tlatelolco market: impressed Spanish conquistadors as equal to Seville's markets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Economy: HYBRID — tribute from conquered peoples + active commercial markets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804672"/>
            <a:ext cx="2743200" cy="41605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804672"/>
            <a:ext cx="2743200" cy="548640"/>
          </a:xfrm>
          <a:prstGeom prst="rect">
            <a:avLst/>
          </a:prstGeom>
          <a:solidFill>
            <a:srgbClr val="2A7A6A"/>
          </a:solidFill>
          <a:ln/>
        </p:spPr>
      </p:sp>
      <p:sp>
        <p:nvSpPr>
          <p:cNvPr id="12" name="Text 10"/>
          <p:cNvSpPr/>
          <p:nvPr/>
        </p:nvSpPr>
        <p:spPr>
          <a:xfrm>
            <a:off x="3319272" y="804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INCA (TAWANTINSUYU)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9272" y="11521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Andes, S. America  •  c. 1400–1532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19272" y="1408176"/>
            <a:ext cx="2560320" cy="3438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~25,000 miles of roads connecting the Andes empire to Cuzco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Mit'a: labor taxation (not goods) — subjects owed state labor, not money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Qollqa (storehouses): state extracted and redistributed goods; NO market economy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Chasqui relay runners: messages crossed the empire in days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35624" y="804672"/>
            <a:ext cx="2743200" cy="41605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35624" y="804672"/>
            <a:ext cx="2743200" cy="548640"/>
          </a:xfrm>
          <a:prstGeom prst="rect">
            <a:avLst/>
          </a:prstGeom>
          <a:solidFill>
            <a:srgbClr val="6A7A2A"/>
          </a:solidFill>
          <a:ln/>
        </p:spPr>
      </p:sp>
      <p:sp>
        <p:nvSpPr>
          <p:cNvPr id="17" name="Text 15"/>
          <p:cNvSpPr/>
          <p:nvPr/>
        </p:nvSpPr>
        <p:spPr>
          <a:xfrm>
            <a:off x="6227064" y="804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CAHOKIA &amp; MISSISSIPPIAN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27064" y="11521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  •  c. 900–1400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27064" y="1408176"/>
            <a:ext cx="2560320" cy="3438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Cahokia (near modern St. Louis): peak pop. 20,000–30,000 — larger than contemporary London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Extensive river-based trade networks across eastern North America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Traded: copper, shells, obsidian, ceremonial objects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Declined c. 1300–1400 (debated causes: environmental, political, trade disruption)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AMERICAS' ISOLATION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consequential fact about the Americas in the period c. 1200–1450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4206240" cy="1051560"/>
          </a:xfrm>
          <a:prstGeom prst="rect">
            <a:avLst/>
          </a:prstGeom>
          <a:solidFill>
            <a:srgbClr val="152515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73152" cy="10515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350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means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0934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biological contact with Eurasia or Africa before 1492 — no shared disease pool, no Old World animals (except llama/alpaca)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432304"/>
            <a:ext cx="4206240" cy="1051560"/>
          </a:xfrm>
          <a:prstGeom prst="rect">
            <a:avLst/>
          </a:prstGeom>
          <a:solidFill>
            <a:srgbClr val="152515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432304"/>
            <a:ext cx="73152" cy="1051560"/>
          </a:xfrm>
          <a:prstGeom prst="rect">
            <a:avLst/>
          </a:prstGeom>
          <a:solidFill>
            <a:srgbClr val="5A8A3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054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8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Americas DID have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779776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Sophisticated regional trade networks, complex states, large cities — full political and cultural complexity, just biologically isolated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602736"/>
            <a:ext cx="4206240" cy="1051560"/>
          </a:xfrm>
          <a:prstGeom prst="rect">
            <a:avLst/>
          </a:prstGeom>
          <a:solidFill>
            <a:srgbClr val="152515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602736"/>
            <a:ext cx="73152" cy="105156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675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Old World diseases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95020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smallpox, measles, influenza, typhus — populations had zero prior immunity to any of these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261872"/>
            <a:ext cx="4206240" cy="1051560"/>
          </a:xfrm>
          <a:prstGeom prst="rect">
            <a:avLst/>
          </a:prstGeom>
          <a:solidFill>
            <a:srgbClr val="152515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261872"/>
            <a:ext cx="73152" cy="105156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3350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mattered for 1492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160934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contact introduced pathogens to completely immunologically naive populations — mortality rates of 50–90% in some regions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432304"/>
            <a:ext cx="4206240" cy="1051560"/>
          </a:xfrm>
          <a:prstGeom prst="rect">
            <a:avLst/>
          </a:prstGeom>
          <a:solidFill>
            <a:srgbClr val="152515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432304"/>
            <a:ext cx="73152" cy="1051560"/>
          </a:xfrm>
          <a:prstGeom prst="rect">
            <a:avLst/>
          </a:prstGeom>
          <a:solidFill>
            <a:srgbClr val="D4870A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5054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7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Columbian Exchange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2779776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exchange after 1492 is catastrophic because of THIS isolation. No isolation = no catastrophe at the scale that occurred.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602736"/>
            <a:ext cx="4206240" cy="1051560"/>
          </a:xfrm>
          <a:prstGeom prst="rect">
            <a:avLst/>
          </a:prstGeom>
          <a:solidFill>
            <a:srgbClr val="152515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602736"/>
            <a:ext cx="73152" cy="10515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675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 Exam significance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395020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Americas' isolation is WHY Ch10 is in Unit 2 — to establish the context that makes the Columbian Exchange (Unit 3/4) comprehensible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 Exam Comparisons: Ch10 Across All Three Regions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73152" cy="9601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778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↔  How Islam spread the same way in TWO networks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5214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Trans-Saharan (West Africa) and Indian Ocean (Ch9) both spread Islam via merchant diaspora communities → rulers converted for commercial advantage. The MECHANISM was identical despite different geographies.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56232"/>
            <a:ext cx="8503920" cy="9601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56232"/>
            <a:ext cx="73152" cy="960120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29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9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↔  Mali (Africa) vs. Italian city-states (Europe)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20370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derived political power from controlling trade; both produced sophisticated cultural achievements (Timbuktu / Italian Renaissance); both eventually bypassed by Portuguese maritime routes — parallel trajectories in very different contexts.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907792"/>
            <a:ext cx="8503920" cy="9601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07792"/>
            <a:ext cx="73152" cy="960120"/>
          </a:xfrm>
          <a:prstGeom prst="rect">
            <a:avLst/>
          </a:prstGeom>
          <a:solidFill>
            <a:srgbClr val="5A8A3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80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8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↔  Inca redistribution vs. Aztec commercial economy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25526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 = non-market state redistribution (mit'a + qollqa, no currency); Aztec = hybrid tribute + active market commerce (pochteca + Tlatelolco). Two very different solutions to organizing a large empire's economy.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959352"/>
            <a:ext cx="8503920" cy="9601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959352"/>
            <a:ext cx="73152" cy="9601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0325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↔  Americas' isolation vs. Old World connectivity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30682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contrast in Unit 2: Old World networks transmitted goods, ideas, religion, and disease across continents. The Americas developed full complexity in complete biological isolation — making 1492 contact catastrophic.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Timeline: Americas, Africa &amp; Europe c. 1200–1500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2743200" cy="3840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046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2743200" cy="566928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261872"/>
            <a:ext cx="658368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" y="1261872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c.1230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33272" y="135331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Sundiata founds Mali Empire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892808"/>
            <a:ext cx="2743200" cy="566928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1892808"/>
            <a:ext cx="658368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" y="1892808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1312–37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33272" y="198424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Mansa Musa reigns; peak Mali power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523744"/>
            <a:ext cx="2743200" cy="566928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2523744"/>
            <a:ext cx="658368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" y="2523744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1324–25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33272" y="2615184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Mansa Musa's hajj; Cairo gold inflation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154680"/>
            <a:ext cx="2743200" cy="566928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3154680"/>
            <a:ext cx="658368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" y="3154680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1352–53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33272" y="3246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Ibn Battuta visits Mali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785616"/>
            <a:ext cx="2743200" cy="566928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" y="3785616"/>
            <a:ext cx="658368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" y="3785616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c.1375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33272" y="3877056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Catalan Atlas depicts Mansa Musa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4416552"/>
            <a:ext cx="2743200" cy="566928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" y="4416552"/>
            <a:ext cx="658368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" y="4416552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c.1400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33272" y="450799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Songhai begins challenging Mali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27832" y="804672"/>
            <a:ext cx="2743200" cy="384048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32" name="Text 30"/>
          <p:cNvSpPr/>
          <p:nvPr/>
        </p:nvSpPr>
        <p:spPr>
          <a:xfrm>
            <a:off x="3319272" y="8046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27832" y="1261872"/>
            <a:ext cx="2743200" cy="566928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34" name="Shape 32"/>
          <p:cNvSpPr/>
          <p:nvPr/>
        </p:nvSpPr>
        <p:spPr>
          <a:xfrm>
            <a:off x="3227832" y="1261872"/>
            <a:ext cx="658368" cy="566928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35" name="Text 33"/>
          <p:cNvSpPr/>
          <p:nvPr/>
        </p:nvSpPr>
        <p:spPr>
          <a:xfrm>
            <a:off x="3246120" y="1261872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c.1200+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941064" y="135331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 city-states rise as luxury trade hubs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27832" y="1892808"/>
            <a:ext cx="2743200" cy="566928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38" name="Shape 36"/>
          <p:cNvSpPr/>
          <p:nvPr/>
        </p:nvSpPr>
        <p:spPr>
          <a:xfrm>
            <a:off x="3227832" y="1892808"/>
            <a:ext cx="658368" cy="566928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39" name="Text 37"/>
          <p:cNvSpPr/>
          <p:nvPr/>
        </p:nvSpPr>
        <p:spPr>
          <a:xfrm>
            <a:off x="3246120" y="1892808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1241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941064" y="198424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Hanseatic League forming (Baltic trade)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27832" y="2523744"/>
            <a:ext cx="2743200" cy="566928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42" name="Shape 40"/>
          <p:cNvSpPr/>
          <p:nvPr/>
        </p:nvSpPr>
        <p:spPr>
          <a:xfrm>
            <a:off x="3227832" y="2523744"/>
            <a:ext cx="658368" cy="566928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43" name="Text 41"/>
          <p:cNvSpPr/>
          <p:nvPr/>
        </p:nvSpPr>
        <p:spPr>
          <a:xfrm>
            <a:off x="3246120" y="2523744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1347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941064" y="2615184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Death arrives in Sicily from Caffa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27832" y="3154680"/>
            <a:ext cx="2743200" cy="566928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46" name="Shape 44"/>
          <p:cNvSpPr/>
          <p:nvPr/>
        </p:nvSpPr>
        <p:spPr>
          <a:xfrm>
            <a:off x="3227832" y="3154680"/>
            <a:ext cx="658368" cy="566928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47" name="Text 45"/>
          <p:cNvSpPr/>
          <p:nvPr/>
        </p:nvSpPr>
        <p:spPr>
          <a:xfrm>
            <a:off x="3246120" y="3154680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1347–53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941064" y="3246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Death kills ~1/3 of Europe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27832" y="3785616"/>
            <a:ext cx="2743200" cy="566928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50" name="Shape 48"/>
          <p:cNvSpPr/>
          <p:nvPr/>
        </p:nvSpPr>
        <p:spPr>
          <a:xfrm>
            <a:off x="3227832" y="3785616"/>
            <a:ext cx="658368" cy="566928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51" name="Text 49"/>
          <p:cNvSpPr/>
          <p:nvPr/>
        </p:nvSpPr>
        <p:spPr>
          <a:xfrm>
            <a:off x="3246120" y="3785616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1358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941064" y="3877056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Jacquerie — French peasant revolt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27832" y="4416552"/>
            <a:ext cx="2743200" cy="566928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54" name="Shape 52"/>
          <p:cNvSpPr/>
          <p:nvPr/>
        </p:nvSpPr>
        <p:spPr>
          <a:xfrm>
            <a:off x="3227832" y="4416552"/>
            <a:ext cx="658368" cy="566928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55" name="Text 53"/>
          <p:cNvSpPr/>
          <p:nvPr/>
        </p:nvSpPr>
        <p:spPr>
          <a:xfrm>
            <a:off x="3246120" y="4416552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1381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941064" y="450799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Peasants' Revolt in England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135624" y="804672"/>
            <a:ext cx="2743200" cy="38404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8" name="Text 56"/>
          <p:cNvSpPr/>
          <p:nvPr/>
        </p:nvSpPr>
        <p:spPr>
          <a:xfrm>
            <a:off x="6227064" y="8046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AMERICAS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6135624" y="1261872"/>
            <a:ext cx="2743200" cy="566928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60" name="Shape 58"/>
          <p:cNvSpPr/>
          <p:nvPr/>
        </p:nvSpPr>
        <p:spPr>
          <a:xfrm>
            <a:off x="6135624" y="1261872"/>
            <a:ext cx="658368" cy="5669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1" name="Text 59"/>
          <p:cNvSpPr/>
          <p:nvPr/>
        </p:nvSpPr>
        <p:spPr>
          <a:xfrm>
            <a:off x="6153912" y="1261872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c.1100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848856" y="135331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Cahokia at peak (~25,000 people)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135624" y="1892808"/>
            <a:ext cx="2743200" cy="566928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64" name="Shape 62"/>
          <p:cNvSpPr/>
          <p:nvPr/>
        </p:nvSpPr>
        <p:spPr>
          <a:xfrm>
            <a:off x="6135624" y="1892808"/>
            <a:ext cx="658368" cy="5669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5" name="Text 63"/>
          <p:cNvSpPr/>
          <p:nvPr/>
        </p:nvSpPr>
        <p:spPr>
          <a:xfrm>
            <a:off x="6153912" y="1892808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c.1200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848856" y="198424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Cahokia begins to decline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135624" y="2523744"/>
            <a:ext cx="2743200" cy="566928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68" name="Shape 66"/>
          <p:cNvSpPr/>
          <p:nvPr/>
        </p:nvSpPr>
        <p:spPr>
          <a:xfrm>
            <a:off x="6135624" y="2523744"/>
            <a:ext cx="658368" cy="5669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9" name="Text 67"/>
          <p:cNvSpPr/>
          <p:nvPr/>
        </p:nvSpPr>
        <p:spPr>
          <a:xfrm>
            <a:off x="6153912" y="2523744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c.1300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848856" y="2615184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Aztec settle in Lake Texcoco region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135624" y="3154680"/>
            <a:ext cx="2743200" cy="566928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72" name="Shape 70"/>
          <p:cNvSpPr/>
          <p:nvPr/>
        </p:nvSpPr>
        <p:spPr>
          <a:xfrm>
            <a:off x="6135624" y="3154680"/>
            <a:ext cx="658368" cy="5669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3" name="Text 71"/>
          <p:cNvSpPr/>
          <p:nvPr/>
        </p:nvSpPr>
        <p:spPr>
          <a:xfrm>
            <a:off x="6153912" y="3154680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c.1400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848856" y="3246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Tenochtitlán growing; Inca expanding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135624" y="3785616"/>
            <a:ext cx="2743200" cy="566928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76" name="Shape 74"/>
          <p:cNvSpPr/>
          <p:nvPr/>
        </p:nvSpPr>
        <p:spPr>
          <a:xfrm>
            <a:off x="6135624" y="3785616"/>
            <a:ext cx="658368" cy="5669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7" name="Text 75"/>
          <p:cNvSpPr/>
          <p:nvPr/>
        </p:nvSpPr>
        <p:spPr>
          <a:xfrm>
            <a:off x="6153912" y="3785616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1438–71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6848856" y="3877056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Pachacuti expands Inca Empire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135624" y="4416552"/>
            <a:ext cx="2743200" cy="566928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80" name="Shape 78"/>
          <p:cNvSpPr/>
          <p:nvPr/>
        </p:nvSpPr>
        <p:spPr>
          <a:xfrm>
            <a:off x="6135624" y="4416552"/>
            <a:ext cx="658368" cy="5669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1" name="Text 79"/>
          <p:cNvSpPr/>
          <p:nvPr/>
        </p:nvSpPr>
        <p:spPr>
          <a:xfrm>
            <a:off x="6153912" y="4416552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1492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848856" y="450799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contact — isolation ends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 EXAM TIPS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9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10: Americas, Africa &amp; Europe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206240" cy="1115568"/>
          </a:xfrm>
          <a:prstGeom prst="rect">
            <a:avLst/>
          </a:prstGeom>
          <a:solidFill>
            <a:srgbClr val="1A2A0A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75488" cy="1115568"/>
          </a:xfrm>
          <a:prstGeom prst="rect">
            <a:avLst/>
          </a:prstGeom>
          <a:solidFill>
            <a:srgbClr val="F5C97A"/>
          </a:solidFill>
          <a:ln/>
        </p:spPr>
      </p:sp>
      <p:sp>
        <p:nvSpPr>
          <p:cNvPr id="7" name="Text 5"/>
          <p:cNvSpPr/>
          <p:nvPr/>
        </p:nvSpPr>
        <p:spPr>
          <a:xfrm>
            <a:off x="374904" y="1170432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1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26187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MANSA MUSA = HIGH-YIELD STIMULUS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517904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1324 hajj is a prime AP primary source — know the Cairo gold inflation detail, the entourage size, and the Catalan Atlas consequence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432304"/>
            <a:ext cx="4206240" cy="1115568"/>
          </a:xfrm>
          <a:prstGeom prst="rect">
            <a:avLst/>
          </a:prstGeom>
          <a:solidFill>
            <a:srgbClr val="1A2A0A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432304"/>
            <a:ext cx="475488" cy="1115568"/>
          </a:xfrm>
          <a:prstGeom prst="rect">
            <a:avLst/>
          </a:prstGeom>
          <a:solidFill>
            <a:srgbClr val="E87040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" y="2432304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1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252374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TRAP #1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779776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say the Americas had 'no' trade — they had sophisticated regional networks. The key is they had NO CONTACT with the Old World, not no trade internally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694176"/>
            <a:ext cx="4206240" cy="1115568"/>
          </a:xfrm>
          <a:prstGeom prst="rect">
            <a:avLst/>
          </a:prstGeom>
          <a:solidFill>
            <a:srgbClr val="1A2A0A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694176"/>
            <a:ext cx="475488" cy="1115568"/>
          </a:xfrm>
          <a:prstGeom prst="rect">
            <a:avLst/>
          </a:prstGeom>
          <a:solidFill>
            <a:srgbClr val="E87040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" y="3694176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1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378561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TRAP #2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4041648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confuse Inca (non-market redistributive economy, mit'a) with Aztec (hybrid tribute + market commerce, pochteca) — very different economic systems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170432"/>
            <a:ext cx="4206240" cy="1115568"/>
          </a:xfrm>
          <a:prstGeom prst="rect">
            <a:avLst/>
          </a:prstGeom>
          <a:solidFill>
            <a:srgbClr val="1A2A0A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170432"/>
            <a:ext cx="475488" cy="1115568"/>
          </a:xfrm>
          <a:prstGeom prst="rect">
            <a:avLst/>
          </a:prstGeom>
          <a:solidFill>
            <a:srgbClr val="90C870"/>
          </a:solidFill>
          <a:ln/>
        </p:spPr>
      </p:sp>
      <p:sp>
        <p:nvSpPr>
          <p:cNvPr id="22" name="Text 20"/>
          <p:cNvSpPr/>
          <p:nvPr/>
        </p:nvSpPr>
        <p:spPr>
          <a:xfrm>
            <a:off x="4809744" y="1170432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1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03520" y="126187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COMPARISON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1517904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Trans-Saharan and Indian Ocean both spread Islam via same merchant-diaspora mechanism — identical process in two very different geographic settings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432304"/>
            <a:ext cx="4206240" cy="1115568"/>
          </a:xfrm>
          <a:prstGeom prst="rect">
            <a:avLst/>
          </a:prstGeom>
          <a:solidFill>
            <a:srgbClr val="1A2A0A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432304"/>
            <a:ext cx="475488" cy="1115568"/>
          </a:xfrm>
          <a:prstGeom prst="rect">
            <a:avLst/>
          </a:prstGeom>
          <a:solidFill>
            <a:srgbClr val="F5C97A"/>
          </a:solidFill>
          <a:ln/>
        </p:spPr>
      </p:sp>
      <p:sp>
        <p:nvSpPr>
          <p:cNvPr id="27" name="Text 25"/>
          <p:cNvSpPr/>
          <p:nvPr/>
        </p:nvSpPr>
        <p:spPr>
          <a:xfrm>
            <a:off x="4809744" y="2432304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1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03520" y="252374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AMERICAS' ISOLATION IS THE POINT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2779776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reason Ch10 discusses the Americas is to establish their isolation — which is the context for why the Columbian Exchange was catastrophic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694176"/>
            <a:ext cx="4206240" cy="1115568"/>
          </a:xfrm>
          <a:prstGeom prst="rect">
            <a:avLst/>
          </a:prstGeom>
          <a:solidFill>
            <a:srgbClr val="1A2A0A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94176"/>
            <a:ext cx="475488" cy="1115568"/>
          </a:xfrm>
          <a:prstGeom prst="rect">
            <a:avLst/>
          </a:prstGeom>
          <a:solidFill>
            <a:srgbClr val="7BC67E"/>
          </a:solidFill>
          <a:ln/>
        </p:spPr>
      </p:sp>
      <p:sp>
        <p:nvSpPr>
          <p:cNvPr id="32" name="Text 30"/>
          <p:cNvSpPr/>
          <p:nvPr/>
        </p:nvSpPr>
        <p:spPr>
          <a:xfrm>
            <a:off x="4809744" y="3694176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1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03520" y="378561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C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CAUSATION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0" y="4041648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Trans-Saharan decline: Portuguese maritime contact with W. Africa bypasses Muslim middlemen (Unit 3) — same pattern as Silk Road decline + maritime alternatives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4480560"/>
            <a:ext cx="2990088" cy="6629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3154680" y="4480560"/>
            <a:ext cx="2990088" cy="662940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6" name="Shape 4"/>
          <p:cNvSpPr/>
          <p:nvPr/>
        </p:nvSpPr>
        <p:spPr>
          <a:xfrm>
            <a:off x="6144768" y="4480560"/>
            <a:ext cx="2990088" cy="6629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10 SUMMARY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49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Americas, Africa &amp; Europe: Key Takeaways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" y="1143000"/>
            <a:ext cx="85039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Trans-Saharan gold-salt trade made the Mali Empire the wealthiest state in West Africa — Mansa Musa's 1324 hajj put it on the world map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Islam spread into West Africa via the same merchant-diaspora mechanism as the Indian Ocean — voluntary conversion for commercial advantage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Italian city-states (Venice, Genoa) served as Europe's western Silk Road terminals; the Black Death arrived via these same trade networks in 1347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The Black Death's unintended consequence: labor shortages gave European peasants bargaining power, beginning the erosion of serfdom in Western Europe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The Americas developed sophisticated regional networks (Aztec, Inca, Mississippian) entirely in biological isolation from the Old World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Americas' isolation = #1 reason the Columbian Exchange was catastrophic — zero immunity to Old World diseases → 50–90% mortality in some regions (Unit 3/4)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4592" y="4480560"/>
            <a:ext cx="2990088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54680" y="4480560"/>
            <a:ext cx="2990088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44768" y="4480560"/>
            <a:ext cx="2990088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AMERICAS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Ch10: Exchange in the Americas, Africa &amp; Europe</dc:title>
  <dc:subject>PptxGenJS Presentation</dc:subject>
  <dc:creator>AP World History Study</dc:creator>
  <cp:lastModifiedBy>AP World History Study</cp:lastModifiedBy>
  <cp:revision>1</cp:revision>
  <dcterms:created xsi:type="dcterms:W3CDTF">2026-05-11T14:39:35Z</dcterms:created>
  <dcterms:modified xsi:type="dcterms:W3CDTF">2026-05-11T14:39:35Z</dcterms:modified>
</cp:coreProperties>
</file>