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86000"/>
            <a:ext cx="9144000" cy="7315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457200"/>
            <a:ext cx="64008" cy="42062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9436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Tapestry  |  c. 1200–1450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World History: Modern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4434840"/>
            <a:ext cx="1203960" cy="438912"/>
          </a:xfrm>
          <a:prstGeom prst="rect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4434840"/>
            <a:ext cx="1203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Ch1 East Asia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752600" y="4434840"/>
            <a:ext cx="1203960" cy="438912"/>
          </a:xfrm>
          <a:prstGeom prst="rect">
            <a:avLst/>
          </a:prstGeom>
          <a:solidFill>
            <a:srgbClr val="7B4A1E"/>
          </a:solidFill>
          <a:ln w="12700">
            <a:solidFill>
              <a:srgbClr val="7B4A1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752600" y="4434840"/>
            <a:ext cx="1203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Ch2 Dar al-Islam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30880" y="4434840"/>
            <a:ext cx="1203960" cy="438912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30880" y="4434840"/>
            <a:ext cx="1203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Ch3 S/SE Asia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09160" y="4434840"/>
            <a:ext cx="1203960" cy="438912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09160" y="4434840"/>
            <a:ext cx="1203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Ch4 Africa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87440" y="4434840"/>
            <a:ext cx="1203960" cy="438912"/>
          </a:xfrm>
          <a:prstGeom prst="rect">
            <a:avLst/>
          </a:prstGeom>
          <a:solidFill>
            <a:srgbClr val="5A2D6B"/>
          </a:solidFill>
          <a:ln w="12700">
            <a:solidFill>
              <a:srgbClr val="5A2D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87440" y="4434840"/>
            <a:ext cx="1203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Ch5 Americas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665720" y="4434840"/>
            <a:ext cx="1203960" cy="438912"/>
          </a:xfrm>
          <a:prstGeom prst="rect">
            <a:avLst/>
          </a:prstGeom>
          <a:solidFill>
            <a:srgbClr val="3D3D6B"/>
          </a:solidFill>
          <a:ln w="12700">
            <a:solidFill>
              <a:srgbClr val="3D3D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65720" y="4434840"/>
            <a:ext cx="1203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Ch6 Europe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8640" y="46634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1  |  8–10% of AP exam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in 1200: Who Had Power?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" y="822960"/>
            <a:ext cx="20116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822960"/>
            <a:ext cx="2011680" cy="402336"/>
          </a:xfrm>
          <a:prstGeom prst="rect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8229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ASIA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0040" y="1280160"/>
            <a:ext cx="1828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Dynasty = world's most</a:t>
            </a:r>
            <a:endParaRPr lang="en-US" sz="850" dirty="0"/>
          </a:p>
          <a:p>
            <a:pPr lvl="1"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commercially advanced state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money, gunpowder,</a:t>
            </a:r>
            <a:endParaRPr lang="en-US" sz="850" dirty="0"/>
          </a:p>
          <a:p>
            <a:pPr lvl="1"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moveable type, compass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 ~100M; urban centers</a:t>
            </a:r>
            <a:endParaRPr lang="en-US" sz="850" dirty="0"/>
          </a:p>
          <a:p>
            <a:pPr lvl="1"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dwarfed anything in Europe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331720" y="822960"/>
            <a:ext cx="20116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331720" y="822960"/>
            <a:ext cx="2011680" cy="402336"/>
          </a:xfrm>
          <a:prstGeom prst="rect">
            <a:avLst/>
          </a:prstGeom>
          <a:solidFill>
            <a:srgbClr val="7B4A1E"/>
          </a:solidFill>
          <a:ln w="12700">
            <a:solidFill>
              <a:srgbClr val="7B4A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31720" y="8229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AL-ISLAM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423160" y="1280160"/>
            <a:ext cx="1828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Abbasid Caliphate at Baghdad</a:t>
            </a:r>
            <a:endParaRPr lang="en-US" sz="850" dirty="0"/>
          </a:p>
          <a:p>
            <a:pPr lvl="1"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World's foremost intellectual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 (House of Wisdom)</a:t>
            </a:r>
            <a:endParaRPr lang="en-US" sz="850" dirty="0"/>
          </a:p>
          <a:p>
            <a:pPr lvl="1"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merchants dominated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Ocean + Silk Roads</a:t>
            </a:r>
            <a:endParaRPr lang="en-US" sz="850" dirty="0"/>
          </a:p>
          <a:p>
            <a:pPr lvl="1"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Algebra, medicine, astronomy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434840" y="822960"/>
            <a:ext cx="20116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34840" y="822960"/>
            <a:ext cx="2011680" cy="402336"/>
          </a:xfrm>
          <a:prstGeom prst="rect">
            <a:avLst/>
          </a:prstGeom>
          <a:solidFill>
            <a:srgbClr val="5A2D6B"/>
          </a:solidFill>
          <a:ln w="12700">
            <a:solidFill>
              <a:srgbClr val="5A2D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34840" y="8229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26280" y="1280160"/>
            <a:ext cx="1828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civilizations developing</a:t>
            </a:r>
            <a:endParaRPr lang="en-US" sz="850" dirty="0"/>
          </a:p>
          <a:p>
            <a:pPr lvl="1"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COMPLETE ISOLATION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Mississippian/Cahokia in North</a:t>
            </a:r>
            <a:endParaRPr lang="en-US" sz="850" dirty="0"/>
          </a:p>
          <a:p>
            <a:pPr lvl="1"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 (larger than London!)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writing system active</a:t>
            </a:r>
            <a:endParaRPr lang="en-US" sz="850" dirty="0"/>
          </a:p>
          <a:p>
            <a:pPr lvl="1"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Aztec/Inca RISING by 1200s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537960" y="822960"/>
            <a:ext cx="20116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37960" y="822960"/>
            <a:ext cx="2011680" cy="402336"/>
          </a:xfrm>
          <a:prstGeom prst="rect">
            <a:avLst/>
          </a:prstGeom>
          <a:solidFill>
            <a:srgbClr val="3D3D6B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8229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29400" y="1280160"/>
            <a:ext cx="1828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 &amp; fragmented — NO</a:t>
            </a:r>
            <a:endParaRPr lang="en-US" sz="850" dirty="0"/>
          </a:p>
          <a:p>
            <a:pPr lvl="1"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states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behind China &amp; Islam in</a:t>
            </a:r>
            <a:endParaRPr lang="en-US" sz="850" dirty="0"/>
          </a:p>
          <a:p>
            <a:pPr lvl="1"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and commerce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unifier: Catholic Church</a:t>
            </a:r>
            <a:endParaRPr lang="en-US" sz="850" dirty="0"/>
          </a:p>
          <a:p>
            <a:pPr lvl="1"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starting its 'take-off'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28600" y="4224528"/>
            <a:ext cx="8686800" cy="640080"/>
          </a:xfrm>
          <a:prstGeom prst="rect">
            <a:avLst/>
          </a:prstGeom>
          <a:solidFill>
            <a:srgbClr val="1B2A4A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In 1200, European global dominance was far in the future. China and the Islamic world were ahead in nearly every measure.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Trade Networks Connecting the World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01168" y="804672"/>
            <a:ext cx="278892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1168" y="804672"/>
            <a:ext cx="2788920" cy="438912"/>
          </a:xfrm>
          <a:prstGeom prst="rect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" y="81381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SILK ROADS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1168" y="1069848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Overland — Central Asia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" y="1307592"/>
            <a:ext cx="2642616" cy="512064"/>
          </a:xfrm>
          <a:prstGeom prst="rect">
            <a:avLst/>
          </a:prstGeom>
          <a:solidFill>
            <a:srgbClr val="EAE5DC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0896" y="1325880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310896" y="1527048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Camel caravans, Pax Mongolica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74320" y="1874520"/>
            <a:ext cx="2642616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" y="1892808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dominated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10896" y="2093976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&amp; Chinese merchants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" y="2441448"/>
            <a:ext cx="2642616" cy="512064"/>
          </a:xfrm>
          <a:prstGeom prst="rect">
            <a:avLst/>
          </a:prstGeom>
          <a:solidFill>
            <a:srgbClr val="EAE5DC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0896" y="2459736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goods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10896" y="2660904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Silk, porcelain, spices, horses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74320" y="3008376"/>
            <a:ext cx="2642616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" y="3026664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10896" y="3227832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Islam, Buddhism, disease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74320" y="3575304"/>
            <a:ext cx="2642616" cy="512064"/>
          </a:xfrm>
          <a:prstGeom prst="rect">
            <a:avLst/>
          </a:prstGeom>
          <a:solidFill>
            <a:srgbClr val="EAE5DC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0896" y="3593592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period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10896" y="3794760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Mongol era (1200s–1300s)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74320" y="4142232"/>
            <a:ext cx="2642616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0896" y="4160520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10896" y="4361688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Yuan collapse; Black Death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127248" y="804672"/>
            <a:ext cx="278892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127248" y="804672"/>
            <a:ext cx="2788920" cy="438912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27248" y="81381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OCEAN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127248" y="1069848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Maritime — World's largest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200400" y="1307592"/>
            <a:ext cx="2642616" cy="512064"/>
          </a:xfrm>
          <a:prstGeom prst="rect">
            <a:avLst/>
          </a:prstGeom>
          <a:solidFill>
            <a:srgbClr val="EAE5DC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36976" y="1325880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3236976" y="1527048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Monsoon winds; dhow/junk ships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200400" y="1874520"/>
            <a:ext cx="2642616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36976" y="1892808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dominated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3236976" y="2093976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merchants (Arab, Indian)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200400" y="2441448"/>
            <a:ext cx="2642616" cy="512064"/>
          </a:xfrm>
          <a:prstGeom prst="rect">
            <a:avLst/>
          </a:prstGeom>
          <a:solidFill>
            <a:srgbClr val="EAE5DC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36976" y="2459736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goods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3236976" y="2660904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Spices, textiles, gold, ivory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200400" y="3008376"/>
            <a:ext cx="2642616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36976" y="3026664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236976" y="3227832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 via diaspora communities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200400" y="3575304"/>
            <a:ext cx="2642616" cy="512064"/>
          </a:xfrm>
          <a:prstGeom prst="rect">
            <a:avLst/>
          </a:prstGeom>
          <a:solidFill>
            <a:srgbClr val="EAE5DC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36976" y="3593592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period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236976" y="3794760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700–1500 CE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00400" y="4142232"/>
            <a:ext cx="2642616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36976" y="4160520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3236976" y="4361688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— no single empire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053328" y="804672"/>
            <a:ext cx="278892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053328" y="804672"/>
            <a:ext cx="2788920" cy="438912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81381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TRANS-SAHARAN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053328" y="1069848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Overland — Sahara Desert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126480" y="1307592"/>
            <a:ext cx="2642616" cy="512064"/>
          </a:xfrm>
          <a:prstGeom prst="rect">
            <a:avLst/>
          </a:prstGeom>
          <a:solidFill>
            <a:srgbClr val="EAE5DC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63056" y="1325880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6163056" y="1527048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Camel caravans across Sahara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126480" y="1874520"/>
            <a:ext cx="2642616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63056" y="1892808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dominated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6163056" y="2093976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African + North African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26480" y="2441448"/>
            <a:ext cx="2642616" cy="512064"/>
          </a:xfrm>
          <a:prstGeom prst="rect">
            <a:avLst/>
          </a:prstGeom>
          <a:solidFill>
            <a:srgbClr val="EAE5DC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63056" y="2459736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goods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6163056" y="2660904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(south→north), Salt (north→south)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6126480" y="3008376"/>
            <a:ext cx="2642616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163056" y="3026664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6163056" y="3227832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Islam, Arabic literacy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6126480" y="3575304"/>
            <a:ext cx="2642616" cy="512064"/>
          </a:xfrm>
          <a:prstGeom prst="rect">
            <a:avLst/>
          </a:prstGeom>
          <a:solidFill>
            <a:srgbClr val="EAE5DC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63056" y="3593592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period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6163056" y="3794760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 Empire (c.1235–1400s)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0" y="4142232"/>
            <a:ext cx="2642616" cy="512064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63056" y="4160520"/>
            <a:ext cx="2569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163056" y="4361688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African rulers taxed routes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Mongol Impact: Destruction, Integration &amp; Disease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274320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804672"/>
            <a:ext cx="2743200" cy="365760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8046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1225296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Baghdad sacked 1258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Abbasid Caliphate ended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Dynasty conquered 1279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Asian populations displaced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killed in conquest campaigns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0" y="804672"/>
            <a:ext cx="274320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804672"/>
            <a:ext cx="2743200" cy="365760"/>
          </a:xfrm>
          <a:prstGeom prst="rect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8046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PAX MONGOLICA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91840" y="1225296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Silk Roads safe &amp; active (1200s)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Polo travels China–Europe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Ibn Battuta traverses Eurasia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technologies spread west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Ilkhanate converts to Islam 1295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72200" y="804672"/>
            <a:ext cx="274320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804672"/>
            <a:ext cx="2743200" cy="365760"/>
          </a:xfrm>
          <a:prstGeom prst="rect">
            <a:avLst/>
          </a:prstGeom>
          <a:solidFill>
            <a:srgbClr val="5A2D6B"/>
          </a:solidFill>
          <a:ln w="12700">
            <a:solidFill>
              <a:srgbClr val="5A2D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8046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DEATH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1225296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Central Asian steppe c.1330s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along Mongol trade routes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1/3 of Europe died (1347–1351)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Contributed to Yuan collapse (China)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Devastated Islamic cities (Cairo)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" y="4645152"/>
            <a:ext cx="8686800" cy="3657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464515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COMPLEXITY: Mongols simultaneously destroyed AND integrated Eurasia — same routes that boosted trade also carried the Black Death.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Ch1: East Asia — Song, Yuan &amp; Ming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694944"/>
            <a:ext cx="164592" cy="4443984"/>
          </a:xfrm>
          <a:prstGeom prst="rect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822960"/>
            <a:ext cx="269748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822960"/>
            <a:ext cx="2697480" cy="384048"/>
          </a:xfrm>
          <a:prstGeom prst="rect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8229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 960–1279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261872"/>
            <a:ext cx="2514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revolution: Champa rice → pop. boom → paper money → urban growth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Civil service exam creates scholar-gentry class (meritocracy in theory)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Innovations: gunpowder, movable type, magnetic compass, junks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CCOT: continuity = Confucian bureaucracy; change = falls to Mongols 1279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0" y="822960"/>
            <a:ext cx="269748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08960" y="822960"/>
            <a:ext cx="2697480" cy="384048"/>
          </a:xfrm>
          <a:prstGeom prst="rect">
            <a:avLst/>
          </a:prstGeom>
          <a:solidFill>
            <a:srgbClr val="4A3A2A"/>
          </a:solidFill>
          <a:ln w="12700">
            <a:solidFill>
              <a:srgbClr val="4A3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08960" y="8229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YUAN  1271–1368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00400" y="1261872"/>
            <a:ext cx="2514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Kublai Khan: first foreign dynasty to rule ALL of China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4-tier ethnic hierarchy: Mongols &gt; Semu &gt; N. Chinese &gt; S. Chinese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Pax Mongolica integrates China into Eurasian trade; Black Death arrives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CCOT: significant change in governance; Confucian culture survives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943600" y="822960"/>
            <a:ext cx="269748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43600" y="822960"/>
            <a:ext cx="2697480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8229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 1368–1644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035040" y="1261872"/>
            <a:ext cx="2514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Peasant Zhu Yuanzhang overthrows Yuan; restores civil service exams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Zheng He's 7 voyages (1405–1433): 300+ ships; tribute system extension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1433 TURNING POINT: Confucian scholars end voyages; China turns inward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CCOT: continuity = Confucian restoration; change = maritime withdrawal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28600" y="4645152"/>
            <a:ext cx="8686800" cy="365760"/>
          </a:xfrm>
          <a:prstGeom prst="rect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464515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COMPARISON: Zheng He (state-sponsored, tributary, ended 1433) vs. European exploration (merchant-driven, profit-seeking, BEGAN 1492)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Ch2: Dar al-Islam — The Islamic World 1200–1450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694944"/>
            <a:ext cx="164592" cy="4443984"/>
          </a:xfrm>
          <a:prstGeom prst="rect">
            <a:avLst/>
          </a:prstGeom>
          <a:solidFill>
            <a:srgbClr val="7B4A1E"/>
          </a:solidFill>
          <a:ln w="12700">
            <a:solidFill>
              <a:srgbClr val="7B4A1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822960"/>
            <a:ext cx="402336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822960"/>
            <a:ext cx="4023360" cy="365760"/>
          </a:xfrm>
          <a:prstGeom prst="rect">
            <a:avLst/>
          </a:prstGeom>
          <a:solidFill>
            <a:srgbClr val="7B4A1E"/>
          </a:solidFill>
          <a:ln w="12700">
            <a:solidFill>
              <a:srgbClr val="7B4A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822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1258 &amp; AFTERMATH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243584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Mongols sack Baghdad; Abbasid Caliphate ENDS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Mamluks stop Mongols at Ain Jalut 1260 — first major Mongol defeat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Ilkhanate (Mongol Persia) converts to Islam 1295 — conquerors absorbed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regional states: Mamluks (Egypt), Delhi Sultanate (India), Mali (West Africa), rising Ottomans (Anatolia)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b="1" dirty="0">
                <a:solidFill>
                  <a:srgbClr val="7B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CONTINUITY: Muslim merchant dominance, Five Pillars, Hajj, sharia, Arabic as scholarly language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480560" y="822960"/>
            <a:ext cx="44348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80560" y="822960"/>
            <a:ext cx="4434840" cy="365760"/>
          </a:xfrm>
          <a:prstGeom prst="rect">
            <a:avLst/>
          </a:prstGeom>
          <a:solidFill>
            <a:srgbClr val="7B4A1E"/>
          </a:solidFill>
          <a:ln w="12700">
            <a:solidFill>
              <a:srgbClr val="7B4A1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0" y="8229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ISLAM SPREAD (Not by Conquest)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1261872"/>
            <a:ext cx="4251960" cy="804672"/>
          </a:xfrm>
          <a:prstGeom prst="rect">
            <a:avLst/>
          </a:prstGeom>
          <a:solidFill>
            <a:srgbClr val="EAE5DC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129844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Routes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63440" y="153619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merchants built diaspora communities in every port; sharia contracts facilitated commerce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0" y="2130552"/>
            <a:ext cx="4251960" cy="804672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216712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Sufism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63440" y="240487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Mystics adapted to local cultures; charitable lodges; personal spiritual emphasis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2999232"/>
            <a:ext cx="4251960" cy="804672"/>
          </a:xfrm>
          <a:prstGeom prst="rect">
            <a:avLst/>
          </a:prstGeom>
          <a:solidFill>
            <a:srgbClr val="EAE5DC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30358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 Incentives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663440" y="327355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Rulers converted for commercial access, prestige, and Arabic literacy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28600" y="4206240"/>
            <a:ext cx="8686800" cy="685800"/>
          </a:xfrm>
          <a:prstGeom prst="rect">
            <a:avLst/>
          </a:prstGeom>
          <a:solidFill>
            <a:srgbClr val="EAE5DC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206240"/>
            <a:ext cx="84124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FIGURES: </a:t>
            </a:r>
            <a:pPr indent="0" marL="0">
              <a:buNone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Ibn Battuta (traveled 75,000 mi, primary source for Islamic world) | Mansa Musa (pilgrimage 1324 — caused inflation in Cairo, put Mali on maps) | Ulama (compare to Chinese scholar-gentry)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Ch3: South &amp; Southeast Asia — Trade Crossroads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694944"/>
            <a:ext cx="164592" cy="4443984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822960"/>
            <a:ext cx="416052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822960"/>
            <a:ext cx="4160520" cy="32004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8229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SULTANATE  1206–1526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118872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Islamic state in South Asia. Founded by Turkic Mamluk soldiers. Hindu majority — NOT mass conversion. Repelled Mongols. Sufism (esp. Chishti order) more effective than coercion at spreading Islam.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26280" y="822960"/>
            <a:ext cx="416052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22960"/>
            <a:ext cx="4160520" cy="3200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8229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KHMER EMPIRE  802–1431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17720" y="118872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Mainland SE Asia. Hindu-Buddhist 'god-king' (devaraja). Built Angkor Wat — world's largest religious monument. Originally Hindu, converted to Buddhist use = syncretism. Declined c.1431.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542032"/>
            <a:ext cx="416052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542032"/>
            <a:ext cx="4160520" cy="32004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542032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SRIVIJAYA &amp; MAJAPAHIT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907792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Srivijaya (Buddhist, Sumatra): taxed Strait of Malacca trade. Majapahit (Hindu-Buddhist, Java) replaced it. Malacca founded c.1400; ruler converted to Islam c.1414 for commercial advantage.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26280" y="2542032"/>
            <a:ext cx="416052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26280" y="2542032"/>
            <a:ext cx="4160520" cy="320040"/>
          </a:xfrm>
          <a:prstGeom prst="rect">
            <a:avLst/>
          </a:prstGeom>
          <a:solidFill>
            <a:srgbClr val="1C6E5C"/>
          </a:solidFill>
          <a:ln w="12700">
            <a:solidFill>
              <a:srgbClr val="1C6E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2542032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OCEAN MECHANICS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617720" y="2907792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Monsoon winds drive annual trade cycle. Muslim merchants dominant via dhows + diaspora communities. Strait of Malacca = critical chokepoint. Goods: spices (east) ↔ textiles/horses (west).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28600" y="4645152"/>
            <a:ext cx="8686800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464515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INDIANIZATION = cultural diffusion via trade, no conquest (parallel to Sinification) | SYNCRETISM = Angkor Wat (Hindu→Buddhist) + Sufi shrines + Malacca's Islam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Ch4: State Building in Africa — Trade, Islam &amp; Monuments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694944"/>
            <a:ext cx="164592" cy="4443984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822960"/>
            <a:ext cx="274320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822960"/>
            <a:ext cx="2743200" cy="365760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822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 EMPIRE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243584"/>
            <a:ext cx="2560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by Sundiata Keita c.1235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trans-Saharan GOLD-SALT trade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Mansa Musa (r.1312–1337): Hajj 1324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Caused inflation in Cairo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Put Mali on European maps by 1375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Timbuktu: major Islamic scholarship center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Griots = oral historians (AP primary source)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54680" y="822960"/>
            <a:ext cx="274320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54680" y="822960"/>
            <a:ext cx="2743200" cy="365760"/>
          </a:xfrm>
          <a:prstGeom prst="rect">
            <a:avLst/>
          </a:prstGeom>
          <a:solidFill>
            <a:srgbClr val="6B2A2A"/>
          </a:solidFill>
          <a:ln w="12700">
            <a:solidFill>
              <a:srgbClr val="6B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54680" y="822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SWAHILI COAST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46120" y="1243584"/>
            <a:ext cx="2560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African city-states: Kilwa, Mombasa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to INDIAN OCEAN trade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Exports: gold, ivory, enslaved people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Imports: Indian textiles, Chinese porcelain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 via Arab merchants (syncretic)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Swahili culture = Bantu + Arab-Islamic blend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Ibn Battuta called Kilwa 'most beautiful city'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035040" y="822960"/>
            <a:ext cx="2743200" cy="37033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822960"/>
            <a:ext cx="2743200" cy="365760"/>
          </a:xfrm>
          <a:prstGeom prst="rect">
            <a:avLst/>
          </a:prstGeom>
          <a:solidFill>
            <a:srgbClr val="5A3A20"/>
          </a:solidFill>
          <a:ln w="12700">
            <a:solidFill>
              <a:srgbClr val="5A3A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822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ZIMBABWE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26480" y="1243584"/>
            <a:ext cx="2560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SHONA people c.1100–1450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dry-stone walls (no mortar)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gold + cattle trade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moved east to Swahili Coast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porcelain found in ruins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Islamic state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AP: African complexity WITHOUT outside influence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28600" y="4645152"/>
            <a:ext cx="8686800" cy="365760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464515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GENERALIZE 'AFRICA' — specify the region and trade network. Islam = syncretic ('dual authority' persisted). Great Zimbabwe = no Islam, still complex.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Ch5: The Americas — Complex Civilizations in Isolation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694944"/>
            <a:ext cx="164592" cy="4443984"/>
          </a:xfrm>
          <a:prstGeom prst="rect">
            <a:avLst/>
          </a:prstGeom>
          <a:solidFill>
            <a:srgbClr val="5A2D6B"/>
          </a:solidFill>
          <a:ln w="12700">
            <a:solidFill>
              <a:srgbClr val="5A2D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804672"/>
            <a:ext cx="8641080" cy="420624"/>
          </a:xfrm>
          <a:prstGeom prst="rect">
            <a:avLst/>
          </a:prstGeom>
          <a:solidFill>
            <a:srgbClr val="5A2D6B"/>
          </a:solidFill>
          <a:ln w="12700">
            <a:solidFill>
              <a:srgbClr val="5A2D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804672"/>
            <a:ext cx="8458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CRITICAL: The Americas were ISOLATED from the Old World. NEVER use Mongols, Black Death, Islamic trade, or Silk Roads to explain Aztec or Inca developments.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316736"/>
            <a:ext cx="27432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316736"/>
            <a:ext cx="2743200" cy="347472"/>
          </a:xfrm>
          <a:prstGeom prst="rect">
            <a:avLst/>
          </a:prstGeom>
          <a:solidFill>
            <a:srgbClr val="5A2D6B"/>
          </a:solidFill>
          <a:ln w="12700">
            <a:solidFill>
              <a:srgbClr val="5A2D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3167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AZTEC (MEXICA)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1719072"/>
            <a:ext cx="256032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Alliance 1428 → rapid expansion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Tenochtitlan (pop. 200K+) = larger than any European city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Tribute system: goods + war captives from conquered peoples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sacrifice: maintained cosmic order (sun required blood)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Pochteca = long-distance merchant class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Resentment of tribute → Spanish find willing allies 1519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54680" y="1316736"/>
            <a:ext cx="27432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54680" y="1316736"/>
            <a:ext cx="2743200" cy="347472"/>
          </a:xfrm>
          <a:prstGeom prst="rect">
            <a:avLst/>
          </a:prstGeom>
          <a:solidFill>
            <a:srgbClr val="4A1A6A"/>
          </a:solidFill>
          <a:ln w="12700">
            <a:solidFill>
              <a:srgbClr val="4A1A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54680" y="13167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 (TAWANTINSUYU)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46120" y="1719072"/>
            <a:ext cx="256032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Pachacuti (r.1438+) rapid expansion along Andes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Mit'a system: LABOR tax (not goods tribute)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Quipu: knotted cords for record-keeping — no writing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network: ~25,000 miles, chasqui relay runners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Sapa Inca = son of Inti (Sun God) — divine kingship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Machu Picchu: royal/religious center with solar alignments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035040" y="1316736"/>
            <a:ext cx="27432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1316736"/>
            <a:ext cx="2743200" cy="347472"/>
          </a:xfrm>
          <a:prstGeom prst="rect">
            <a:avLst/>
          </a:prstGeom>
          <a:solidFill>
            <a:srgbClr val="3D2A5A"/>
          </a:solidFill>
          <a:ln w="12700">
            <a:solidFill>
              <a:srgbClr val="3D2A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0" y="13167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CAHOKIA / NORTH AMERICA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26480" y="1719072"/>
            <a:ext cx="256032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Cahokia (near St. Louis): pop. ~20,000 at peak (c.1100)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than London in 1100 CE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Monks Mound: largest pre-Columbian structure N. of Mexico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Mississippian culture: maize agriculture, mound-building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Declined c.1200–1350 (environment, drought)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Ancestral Puebloans (SW), Haudenosaunee Confederacy (NE)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28600" y="4572000"/>
            <a:ext cx="8686800" cy="438912"/>
          </a:xfrm>
          <a:prstGeom prst="rect">
            <a:avLst/>
          </a:prstGeom>
          <a:solidFill>
            <a:srgbClr val="EAE5DC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4572000"/>
            <a:ext cx="8503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AMERICAS LACKED: Large draft animals | Iron/steel | Wheel for transport | Old World disease immunity (→ catastrophic after 1492 Columbian Exchange)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Ch6: Developments in Europe — Feudal to Nation-State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694944"/>
            <a:ext cx="164592" cy="4443984"/>
          </a:xfrm>
          <a:prstGeom prst="rect">
            <a:avLst/>
          </a:prstGeom>
          <a:solidFill>
            <a:srgbClr val="3D3D6B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822960"/>
            <a:ext cx="416052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822960"/>
            <a:ext cx="4160520" cy="320040"/>
          </a:xfrm>
          <a:prstGeom prst="rect">
            <a:avLst/>
          </a:prstGeom>
          <a:solidFill>
            <a:srgbClr val="3D3D6B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8229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FEUDALISM &amp; CHURCH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5760" y="118872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Feudalism: layered land-for-loyalty; king→lords→knights→serfs. Mutual obligations. Catholic Church: 30% of land, excommunication = political weapon. Investiture Controversy (Pope vs. Emperor). Three-field system: +30–50% yields.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26280" y="822960"/>
            <a:ext cx="416052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22960"/>
            <a:ext cx="4160520" cy="320040"/>
          </a:xfrm>
          <a:prstGeom prst="rect">
            <a:avLst/>
          </a:prstGeom>
          <a:solidFill>
            <a:srgbClr val="4A4A7A"/>
          </a:solidFill>
          <a:ln w="12700">
            <a:solidFill>
              <a:srgbClr val="4A4A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82296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CRUSADES  1095–1291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17720" y="118872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Military failure but: opened Italian trade with Islamic world; transmitted Arabic-translated Aristotle to Europe → Scholasticism. Fourth Crusade sacked Christian Constantinople (1204). Western Schism 1378: two rival popes → papal authority damaged.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542032"/>
            <a:ext cx="416052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542032"/>
            <a:ext cx="4160520" cy="320040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542032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DEATH  1347–1351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65760" y="2907792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Asian plague via Mongol routes. Killed 1/3 of Europe (~25M). Labor shortage → serfs demanded wages/freedom → feudalism weakened. Peasant revolts (Jacquerie 1358, England 1381). Jewish persecution as scapegoats. Religious crisis.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26280" y="2542032"/>
            <a:ext cx="416052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26280" y="2542032"/>
            <a:ext cx="4160520" cy="320040"/>
          </a:xfrm>
          <a:prstGeom prst="rect">
            <a:avLst/>
          </a:prstGeom>
          <a:solidFill>
            <a:srgbClr val="2A4A6A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2542032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MONARCHIES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17720" y="2907792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Magna Carta 1215: limited royal power; precedent for constitutionalism. Parliament: lords + commons; power of the purse. Hundred Years' War 1337–1453: forged English/French national identities; longbow ended chivalric warfare. Joan of Arc turned war for France.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28600" y="4645152"/>
            <a:ext cx="8686800" cy="365760"/>
          </a:xfrm>
          <a:prstGeom prst="rect">
            <a:avLst/>
          </a:prstGeom>
          <a:solidFill>
            <a:srgbClr val="3D3D6B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464515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CONNECTION: Black Death + commercial revival + centralized monarchies = Europe ready to explore (Unit 2). Byzantine fall 1453 → Greek scholars → Renaissance.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Comparison: European vs. Japanese Feudalism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822960"/>
            <a:ext cx="1828800" cy="420624"/>
          </a:xfrm>
          <a:prstGeom prst="rect">
            <a:avLst/>
          </a:prstGeom>
          <a:solidFill>
            <a:srgbClr val="1B2A4A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" y="822960"/>
            <a:ext cx="1719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48840" y="822960"/>
            <a:ext cx="3200400" cy="420624"/>
          </a:xfrm>
          <a:prstGeom prst="rect">
            <a:avLst/>
          </a:prstGeom>
          <a:solidFill>
            <a:srgbClr val="1B2A4A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03704" y="822960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FEUDALISM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94960" y="822960"/>
            <a:ext cx="3200400" cy="420624"/>
          </a:xfrm>
          <a:prstGeom prst="rect">
            <a:avLst/>
          </a:prstGeom>
          <a:solidFill>
            <a:srgbClr val="1B2A4A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49824" y="822960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FEUDALISM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1261872"/>
            <a:ext cx="1828800" cy="420624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" y="1261872"/>
            <a:ext cx="1719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148840" y="1261872"/>
            <a:ext cx="3200400" cy="420624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03704" y="1261872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900–1400 CE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394960" y="1261872"/>
            <a:ext cx="3200400" cy="420624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49824" y="1261872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1185–1868 CE (Kamakura–Edo)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1700784"/>
            <a:ext cx="18288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" y="1700784"/>
            <a:ext cx="1719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Warrior class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148840" y="1700784"/>
            <a:ext cx="3200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03704" y="1700784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Knights (mounted, armored)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94960" y="1700784"/>
            <a:ext cx="3200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49824" y="1700784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Samurai (sword-bearing, code of bushido)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2139696"/>
            <a:ext cx="1828800" cy="420624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" y="2139696"/>
            <a:ext cx="1719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Land-for-loyalty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148840" y="2139696"/>
            <a:ext cx="3200400" cy="420624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03704" y="2139696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Fief granted by lord to knight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394960" y="2139696"/>
            <a:ext cx="3200400" cy="420624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49824" y="2139696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granted by daimyo to vassal samurai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74320" y="2578608"/>
            <a:ext cx="18288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184" y="2578608"/>
            <a:ext cx="1719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authority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148840" y="2578608"/>
            <a:ext cx="3200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03704" y="2578608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kings; powerful regional lords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394960" y="2578608"/>
            <a:ext cx="3200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49824" y="2578608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Emperor (figurehead) + Shogun (real power)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3017520"/>
            <a:ext cx="1828800" cy="420624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184" y="3017520"/>
            <a:ext cx="1719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Religious influence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148840" y="3017520"/>
            <a:ext cx="3200400" cy="420624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03704" y="3017520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Catholic Church: 3rd power over king &amp; lord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394960" y="3017520"/>
            <a:ext cx="3200400" cy="420624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49824" y="3017520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Buddhism + Shinto; no equivalent of Pope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3456432"/>
            <a:ext cx="18288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" y="3456432"/>
            <a:ext cx="1719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mobility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148840" y="3456432"/>
            <a:ext cx="3200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03704" y="3456432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limited; birth-determined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394960" y="3456432"/>
            <a:ext cx="3200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49824" y="3456432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Limited; military merit could elevate some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274320" y="3895344"/>
            <a:ext cx="1828800" cy="420624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9184" y="3895344"/>
            <a:ext cx="1719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148840" y="3895344"/>
            <a:ext cx="3200400" cy="420624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203704" y="3895344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Death + commercial revival + war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394960" y="3895344"/>
            <a:ext cx="3200400" cy="420624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449824" y="3895344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Gradual; unified under Tokugawa 1600s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74320" y="4334256"/>
            <a:ext cx="1828800" cy="420624"/>
          </a:xfrm>
          <a:prstGeom prst="rect">
            <a:avLst/>
          </a:prstGeom>
          <a:solidFill>
            <a:srgbClr val="C9A84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29184" y="4334256"/>
            <a:ext cx="1719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similarity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148840" y="4334256"/>
            <a:ext cx="3200400" cy="420624"/>
          </a:xfrm>
          <a:prstGeom prst="rect">
            <a:avLst/>
          </a:prstGeom>
          <a:solidFill>
            <a:srgbClr val="C9A84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203704" y="4334256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warriors, land-for-loyalty, weak center, local power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394960" y="4334256"/>
            <a:ext cx="3200400" cy="420624"/>
          </a:xfrm>
          <a:prstGeom prst="rect">
            <a:avLst/>
          </a:prstGeom>
          <a:solidFill>
            <a:srgbClr val="C9A84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49824" y="4334256"/>
            <a:ext cx="3090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arose independently — parallel development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World Religions Spread: Mechanisms Across Unit 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201168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804672"/>
            <a:ext cx="2011680" cy="365760"/>
          </a:xfrm>
          <a:prstGeom prst="rect">
            <a:avLst/>
          </a:prstGeom>
          <a:solidFill>
            <a:srgbClr val="7B4A1E"/>
          </a:solidFill>
          <a:ln w="12700">
            <a:solidFill>
              <a:srgbClr val="7B4A1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8046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12252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B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20040" y="140817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routes (diaspora communities); Sufism (cultural adaptation); Political incentives (rulers convert for commerce)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20040" y="20116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B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20040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Africa, East Africa, SE Asia, India, Central Asia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20040" y="2798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B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SYNCRETISM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20040" y="298094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authority (Mali); Hindu-Muslim Sufi shrines (India); mosque styles (SE Asia)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20040" y="35844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B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0040" y="37673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primarily conquest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359152" y="804672"/>
            <a:ext cx="201168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359152" y="804672"/>
            <a:ext cx="2011680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59152" y="8046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BUDDHISM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450592" y="12252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450592" y="140817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Monks traveling on merchant ships; royal patronage; madrasas/monasteries as learning centers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450592" y="20116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45059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Asia (mainland &amp; islands), Korea, Japan, Tibet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450592" y="2798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SYNCRETISM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450592" y="298094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Angkor Wat (Hindu+Buddhist); Zen + Shinto (Japan); Tibetan Vajrayana blend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450592" y="35844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450592" y="37673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+ missionaries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489704" y="804672"/>
            <a:ext cx="201168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489704" y="804672"/>
            <a:ext cx="2011680" cy="365760"/>
          </a:xfrm>
          <a:prstGeom prst="rect">
            <a:avLst/>
          </a:prstGeom>
          <a:solidFill>
            <a:srgbClr val="3D3D6B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89704" y="8046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CHRISTIANITY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81144" y="12252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D3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581144" y="140817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 hierarchy; papal authority; Crusades (limited); missionaries; conquest (later, Unit 3)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581144" y="20116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D3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581144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 Europe, Ethiopia, Byzantine Empire (until 1453)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581144" y="2798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D3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SYNCRETISM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581144" y="298094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Folk Catholic practices; Ethiopian Christianity blended with local traditions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581144" y="35844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D3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581144" y="37673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+ political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620256" y="804672"/>
            <a:ext cx="201168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620256" y="804672"/>
            <a:ext cx="2011680" cy="365760"/>
          </a:xfrm>
          <a:prstGeom prst="rect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20256" y="8046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CONFUCIANISM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711696" y="12252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711696" y="140817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Civil service exams; educated advisors to courts; written language (Chinese characters)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6711696" y="20116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711696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China, Korea, Japan, Vietnam (Sinification)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6711696" y="2798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SYNCRETISM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711696" y="298094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Japan: Confucian + Buddhist + Shinto; Neo-Confucianism blends with Buddhism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711696" y="35844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711696" y="37673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diffusion, not religion per se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28600" y="4480560"/>
            <a:ext cx="868680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0040" y="448056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KEY CONCEPT: Religions change as they spread — syncretism is the rule, not the exception. Every religion in Unit 1 blended with local traditions rather than replacing them outright.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Comparison: Social Hierarchies &amp; Status of Merchants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201168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804672"/>
            <a:ext cx="2011680" cy="347472"/>
          </a:xfrm>
          <a:prstGeom prst="rect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80467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(Confucian)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8328" y="1207008"/>
            <a:ext cx="1783080" cy="384048"/>
          </a:xfrm>
          <a:prstGeom prst="rect">
            <a:avLst/>
          </a:prstGeom>
          <a:solidFill>
            <a:srgbClr val="AA8800"/>
          </a:solidFill>
          <a:ln w="12700">
            <a:solidFill>
              <a:srgbClr val="AA88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4904" y="12070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Scholar-Gentry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06908" y="1664208"/>
            <a:ext cx="1645920" cy="384048"/>
          </a:xfrm>
          <a:prstGeom prst="rect">
            <a:avLst/>
          </a:prstGeom>
          <a:solidFill>
            <a:srgbClr val="6688AA"/>
          </a:solidFill>
          <a:ln w="12700">
            <a:solidFill>
              <a:srgbClr val="6688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" y="16642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Peasants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75488" y="2121408"/>
            <a:ext cx="1508760" cy="384048"/>
          </a:xfrm>
          <a:prstGeom prst="rect">
            <a:avLst/>
          </a:prstGeom>
          <a:solidFill>
            <a:srgbClr val="4477AA"/>
          </a:solidFill>
          <a:ln w="12700">
            <a:solidFill>
              <a:srgbClr val="4477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" y="2121408"/>
            <a:ext cx="143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Artisans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44068" y="2578608"/>
            <a:ext cx="1371600" cy="384048"/>
          </a:xfrm>
          <a:prstGeom prst="rect">
            <a:avLst/>
          </a:prstGeom>
          <a:solidFill>
            <a:srgbClr val="445588"/>
          </a:solidFill>
          <a:ln w="12700">
            <a:solidFill>
              <a:srgbClr val="4455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0644" y="2578608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Merchants (LOWEST)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20040" y="309067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ranked last despite commercial revolution. Scholar-gentry blocked Zheng He voyages.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359152" y="804672"/>
            <a:ext cx="201168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359152" y="804672"/>
            <a:ext cx="2011680" cy="347472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59152" y="80467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(Varna/Caste)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468880" y="1207008"/>
            <a:ext cx="1783080" cy="384048"/>
          </a:xfrm>
          <a:prstGeom prst="rect">
            <a:avLst/>
          </a:prstGeom>
          <a:solidFill>
            <a:srgbClr val="AA8800"/>
          </a:solidFill>
          <a:ln w="12700">
            <a:solidFill>
              <a:srgbClr val="AA8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05456" y="12070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Brahmins (priests)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537460" y="1664208"/>
            <a:ext cx="1645920" cy="384048"/>
          </a:xfrm>
          <a:prstGeom prst="rect">
            <a:avLst/>
          </a:prstGeom>
          <a:solidFill>
            <a:srgbClr val="6688AA"/>
          </a:solidFill>
          <a:ln w="12700">
            <a:solidFill>
              <a:srgbClr val="6688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74036" y="16642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Kshatriyas (warriors)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606040" y="2121408"/>
            <a:ext cx="1508760" cy="384048"/>
          </a:xfrm>
          <a:prstGeom prst="rect">
            <a:avLst/>
          </a:prstGeom>
          <a:solidFill>
            <a:srgbClr val="4477AA"/>
          </a:solidFill>
          <a:ln w="12700">
            <a:solidFill>
              <a:srgbClr val="4477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42616" y="2121408"/>
            <a:ext cx="143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Vaishyas (merchants)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674620" y="2578608"/>
            <a:ext cx="1371600" cy="384048"/>
          </a:xfrm>
          <a:prstGeom prst="rect">
            <a:avLst/>
          </a:prstGeom>
          <a:solidFill>
            <a:srgbClr val="445588"/>
          </a:solidFill>
          <a:ln w="12700">
            <a:solidFill>
              <a:srgbClr val="4455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11196" y="2578608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Shudras + Dalits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450592" y="309067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ranked 3rd. Some converted to Buddhism/Islam to escape caste restrictions.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89704" y="804672"/>
            <a:ext cx="201168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489704" y="804672"/>
            <a:ext cx="2011680" cy="347472"/>
          </a:xfrm>
          <a:prstGeom prst="rect">
            <a:avLst/>
          </a:prstGeom>
          <a:solidFill>
            <a:srgbClr val="7B4A1E"/>
          </a:solidFill>
          <a:ln w="12700">
            <a:solidFill>
              <a:srgbClr val="7B4A1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89704" y="80467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99432" y="1207008"/>
            <a:ext cx="1783080" cy="384048"/>
          </a:xfrm>
          <a:prstGeom prst="rect">
            <a:avLst/>
          </a:prstGeom>
          <a:solidFill>
            <a:srgbClr val="AA8800"/>
          </a:solidFill>
          <a:ln w="12700">
            <a:solidFill>
              <a:srgbClr val="AA8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36008" y="12070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Ulama (scholars)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4668012" y="1664208"/>
            <a:ext cx="1645920" cy="384048"/>
          </a:xfrm>
          <a:prstGeom prst="rect">
            <a:avLst/>
          </a:prstGeom>
          <a:solidFill>
            <a:srgbClr val="6688AA"/>
          </a:solidFill>
          <a:ln w="12700">
            <a:solidFill>
              <a:srgbClr val="6688A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4588" y="16642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Merchants (respected!)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736592" y="2121408"/>
            <a:ext cx="1508760" cy="384048"/>
          </a:xfrm>
          <a:prstGeom prst="rect">
            <a:avLst/>
          </a:prstGeom>
          <a:solidFill>
            <a:srgbClr val="4477AA"/>
          </a:solidFill>
          <a:ln w="12700">
            <a:solidFill>
              <a:srgbClr val="4477A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73168" y="2121408"/>
            <a:ext cx="143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Farmers/artisans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805172" y="2578608"/>
            <a:ext cx="1371600" cy="384048"/>
          </a:xfrm>
          <a:prstGeom prst="rect">
            <a:avLst/>
          </a:prstGeom>
          <a:solidFill>
            <a:srgbClr val="445588"/>
          </a:solidFill>
          <a:ln w="12700">
            <a:solidFill>
              <a:srgbClr val="4455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41748" y="2578608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Enslaved people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581144" y="309067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Prophet Muhammad was a merchant. Islam elevated commercial status — contrast with China/India.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620256" y="804672"/>
            <a:ext cx="201168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620256" y="804672"/>
            <a:ext cx="2011680" cy="347472"/>
          </a:xfrm>
          <a:prstGeom prst="rect">
            <a:avLst/>
          </a:prstGeom>
          <a:solidFill>
            <a:srgbClr val="3D3D6B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20256" y="80467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 EUROPE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729984" y="1207008"/>
            <a:ext cx="1783080" cy="384048"/>
          </a:xfrm>
          <a:prstGeom prst="rect">
            <a:avLst/>
          </a:prstGeom>
          <a:solidFill>
            <a:srgbClr val="AA8800"/>
          </a:solidFill>
          <a:ln w="12700">
            <a:solidFill>
              <a:srgbClr val="AA88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766560" y="12070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Clergy (First Estate)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798564" y="1664208"/>
            <a:ext cx="1645920" cy="384048"/>
          </a:xfrm>
          <a:prstGeom prst="rect">
            <a:avLst/>
          </a:prstGeom>
          <a:solidFill>
            <a:srgbClr val="6688AA"/>
          </a:solidFill>
          <a:ln w="12700">
            <a:solidFill>
              <a:srgbClr val="6688A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35140" y="1664208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Nobility (Second Estate)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867144" y="2121408"/>
            <a:ext cx="1508760" cy="384048"/>
          </a:xfrm>
          <a:prstGeom prst="rect">
            <a:avLst/>
          </a:prstGeom>
          <a:solidFill>
            <a:srgbClr val="4477AA"/>
          </a:solidFill>
          <a:ln w="12700">
            <a:solidFill>
              <a:srgbClr val="4477A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903720" y="2121408"/>
            <a:ext cx="143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Commons/merchants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935724" y="2578608"/>
            <a:ext cx="1371600" cy="384048"/>
          </a:xfrm>
          <a:prstGeom prst="rect">
            <a:avLst/>
          </a:prstGeom>
          <a:solidFill>
            <a:srgbClr val="445588"/>
          </a:solidFill>
          <a:ln w="12700">
            <a:solidFill>
              <a:srgbClr val="4455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972300" y="2578608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Serfs (bound to land)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711696" y="309067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growing in status via Italian city-states + Hanseatic League; still below nobility.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228600" y="4572000"/>
            <a:ext cx="8686800" cy="43891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20040" y="4572000"/>
            <a:ext cx="8503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KEY: China AND India formally ranked merchants lowest despite their economic power. Islam elevated merchants' status. This comparison = analytical sophistication on any social structure essay.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Causation Chain: From Surplus to Unit 2 Setup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880" y="960120"/>
            <a:ext cx="1325880" cy="1417320"/>
          </a:xfrm>
          <a:prstGeom prst="rect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8600" y="103327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Surplus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1563624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Champa rice (China)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Three-field system (Europe)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Maize expansion (Americas)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508760" y="1581912"/>
            <a:ext cx="201168" cy="1097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37360" y="960120"/>
            <a:ext cx="1325880" cy="1417320"/>
          </a:xfrm>
          <a:prstGeom prst="rect">
            <a:avLst/>
          </a:prstGeom>
          <a:solidFill>
            <a:srgbClr val="7B4A1E"/>
          </a:solidFill>
          <a:ln w="12700">
            <a:solidFill>
              <a:srgbClr val="7B4A1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783080" y="103327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Growth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Trade Expansion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783080" y="1563624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Silk Roads, Indian Ocean,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Trans-Saharan networks active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063240" y="1581912"/>
            <a:ext cx="201168" cy="1097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91840" y="960120"/>
            <a:ext cx="1325880" cy="1417320"/>
          </a:xfrm>
          <a:prstGeom prst="rect">
            <a:avLst/>
          </a:prstGeom>
          <a:solidFill>
            <a:srgbClr val="6B4A1E"/>
          </a:solidFill>
          <a:ln w="12700">
            <a:solidFill>
              <a:srgbClr val="6B4A1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103327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Mongol Conquests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1206–1279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337560" y="1563624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Destruction of old centers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Pax Mongolica integrates Eurasia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617720" y="1581912"/>
            <a:ext cx="201168" cy="1097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960120"/>
            <a:ext cx="1325880" cy="1417320"/>
          </a:xfrm>
          <a:prstGeom prst="rect">
            <a:avLst/>
          </a:prstGeom>
          <a:solidFill>
            <a:srgbClr val="5A2D6B"/>
          </a:solidFill>
          <a:ln w="12700">
            <a:solidFill>
              <a:srgbClr val="5A2D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92040" y="103327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Death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1330s–1350s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92040" y="1563624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Mongol trade routes transmit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pandemic across Eurasia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172200" y="1581912"/>
            <a:ext cx="201168" cy="1097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960120"/>
            <a:ext cx="1325880" cy="1417320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46520" y="103327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Dynastic Collapse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Realignment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446520" y="1563624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Yuan falls (Ming rises)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Abbasid gone (regional states)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Feudalism weakens (Europe)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726680" y="1581912"/>
            <a:ext cx="201168" cy="10972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55280" y="960120"/>
            <a:ext cx="1325880" cy="14173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001000" y="103327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SETUP: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Powers Rise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01000" y="1563624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Ming, Ottomans, centralized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monarchies — ready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DD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reshape the world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182880" y="2514600"/>
            <a:ext cx="8732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2880" y="2615184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THREADS THROUGHOUT: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2926080"/>
            <a:ext cx="228600" cy="34747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4320" y="292608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9260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 spreads via trade across all regions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709160" y="2926080"/>
            <a:ext cx="228600" cy="34747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09160" y="292608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01768" y="29260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Confucian bureaucracy persists across Chinese dynasties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3429000"/>
            <a:ext cx="228600" cy="34747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342900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66928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Americas develop in complete isolation — no Old World contact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09160" y="3429000"/>
            <a:ext cx="228600" cy="34747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09160" y="342900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001768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Mongols disrupt AND integrate simultaneously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Timeline: Pivotal Dates for AP Exam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" y="1463040"/>
            <a:ext cx="8686800" cy="7315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9456" y="1408176"/>
            <a:ext cx="109728" cy="109728"/>
          </a:xfrm>
          <a:prstGeom prst="ellipse">
            <a:avLst/>
          </a:prstGeom>
          <a:solidFill>
            <a:srgbClr val="6B4A1E"/>
          </a:solidFill>
          <a:ln w="12700">
            <a:solidFill>
              <a:srgbClr val="6B4A1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1408176"/>
            <a:ext cx="0" cy="-731520"/>
          </a:xfrm>
          <a:prstGeom prst="line">
            <a:avLst/>
          </a:prstGeom>
          <a:noFill/>
          <a:ln w="12700">
            <a:solidFill>
              <a:srgbClr val="6B4A1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-365760" y="411480"/>
            <a:ext cx="1280160" cy="237744"/>
          </a:xfrm>
          <a:prstGeom prst="rect">
            <a:avLst/>
          </a:prstGeom>
          <a:solidFill>
            <a:srgbClr val="6B4A1E"/>
          </a:solidFill>
          <a:ln w="12700">
            <a:solidFill>
              <a:srgbClr val="6B4A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-365760" y="4114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-384048" y="6583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Genghis Khan unifies Mongols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408176" y="1408176"/>
            <a:ext cx="109728" cy="109728"/>
          </a:xfrm>
          <a:prstGeom prst="ellipse">
            <a:avLst/>
          </a:prstGeom>
          <a:solidFill>
            <a:srgbClr val="3D3D6B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63040" y="1408176"/>
            <a:ext cx="0" cy="-731520"/>
          </a:xfrm>
          <a:prstGeom prst="line">
            <a:avLst/>
          </a:prstGeom>
          <a:noFill/>
          <a:ln w="12700">
            <a:solidFill>
              <a:srgbClr val="3D3D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1480"/>
            <a:ext cx="1280160" cy="237744"/>
          </a:xfrm>
          <a:prstGeom prst="rect">
            <a:avLst/>
          </a:prstGeom>
          <a:solidFill>
            <a:srgbClr val="3D3D6B"/>
          </a:solidFill>
          <a:ln w="12700">
            <a:solidFill>
              <a:srgbClr val="3D3D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114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1215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04672" y="6583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Magna Carta — limited monarchy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2596896" y="1408176"/>
            <a:ext cx="109728" cy="109728"/>
          </a:xfrm>
          <a:prstGeom prst="ellipse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0" y="1408176"/>
            <a:ext cx="0" cy="-731520"/>
          </a:xfrm>
          <a:prstGeom prst="line">
            <a:avLst/>
          </a:prstGeom>
          <a:noFill/>
          <a:ln w="12700">
            <a:solidFill>
              <a:srgbClr val="8B202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11680" y="411480"/>
            <a:ext cx="1280160" cy="237744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11680" y="4114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1235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993392" y="6583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Sundiata founds Mali Empire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785616" y="1408176"/>
            <a:ext cx="109728" cy="109728"/>
          </a:xfrm>
          <a:prstGeom prst="ellipse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0480" y="1408176"/>
            <a:ext cx="0" cy="-731520"/>
          </a:xfrm>
          <a:prstGeom prst="line">
            <a:avLst/>
          </a:prstGeom>
          <a:noFill/>
          <a:ln w="12700">
            <a:solidFill>
              <a:srgbClr val="8B2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411480"/>
            <a:ext cx="1280160" cy="237744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0" y="4114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1258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182112" y="6583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Mongols sack Baghdad — Abbasid ends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974336" y="1408176"/>
            <a:ext cx="109728" cy="109728"/>
          </a:xfrm>
          <a:prstGeom prst="ellipse">
            <a:avLst/>
          </a:prstGeom>
          <a:solidFill>
            <a:srgbClr val="4A3A2A"/>
          </a:solidFill>
          <a:ln w="12700">
            <a:solidFill>
              <a:srgbClr val="4A3A2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0" y="1408176"/>
            <a:ext cx="0" cy="-731520"/>
          </a:xfrm>
          <a:prstGeom prst="line">
            <a:avLst/>
          </a:prstGeom>
          <a:noFill/>
          <a:ln w="12700">
            <a:solidFill>
              <a:srgbClr val="4A3A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89120" y="411480"/>
            <a:ext cx="1280160" cy="237744"/>
          </a:xfrm>
          <a:prstGeom prst="rect">
            <a:avLst/>
          </a:prstGeom>
          <a:solidFill>
            <a:srgbClr val="4A3A2A"/>
          </a:solidFill>
          <a:ln w="12700">
            <a:solidFill>
              <a:srgbClr val="4A3A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0" y="4114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1279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370832" y="6583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Yuan completes conquest of China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6163056" y="1408176"/>
            <a:ext cx="109728" cy="109728"/>
          </a:xfrm>
          <a:prstGeom prst="ellipse">
            <a:avLst/>
          </a:prstGeom>
          <a:solidFill>
            <a:srgbClr val="7B4A1E"/>
          </a:solidFill>
          <a:ln w="12700">
            <a:solidFill>
              <a:srgbClr val="7B4A1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0" y="1408176"/>
            <a:ext cx="0" cy="-731520"/>
          </a:xfrm>
          <a:prstGeom prst="line">
            <a:avLst/>
          </a:prstGeom>
          <a:noFill/>
          <a:ln w="12700">
            <a:solidFill>
              <a:srgbClr val="7B4A1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577840" y="411480"/>
            <a:ext cx="1280160" cy="237744"/>
          </a:xfrm>
          <a:prstGeom prst="rect">
            <a:avLst/>
          </a:prstGeom>
          <a:solidFill>
            <a:srgbClr val="7B4A1E"/>
          </a:solidFill>
          <a:ln w="12700">
            <a:solidFill>
              <a:srgbClr val="7B4A1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77840" y="4114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1295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559552" y="6583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Ilkhanate converts to Islam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408176" y="1408176"/>
            <a:ext cx="109728" cy="109728"/>
          </a:xfrm>
          <a:prstGeom prst="ellipse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463040" y="1517904"/>
            <a:ext cx="0" cy="502920"/>
          </a:xfrm>
          <a:prstGeom prst="line">
            <a:avLst/>
          </a:prstGeom>
          <a:noFill/>
          <a:ln w="12700">
            <a:solidFill>
              <a:srgbClr val="8B202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2960" y="2011680"/>
            <a:ext cx="1280160" cy="237744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2960" y="20116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1312-37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04672" y="22585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Mansa Musa rules Mali; Hajj 1324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596896" y="1408176"/>
            <a:ext cx="109728" cy="109728"/>
          </a:xfrm>
          <a:prstGeom prst="ellipse">
            <a:avLst/>
          </a:prstGeom>
          <a:solidFill>
            <a:srgbClr val="5A2D6B"/>
          </a:solidFill>
          <a:ln w="12700">
            <a:solidFill>
              <a:srgbClr val="5A2D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651760" y="1517904"/>
            <a:ext cx="0" cy="502920"/>
          </a:xfrm>
          <a:prstGeom prst="line">
            <a:avLst/>
          </a:prstGeom>
          <a:noFill/>
          <a:ln w="12700">
            <a:solidFill>
              <a:srgbClr val="5A2D6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11680" y="2011680"/>
            <a:ext cx="1280160" cy="237744"/>
          </a:xfrm>
          <a:prstGeom prst="rect">
            <a:avLst/>
          </a:prstGeom>
          <a:solidFill>
            <a:srgbClr val="5A2D6B"/>
          </a:solidFill>
          <a:ln w="12700">
            <a:solidFill>
              <a:srgbClr val="5A2D6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11680" y="20116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1325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993392" y="22585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Aztecs found Tenochtitlan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3785616" y="1408176"/>
            <a:ext cx="109728" cy="109728"/>
          </a:xfrm>
          <a:prstGeom prst="ellipse">
            <a:avLst/>
          </a:prstGeom>
          <a:solidFill>
            <a:srgbClr val="5A2D6B"/>
          </a:solidFill>
          <a:ln w="12700">
            <a:solidFill>
              <a:srgbClr val="5A2D6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840480" y="1517904"/>
            <a:ext cx="0" cy="502920"/>
          </a:xfrm>
          <a:prstGeom prst="line">
            <a:avLst/>
          </a:prstGeom>
          <a:noFill/>
          <a:ln w="12700">
            <a:solidFill>
              <a:srgbClr val="5A2D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00400" y="2011680"/>
            <a:ext cx="1280160" cy="237744"/>
          </a:xfrm>
          <a:prstGeom prst="rect">
            <a:avLst/>
          </a:prstGeom>
          <a:solidFill>
            <a:srgbClr val="5A2D6B"/>
          </a:solidFill>
          <a:ln w="12700">
            <a:solidFill>
              <a:srgbClr val="5A2D6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0116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1347-51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3182112" y="22585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Death sweeps Europe + Islamic world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4974336" y="1408176"/>
            <a:ext cx="109728" cy="109728"/>
          </a:xfrm>
          <a:prstGeom prst="ellipse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29200" y="1517904"/>
            <a:ext cx="0" cy="502920"/>
          </a:xfrm>
          <a:prstGeom prst="line">
            <a:avLst/>
          </a:prstGeom>
          <a:noFill/>
          <a:ln w="12700">
            <a:solidFill>
              <a:srgbClr val="1C6E8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389120" y="2011680"/>
            <a:ext cx="1280160" cy="237744"/>
          </a:xfrm>
          <a:prstGeom prst="rect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20116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1368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4370832" y="22585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Dynasty founded (Yuan expelled)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163056" y="1408176"/>
            <a:ext cx="109728" cy="109728"/>
          </a:xfrm>
          <a:prstGeom prst="ellipse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17920" y="1517904"/>
            <a:ext cx="0" cy="502920"/>
          </a:xfrm>
          <a:prstGeom prst="line">
            <a:avLst/>
          </a:prstGeom>
          <a:noFill/>
          <a:ln w="12700">
            <a:solidFill>
              <a:srgbClr val="1C6E8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577840" y="2011680"/>
            <a:ext cx="1280160" cy="237744"/>
          </a:xfrm>
          <a:prstGeom prst="rect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77840" y="20116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1405-33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559552" y="22585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Zheng He's 7 voyages — 1433 ENDS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7351776" y="1408176"/>
            <a:ext cx="109728" cy="109728"/>
          </a:xfrm>
          <a:prstGeom prst="ellipse">
            <a:avLst/>
          </a:prstGeom>
          <a:solidFill>
            <a:srgbClr val="5A2D6B"/>
          </a:solidFill>
          <a:ln w="12700">
            <a:solidFill>
              <a:srgbClr val="5A2D6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06640" y="1517904"/>
            <a:ext cx="0" cy="502920"/>
          </a:xfrm>
          <a:prstGeom prst="line">
            <a:avLst/>
          </a:prstGeom>
          <a:noFill/>
          <a:ln w="12700">
            <a:solidFill>
              <a:srgbClr val="5A2D6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6560" y="2011680"/>
            <a:ext cx="1280160" cy="237744"/>
          </a:xfrm>
          <a:prstGeom prst="rect">
            <a:avLst/>
          </a:prstGeom>
          <a:solidFill>
            <a:srgbClr val="5A2D6B"/>
          </a:solidFill>
          <a:ln w="12700">
            <a:solidFill>
              <a:srgbClr val="5A2D6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66560" y="20116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1438+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6748272" y="22585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Pachacuti expands Inca Empire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28600" y="2834640"/>
            <a:ext cx="86868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74320" y="29443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TURNING POINTS FOR AP ESSAYS: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74320" y="3255264"/>
            <a:ext cx="274320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74320" y="3255264"/>
            <a:ext cx="274320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74320" y="3255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1258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384048" y="3675888"/>
            <a:ext cx="25237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Mongols sack Baghdad → Abbasid ends → Islamic fragmentation begins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3154680" y="3255264"/>
            <a:ext cx="274320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3154680" y="3255264"/>
            <a:ext cx="274320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154680" y="3255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1433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3264408" y="3675888"/>
            <a:ext cx="25237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Zheng He voyages END → China turns inward → just 60 yrs before Columbus (1492)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035040" y="3255264"/>
            <a:ext cx="274320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035040" y="3255264"/>
            <a:ext cx="2743200" cy="3657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035040" y="3255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1347–51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6144768" y="3675888"/>
            <a:ext cx="25237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Death → 1/3 of Europe dies → labor shortage → feudalism weakens → commercial revival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D38"/>
          </a:solidFill>
          <a:ln w="12700">
            <a:solidFill>
              <a:srgbClr val="0D1D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HIGH-FREQUENCY AP EXAM TOPICS — UNIT 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82880" y="777240"/>
            <a:ext cx="4206240" cy="438912"/>
          </a:xfrm>
          <a:prstGeom prst="rect">
            <a:avLst/>
          </a:prstGeom>
          <a:solidFill>
            <a:srgbClr val="243560"/>
          </a:solidFill>
          <a:ln w="12700">
            <a:solidFill>
              <a:srgbClr val="3344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" y="777240"/>
            <a:ext cx="438912" cy="43891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777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6656" y="804672"/>
            <a:ext cx="3639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Zheng He's Voyages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76656" y="987552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(tributary diplomacy), scale, WHY they ended (Confucian opposition), contrast with European exploration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82880" y="1261872"/>
            <a:ext cx="4206240" cy="438912"/>
          </a:xfrm>
          <a:prstGeom prst="rect">
            <a:avLst/>
          </a:prstGeom>
          <a:solidFill>
            <a:srgbClr val="243560"/>
          </a:solidFill>
          <a:ln w="12700">
            <a:solidFill>
              <a:srgbClr val="33447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2880" y="1261872"/>
            <a:ext cx="438912" cy="43891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" y="1261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6656" y="1289304"/>
            <a:ext cx="3639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Mongol Impact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147218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Destruction vs. Pax Mongolica integration; Black Death transmission; Yuan Dynasty; Ain Jalut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82880" y="1746504"/>
            <a:ext cx="4206240" cy="438912"/>
          </a:xfrm>
          <a:prstGeom prst="rect">
            <a:avLst/>
          </a:prstGeom>
          <a:solidFill>
            <a:srgbClr val="243560"/>
          </a:solidFill>
          <a:ln w="12700">
            <a:solidFill>
              <a:srgbClr val="3344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2880" y="1746504"/>
            <a:ext cx="438912" cy="43891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2880" y="17465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6656" y="1773936"/>
            <a:ext cx="3639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of Islam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76656" y="1956816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Mechanisms: trade routes, Sufism, political incentives — NOT primarily conquest; syncretism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82880" y="2231136"/>
            <a:ext cx="4206240" cy="438912"/>
          </a:xfrm>
          <a:prstGeom prst="rect">
            <a:avLst/>
          </a:prstGeom>
          <a:solidFill>
            <a:srgbClr val="243560"/>
          </a:solidFill>
          <a:ln w="12700">
            <a:solidFill>
              <a:srgbClr val="3344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2880" y="2231136"/>
            <a:ext cx="438912" cy="43891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" y="22311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6656" y="2258568"/>
            <a:ext cx="3639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Ocean Trade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" y="2441448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Monsoon winds, Muslim merchants, goods, entrepots, how Islam + Buddhism spread via trade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82880" y="2715768"/>
            <a:ext cx="4206240" cy="438912"/>
          </a:xfrm>
          <a:prstGeom prst="rect">
            <a:avLst/>
          </a:prstGeom>
          <a:solidFill>
            <a:srgbClr val="243560"/>
          </a:solidFill>
          <a:ln w="12700">
            <a:solidFill>
              <a:srgbClr val="3344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2880" y="2715768"/>
            <a:ext cx="438912" cy="43891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2880" y="2715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6656" y="2743200"/>
            <a:ext cx="3639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Death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76656" y="2926080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Asian origin, Mongol routes, 1/3 Europe died, feudalism weakened, Islamic world devastated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572000" y="777240"/>
            <a:ext cx="4206240" cy="438912"/>
          </a:xfrm>
          <a:prstGeom prst="rect">
            <a:avLst/>
          </a:prstGeom>
          <a:solidFill>
            <a:srgbClr val="243560"/>
          </a:solidFill>
          <a:ln w="12700">
            <a:solidFill>
              <a:srgbClr val="33447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777240"/>
            <a:ext cx="438912" cy="43891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777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065776" y="804672"/>
            <a:ext cx="3639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Mansa Musa's Pilgrimage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065776" y="987552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Caused inflation in Cairo; put Mali on maps; evidence of trans-Saharan gold wealth + Islam in Africa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572000" y="1261872"/>
            <a:ext cx="4206240" cy="438912"/>
          </a:xfrm>
          <a:prstGeom prst="rect">
            <a:avLst/>
          </a:prstGeom>
          <a:solidFill>
            <a:srgbClr val="243560"/>
          </a:solidFill>
          <a:ln w="12700">
            <a:solidFill>
              <a:srgbClr val="33447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0" y="1261872"/>
            <a:ext cx="438912" cy="43891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0" y="1261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065776" y="1289304"/>
            <a:ext cx="3639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Feudalism Comparison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065776" y="147218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vs. Japan — both warriors, land-for-loyalty, weak center; different religious context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572000" y="1746504"/>
            <a:ext cx="4206240" cy="438912"/>
          </a:xfrm>
          <a:prstGeom prst="rect">
            <a:avLst/>
          </a:prstGeom>
          <a:solidFill>
            <a:srgbClr val="243560"/>
          </a:solidFill>
          <a:ln w="12700">
            <a:solidFill>
              <a:srgbClr val="33447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0" y="1746504"/>
            <a:ext cx="438912" cy="43891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0" y="17465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065776" y="1773936"/>
            <a:ext cx="3639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Magna Carta / Parliament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065776" y="1956816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monarchy; constitutionalism; no equivalent in China or Islamic world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572000" y="2231136"/>
            <a:ext cx="4206240" cy="438912"/>
          </a:xfrm>
          <a:prstGeom prst="rect">
            <a:avLst/>
          </a:prstGeom>
          <a:solidFill>
            <a:srgbClr val="243560"/>
          </a:solidFill>
          <a:ln w="12700">
            <a:solidFill>
              <a:srgbClr val="33447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0" y="2231136"/>
            <a:ext cx="438912" cy="43891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0" y="22311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065776" y="2258568"/>
            <a:ext cx="3639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Americas in Isolation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065776" y="2441448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civilizations developed independently; NO Old World contact; isolation = key AP trap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572000" y="2715768"/>
            <a:ext cx="4206240" cy="438912"/>
          </a:xfrm>
          <a:prstGeom prst="rect">
            <a:avLst/>
          </a:prstGeom>
          <a:solidFill>
            <a:srgbClr val="243560"/>
          </a:solidFill>
          <a:ln w="12700">
            <a:solidFill>
              <a:srgbClr val="33447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72000" y="2715768"/>
            <a:ext cx="438912" cy="43891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0" y="2715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5065776" y="2743200"/>
            <a:ext cx="3639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Sinification / Indianization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065776" y="2926080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diffusion via trade without conquest; parallel processes; contrast with Mongol conquest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CCOT Framework: Continuity &amp; Change Across Unit 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" y="822960"/>
            <a:ext cx="411480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822960"/>
            <a:ext cx="4114800" cy="38404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82296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CONTINUITIES  (what stayed the same)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1261872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Confucian bureaucracy &amp; civil service exams (Song → Ming)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merchant dominance of Indian Ocean trade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Trans-Saharan gold-salt trade as foundation of West African power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Catholic Church as Europe's unifying institution (despite challenges)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Hindu-Buddhist cultural traditions in South/SE Asia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Caste system in India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Americas' complete isolation from Old World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Patriarchal social structures across nearly all regions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0" y="822960"/>
            <a:ext cx="434340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822960"/>
            <a:ext cx="4343400" cy="384048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822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 (what transformed)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3440" y="1261872"/>
            <a:ext cx="4160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1258: Mongols end Abbasid Caliphate → Islamic world fragmented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1279: Mongols conquer Song → Yuan Dynasty (foreign rule of China)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1368: Ming dynasty restores Chinese rule (Yuan expelled)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1347–51: Black Death kills 1/3 of Europe; weakens feudalism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1433: End of Zheng He's voyages — China turns inward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 spreads across Africa and SE Asia via trade (slow change)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centralized monarchies in Europe (Magna Carta → Parliament)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Americas: Aztec and Inca Empires expand rapidly (c.1428–1438)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8600" y="4709160"/>
            <a:ext cx="8686800" cy="3200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470916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COMPLEXITY: Mongol period = most paradoxical — greatest change AND continuity simultaneously. Use this for DBQ complexity points.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AP Essay Mistakes — Unit 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41605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" y="804672"/>
            <a:ext cx="201168" cy="502920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804672"/>
            <a:ext cx="201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" y="822960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 spread primarily through military conquest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5488" y="1042416"/>
            <a:ext cx="383133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060704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routes, Sufism, and political incentives were FAR more important than conquest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28600" y="1371600"/>
            <a:ext cx="41605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" y="1371600"/>
            <a:ext cx="201168" cy="502920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1371600"/>
            <a:ext cx="201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" y="1389888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Mongols destroyed Confucianism / Islam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75488" y="1609344"/>
            <a:ext cx="383133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627632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Confucian culture and Islam survived Mongol conquest and absorbed the Mongols themselves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28600" y="1938528"/>
            <a:ext cx="41605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" y="1938528"/>
            <a:ext cx="201168" cy="502920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8600" y="1938528"/>
            <a:ext cx="201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" y="1956816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Saying China 'couldn't' explore after 1433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5488" y="2176272"/>
            <a:ext cx="383133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2194560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had superior ships. The end of voyages was a POLITICAL/IDEOLOGICAL choice by Confucian officials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28600" y="2505456"/>
            <a:ext cx="41605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8600" y="2505456"/>
            <a:ext cx="201168" cy="502920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2505456"/>
            <a:ext cx="201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5488" y="2523744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Generalizing 'Africa' in essays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75488" y="2743200"/>
            <a:ext cx="383133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" y="2761488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Specify: Mali (trans-Saharan), Swahili Coast (Indian Ocean), Great Zimbabwe (interior) — very different stories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26280" y="804672"/>
            <a:ext cx="41605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26280" y="804672"/>
            <a:ext cx="201168" cy="502920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26280" y="804672"/>
            <a:ext cx="201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773168" y="822960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Mongols/Black Death to explain the Americas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773168" y="1042416"/>
            <a:ext cx="383133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73168" y="1060704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Americas were ISOLATED. Zero Old World contact before Columbus. Never connect them to Eurasian events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26280" y="1371600"/>
            <a:ext cx="41605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26280" y="1371600"/>
            <a:ext cx="201168" cy="502920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26280" y="1371600"/>
            <a:ext cx="201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773168" y="1389888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Magna Carta 'established democracy'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773168" y="1609344"/>
            <a:ext cx="383133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73168" y="1627632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primarily protected NOBLE rights against the king. Its democratic significance came much later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26280" y="1938528"/>
            <a:ext cx="41605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26280" y="1938528"/>
            <a:ext cx="201168" cy="502920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26280" y="1938528"/>
            <a:ext cx="201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773168" y="1956816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'China gave up exploration due to lack of technology'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773168" y="2176272"/>
            <a:ext cx="383133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73168" y="2194560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ships were SUPERIOR. The decision was ideological — Confucian values opposed maritime commerce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526280" y="2505456"/>
            <a:ext cx="41605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26280" y="2505456"/>
            <a:ext cx="201168" cy="502920"/>
          </a:xfrm>
          <a:prstGeom prst="rect">
            <a:avLst/>
          </a:prstGeom>
          <a:solidFill>
            <a:srgbClr val="8B2020"/>
          </a:solidFill>
          <a:ln w="12700">
            <a:solidFill>
              <a:srgbClr val="8B202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26280" y="2505456"/>
            <a:ext cx="201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773168" y="2523744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was the most advanced civilization in 1200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773168" y="2743200"/>
            <a:ext cx="383133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73168" y="2761488"/>
            <a:ext cx="3867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China, the Islamic world, and even West Africa had more sophisticated economies than Europe in 1200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Comparison Quick Reference — Unit 1 Essay Bank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548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REVIEW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0" y="73152"/>
            <a:ext cx="594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3291840" cy="402336"/>
          </a:xfrm>
          <a:prstGeom prst="rect">
            <a:avLst/>
          </a:prstGeom>
          <a:solidFill>
            <a:srgbClr val="1B2A4A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" y="804672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749040" y="804672"/>
            <a:ext cx="5394960" cy="402336"/>
          </a:xfrm>
          <a:prstGeom prst="rect">
            <a:avLst/>
          </a:prstGeom>
          <a:solidFill>
            <a:srgbClr val="1B2A4A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804672"/>
            <a:ext cx="5248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ANALYSIS POINT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" y="1220724"/>
            <a:ext cx="32918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" y="1220724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Zheng He's voyages vs. Portuguese exploration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749040" y="1220724"/>
            <a:ext cx="539496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1220724"/>
            <a:ext cx="5248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State/tributary/diplomatic vs. merchant/profit/colonial; China ENDED, Europe CONTINUED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28600" y="1636776"/>
            <a:ext cx="3291840" cy="402336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1752" y="1636776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feudalism vs. Japanese feudalism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749040" y="1636776"/>
            <a:ext cx="5394960" cy="402336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1636776"/>
            <a:ext cx="5248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warriors, land-for-loyalty, weak center. Different: Catholic Church vs. none; shogun structure vs. king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28600" y="2052828"/>
            <a:ext cx="32918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1752" y="2052828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Ulama vs. Chinese scholar-gentry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749040" y="2052828"/>
            <a:ext cx="539496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22192" y="2052828"/>
            <a:ext cx="5248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educated elites maintaining cultural continuity across political disruption; different foundations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28600" y="2468880"/>
            <a:ext cx="3291840" cy="402336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1752" y="24688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Aztec tribute vs. Chinese tribute system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749040" y="2468880"/>
            <a:ext cx="5394960" cy="402336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2468880"/>
            <a:ext cx="5248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extractive. Aztec: military coercion + goods + captives. Chinese: diplomatic + goods only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28600" y="2884932"/>
            <a:ext cx="32918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1752" y="2884932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Mansa Musa's pilgrimage vs. Zheng He's voyages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749040" y="2884932"/>
            <a:ext cx="539496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22192" y="2884932"/>
            <a:ext cx="5248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demonstrated state/individual wealth; one religious obligation, one state policy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28600" y="3300984"/>
            <a:ext cx="3291840" cy="402336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1752" y="3300984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Malacca's conversion vs. Mali's conversion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749040" y="3300984"/>
            <a:ext cx="5394960" cy="402336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22192" y="3300984"/>
            <a:ext cx="5248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rulers converted to Islam for commercial advantages — pattern of trade-driven Islamization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28600" y="3717036"/>
            <a:ext cx="32918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" y="3717036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Sinification vs. Indianization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749040" y="3717036"/>
            <a:ext cx="539496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22192" y="3717036"/>
            <a:ext cx="5248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cultural diffusion from dominant civilization to neighbors via trade, NOT conquest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28600" y="4133088"/>
            <a:ext cx="3291840" cy="402336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1752" y="4133088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Swahili Coast vs. SE Asian port cities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749040" y="4133088"/>
            <a:ext cx="5394960" cy="402336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22192" y="4133088"/>
            <a:ext cx="5248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cosmopolitan, Islam via Indian Ocean trade, syncretic — parallel commercial hub structures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28600" y="4549140"/>
            <a:ext cx="329184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1752" y="454914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Trans-Saharan vs. Indian Ocean trade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749040" y="4549140"/>
            <a:ext cx="539496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822192" y="4549140"/>
            <a:ext cx="5248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spread Islam. Trans-Saharan: overland, camel, gold-salt, state-taxed. Indian Ocean: maritime, monsoon, merchant-driven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28600" y="4965192"/>
            <a:ext cx="3291840" cy="402336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1752" y="4965192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 mit'a vs. European serfdom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749040" y="4965192"/>
            <a:ext cx="5394960" cy="402336"/>
          </a:xfrm>
          <a:prstGeom prst="rect">
            <a:avLst/>
          </a:prstGeom>
          <a:solidFill>
            <a:srgbClr val="EAE5DC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822192" y="4965192"/>
            <a:ext cx="5248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labor obligations to state/lord. Mit'a: temporary state service. Serfdom: permanent hereditary obligation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8368"/>
            <a:ext cx="9144000" cy="4114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COMPLETE — LOOKING AHEAD TO UNIT 2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28600" y="804672"/>
            <a:ext cx="4160520" cy="3566160"/>
          </a:xfrm>
          <a:prstGeom prst="rect">
            <a:avLst/>
          </a:prstGeom>
          <a:solidFill>
            <a:srgbClr val="1A2844"/>
          </a:solidFill>
          <a:ln w="12700">
            <a:solidFill>
              <a:srgbClr val="2A3A5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804672"/>
            <a:ext cx="4160520" cy="3657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8046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PLANTED IN UNIT 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92608" y="1234440"/>
            <a:ext cx="201168" cy="2743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123444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technologies (gunpowder, compass) spread west via Silk Roads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92608" y="1655064"/>
            <a:ext cx="201168" cy="2743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" y="165506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" y="16550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Americas' isolation = no disease immunity → Columbian Exchange catastrophe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92608" y="2075688"/>
            <a:ext cx="201168" cy="2743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" y="2075688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48640" y="20756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1433: China turns inward as Europe begins looking outward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92608" y="2496312"/>
            <a:ext cx="201168" cy="2743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2608" y="24963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" y="24963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Death + commercial revival = European prosperity to fund exploration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92608" y="2916936"/>
            <a:ext cx="201168" cy="2743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" y="291693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8640" y="29169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Byzantine fall 1453 → Greek scholars to Italy → Renaissance humanist learning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92608" y="3337560"/>
            <a:ext cx="201168" cy="2743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333756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48640" y="3337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centralized monarchies in England/France = nation-states that will fund exploration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92608" y="3758184"/>
            <a:ext cx="201168" cy="2743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2608" y="375818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48640" y="375818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Ottomans block overland route to Asia → Europeans seek sea routes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54880" y="804672"/>
            <a:ext cx="4160520" cy="3566160"/>
          </a:xfrm>
          <a:prstGeom prst="rect">
            <a:avLst/>
          </a:prstGeom>
          <a:solidFill>
            <a:srgbClr val="1A2844"/>
          </a:solidFill>
          <a:ln w="12700">
            <a:solidFill>
              <a:srgbClr val="2A3A5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54880" y="804672"/>
            <a:ext cx="4160520" cy="365760"/>
          </a:xfrm>
          <a:prstGeom prst="rect">
            <a:avLst/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8046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PREVIEW (c. 1450–1750)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124358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Exploration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143560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Columbus 1492; da Gama 1498; enabled by Unit 1 tech + monarchy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46320" y="174650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Columbian Exchange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46320" y="193852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World diseases kill 90% of Americas' population (isolation legacy)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46320" y="224942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Gunpowder Empires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46320" y="244144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Ottoman, Mughal, Safavid — Unit 1 technologies applied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846320" y="275234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Atlantic Slave Trade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46320" y="294436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trade network replacing / supplementing trans-Saharan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846320" y="325526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Protestant Reformation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46320" y="344728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Gutenberg's press (Unit 1 tech via Silk Roads) enables Luther 1517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846320" y="375818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of Europe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46320" y="395020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1750, Europe has reversed its Unit 1 weakness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0" y="4498848"/>
            <a:ext cx="9144000" cy="649224"/>
          </a:xfrm>
          <a:prstGeom prst="rect">
            <a:avLst/>
          </a:prstGeom>
          <a:solidFill>
            <a:srgbClr val="0D1D38"/>
          </a:solidFill>
          <a:ln w="12700">
            <a:solidFill>
              <a:srgbClr val="0D1D3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498848"/>
            <a:ext cx="8595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World History: Modern  |  Unit 1: The Global Tapestry  |  c. 1200–1450  |  Good luck on the exam!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1 Review: The Global Tapestry | AP World History</dc:title>
  <dc:subject>PptxGenJS Presentation</dc:subject>
  <dc:creator>AP World History Study Vault</dc:creator>
  <cp:lastModifiedBy>AP World History Study Vault</cp:lastModifiedBy>
  <cp:revision>1</cp:revision>
  <dcterms:created xsi:type="dcterms:W3CDTF">2026-05-11T07:12:58Z</dcterms:created>
  <dcterms:modified xsi:type="dcterms:W3CDTF">2026-05-11T07:12:58Z</dcterms:modified>
</cp:coreProperties>
</file>