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D00"/>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D4A017"/>
          </a:solidFill>
          <a:ln w="12700">
            <a:solidFill>
              <a:srgbClr val="D4A017"/>
            </a:solidFill>
            <a:prstDash val="solid"/>
          </a:ln>
        </p:spPr>
      </p:sp>
      <p:sp>
        <p:nvSpPr>
          <p:cNvPr id="3" name="Shape 1"/>
          <p:cNvSpPr/>
          <p:nvPr/>
        </p:nvSpPr>
        <p:spPr>
          <a:xfrm>
            <a:off x="502920" y="0"/>
            <a:ext cx="73152" cy="5143500"/>
          </a:xfrm>
          <a:prstGeom prst="rect">
            <a:avLst/>
          </a:prstGeom>
          <a:solidFill>
            <a:srgbClr val="F0C843"/>
          </a:solidFill>
          <a:ln w="12700">
            <a:solidFill>
              <a:srgbClr val="F0C843"/>
            </a:solidFill>
            <a:prstDash val="solid"/>
          </a:ln>
        </p:spPr>
      </p:sp>
      <p:sp>
        <p:nvSpPr>
          <p:cNvPr id="4" name="Shape 2"/>
          <p:cNvSpPr/>
          <p:nvPr/>
        </p:nvSpPr>
        <p:spPr>
          <a:xfrm>
            <a:off x="6400800" y="-1371600"/>
            <a:ext cx="4572000" cy="4572000"/>
          </a:xfrm>
          <a:prstGeom prst="ellipse">
            <a:avLst/>
          </a:prstGeom>
          <a:solidFill>
            <a:srgbClr val="2A1800"/>
          </a:solidFill>
          <a:ln w="12700">
            <a:solidFill>
              <a:srgbClr val="2A1800"/>
            </a:solidFill>
            <a:prstDash val="solid"/>
          </a:ln>
        </p:spPr>
      </p:sp>
      <p:sp>
        <p:nvSpPr>
          <p:cNvPr id="5" name="Shape 3"/>
          <p:cNvSpPr/>
          <p:nvPr/>
        </p:nvSpPr>
        <p:spPr>
          <a:xfrm>
            <a:off x="7132320" y="3200400"/>
            <a:ext cx="3200400" cy="3200400"/>
          </a:xfrm>
          <a:prstGeom prst="ellipse">
            <a:avLst/>
          </a:prstGeom>
          <a:solidFill>
            <a:srgbClr val="110A00"/>
          </a:solidFill>
          <a:ln w="12700">
            <a:solidFill>
              <a:srgbClr val="110A00"/>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F0C843"/>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F0C843"/>
                </a:solidFill>
                <a:latin typeface="Trebuchet MS" pitchFamily="34" charset="0"/>
                <a:ea typeface="Trebuchet MS" pitchFamily="34" charset="-122"/>
                <a:cs typeface="Trebuchet MS" pitchFamily="34" charset="-120"/>
              </a:rPr>
              <a:t>CHAPTER 4</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State Building</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in Africa</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500" i="1" dirty="0">
                <a:solidFill>
                  <a:srgbClr val="F0C843"/>
                </a:solidFill>
                <a:latin typeface="Calibri" pitchFamily="34" charset="0"/>
                <a:ea typeface="Calibri" pitchFamily="34" charset="-122"/>
                <a:cs typeface="Calibri" pitchFamily="34" charset="-120"/>
              </a:rPr>
              <a:t>1200-1450  |  Mali · Swahili Coast · Great Zimbabwe · Ethiopia</a:t>
            </a:r>
            <a:endParaRPr lang="en-US" sz="1500" dirty="0"/>
          </a:p>
        </p:txBody>
      </p:sp>
      <p:sp>
        <p:nvSpPr>
          <p:cNvPr id="10" name="Shape 8"/>
          <p:cNvSpPr/>
          <p:nvPr/>
        </p:nvSpPr>
        <p:spPr>
          <a:xfrm>
            <a:off x="777240" y="3703320"/>
            <a:ext cx="7315200" cy="0"/>
          </a:xfrm>
          <a:prstGeom prst="line">
            <a:avLst/>
          </a:prstGeom>
          <a:noFill/>
          <a:ln w="19050">
            <a:solidFill>
              <a:srgbClr val="D4A017"/>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A07830"/>
                </a:solidFill>
                <a:latin typeface="Calibri" pitchFamily="34" charset="0"/>
                <a:ea typeface="Calibri" pitchFamily="34" charset="-122"/>
                <a:cs typeface="Calibri" pitchFamily="34" charset="-120"/>
              </a:rPr>
              <a:t>UNIT 1: THE GLOBAL TAPESTRY  ·  West Africa · East Africa · Southern Africa · Ethiopia</a:t>
            </a:r>
            <a:endParaRPr lang="en-US" sz="1100" dirty="0"/>
          </a:p>
        </p:txBody>
      </p:sp>
      <p:sp>
        <p:nvSpPr>
          <p:cNvPr id="12" name="Shape 10"/>
          <p:cNvSpPr/>
          <p:nvPr/>
        </p:nvSpPr>
        <p:spPr>
          <a:xfrm>
            <a:off x="777240" y="4187952"/>
            <a:ext cx="1463040" cy="347472"/>
          </a:xfrm>
          <a:prstGeom prst="rect">
            <a:avLst/>
          </a:prstGeom>
          <a:solidFill>
            <a:srgbClr val="2A1800"/>
          </a:solidFill>
          <a:ln w="12700">
            <a:solidFill>
              <a:srgbClr val="D4A017"/>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Mali Empire</a:t>
            </a:r>
            <a:endParaRPr lang="en-US" sz="850" dirty="0"/>
          </a:p>
        </p:txBody>
      </p:sp>
      <p:sp>
        <p:nvSpPr>
          <p:cNvPr id="14" name="Shape 12"/>
          <p:cNvSpPr/>
          <p:nvPr/>
        </p:nvSpPr>
        <p:spPr>
          <a:xfrm>
            <a:off x="2359152" y="4187952"/>
            <a:ext cx="1463040" cy="347472"/>
          </a:xfrm>
          <a:prstGeom prst="rect">
            <a:avLst/>
          </a:prstGeom>
          <a:solidFill>
            <a:srgbClr val="2A1800"/>
          </a:solidFill>
          <a:ln w="12700">
            <a:solidFill>
              <a:srgbClr val="D4A017"/>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Mansa Musa</a:t>
            </a:r>
            <a:endParaRPr lang="en-US" sz="850" dirty="0"/>
          </a:p>
        </p:txBody>
      </p:sp>
      <p:sp>
        <p:nvSpPr>
          <p:cNvPr id="16" name="Shape 14"/>
          <p:cNvSpPr/>
          <p:nvPr/>
        </p:nvSpPr>
        <p:spPr>
          <a:xfrm>
            <a:off x="3941064" y="4187952"/>
            <a:ext cx="1463040" cy="347472"/>
          </a:xfrm>
          <a:prstGeom prst="rect">
            <a:avLst/>
          </a:prstGeom>
          <a:solidFill>
            <a:srgbClr val="2A1800"/>
          </a:solidFill>
          <a:ln w="12700">
            <a:solidFill>
              <a:srgbClr val="D4A017"/>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Swahili Coast</a:t>
            </a:r>
            <a:endParaRPr lang="en-US" sz="850" dirty="0"/>
          </a:p>
        </p:txBody>
      </p:sp>
      <p:sp>
        <p:nvSpPr>
          <p:cNvPr id="18" name="Shape 16"/>
          <p:cNvSpPr/>
          <p:nvPr/>
        </p:nvSpPr>
        <p:spPr>
          <a:xfrm>
            <a:off x="5522976" y="4187952"/>
            <a:ext cx="1463040" cy="347472"/>
          </a:xfrm>
          <a:prstGeom prst="rect">
            <a:avLst/>
          </a:prstGeom>
          <a:solidFill>
            <a:srgbClr val="2A1800"/>
          </a:solidFill>
          <a:ln w="12700">
            <a:solidFill>
              <a:srgbClr val="D4A017"/>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Great Zimbabwe</a:t>
            </a:r>
            <a:endParaRPr lang="en-US" sz="850" dirty="0"/>
          </a:p>
        </p:txBody>
      </p:sp>
      <p:sp>
        <p:nvSpPr>
          <p:cNvPr id="20" name="Shape 18"/>
          <p:cNvSpPr/>
          <p:nvPr/>
        </p:nvSpPr>
        <p:spPr>
          <a:xfrm>
            <a:off x="7104888" y="4187952"/>
            <a:ext cx="1463040" cy="347472"/>
          </a:xfrm>
          <a:prstGeom prst="rect">
            <a:avLst/>
          </a:prstGeom>
          <a:solidFill>
            <a:srgbClr val="2A1800"/>
          </a:solidFill>
          <a:ln w="12700">
            <a:solidFill>
              <a:srgbClr val="D4A017"/>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Trans-Saharan Trade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7B5A2E"/>
          </a:solidFill>
          <a:ln w="12700">
            <a:solidFill>
              <a:srgbClr val="7B5A2E"/>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Africa in 1200-1450 was home to some of the world's wealthiest and most sophisticated states -- yet it is the most underrepresented region in AP prep. Mali Empire controlled the world's gold supply; the Swahili Coast was a thriving Islamic commercial center; Great Zimbabwe was an architectural wonder. These states were deeply integrated into global networks -- Africa was NOT isolated.</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diversity of African states and their connections to global trade networks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how Islam shaped governance and culture in West and East African states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role of trans-Saharan and Indian Ocean trade in African state formation</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Evaluate continuity and change in African political structures between 1200 and 1450</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Islam's spread shaped political authority in West and East Africa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KC-1.3.II -- Trans-Saharan and Indian Ocean trade integrated African states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KC-1.2.II -- African rulers used religion to legitimize political authority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KC-2.3.III -- Trade networks spread goods, diseases, and cultural practices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Four African Regions: Each with Its Own Story</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is not one region -- know each distinct area and its trade network connections</a:t>
            </a:r>
            <a:endParaRPr lang="en-US" sz="1000" dirty="0"/>
          </a:p>
        </p:txBody>
      </p:sp>
      <p:sp>
        <p:nvSpPr>
          <p:cNvPr id="9" name="Shape 7"/>
          <p:cNvSpPr/>
          <p:nvPr/>
        </p:nvSpPr>
        <p:spPr>
          <a:xfrm>
            <a:off x="182880" y="1005840"/>
            <a:ext cx="4297680" cy="1719072"/>
          </a:xfrm>
          <a:prstGeom prst="rect">
            <a:avLst/>
          </a:prstGeom>
          <a:solidFill>
            <a:srgbClr val="FAF0E0"/>
          </a:solidFill>
          <a:ln w="12700">
            <a:solidFill>
              <a:srgbClr val="7B5A2E"/>
            </a:solidFill>
            <a:prstDash val="solid"/>
          </a:ln>
        </p:spPr>
      </p:sp>
      <p:sp>
        <p:nvSpPr>
          <p:cNvPr id="10" name="Shape 8"/>
          <p:cNvSpPr/>
          <p:nvPr/>
        </p:nvSpPr>
        <p:spPr>
          <a:xfrm>
            <a:off x="182880" y="1005840"/>
            <a:ext cx="4297680" cy="320040"/>
          </a:xfrm>
          <a:prstGeom prst="rect">
            <a:avLst/>
          </a:prstGeom>
          <a:solidFill>
            <a:srgbClr val="7B5A2E"/>
          </a:solidFill>
          <a:ln w="12700">
            <a:solidFill>
              <a:srgbClr val="7B5A2E"/>
            </a:solidFill>
            <a:prstDash val="solid"/>
          </a:ln>
        </p:spPr>
      </p:sp>
      <p:sp>
        <p:nvSpPr>
          <p:cNvPr id="11" name="Text 9"/>
          <p:cNvSpPr/>
          <p:nvPr/>
        </p:nvSpPr>
        <p:spPr>
          <a:xfrm>
            <a:off x="274320" y="1005840"/>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WEST AFRICA</a:t>
            </a:r>
            <a:endParaRPr lang="en-US" sz="1000" dirty="0"/>
          </a:p>
        </p:txBody>
      </p:sp>
      <p:sp>
        <p:nvSpPr>
          <p:cNvPr id="12" name="Text 10"/>
          <p:cNvSpPr/>
          <p:nvPr/>
        </p:nvSpPr>
        <p:spPr>
          <a:xfrm>
            <a:off x="292608" y="1389888"/>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Mali Empire: world's wealthiest state at its height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Controls gold-salt trans-Saharan trade routes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Timbuktu: center of Islamic scholarship</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Mansa Musa's hajj (1324): puts Africa on European maps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Griots preserve oral history instead of written records</a:t>
            </a:r>
            <a:endParaRPr lang="en-US" sz="950" dirty="0"/>
          </a:p>
        </p:txBody>
      </p:sp>
      <p:sp>
        <p:nvSpPr>
          <p:cNvPr id="13" name="Shape 11"/>
          <p:cNvSpPr/>
          <p:nvPr/>
        </p:nvSpPr>
        <p:spPr>
          <a:xfrm>
            <a:off x="182880" y="2852928"/>
            <a:ext cx="4297680" cy="1719072"/>
          </a:xfrm>
          <a:prstGeom prst="rect">
            <a:avLst/>
          </a:prstGeom>
          <a:solidFill>
            <a:srgbClr val="E3F0FF"/>
          </a:solidFill>
          <a:ln w="12700">
            <a:solidFill>
              <a:srgbClr val="2A5298"/>
            </a:solidFill>
            <a:prstDash val="solid"/>
          </a:ln>
        </p:spPr>
      </p:sp>
      <p:sp>
        <p:nvSpPr>
          <p:cNvPr id="14" name="Shape 12"/>
          <p:cNvSpPr/>
          <p:nvPr/>
        </p:nvSpPr>
        <p:spPr>
          <a:xfrm>
            <a:off x="182880" y="2852928"/>
            <a:ext cx="4297680" cy="320040"/>
          </a:xfrm>
          <a:prstGeom prst="rect">
            <a:avLst/>
          </a:prstGeom>
          <a:solidFill>
            <a:srgbClr val="2A5298"/>
          </a:solidFill>
          <a:ln w="12700">
            <a:solidFill>
              <a:srgbClr val="2A5298"/>
            </a:solidFill>
            <a:prstDash val="solid"/>
          </a:ln>
        </p:spPr>
      </p:sp>
      <p:sp>
        <p:nvSpPr>
          <p:cNvPr id="15" name="Text 13"/>
          <p:cNvSpPr/>
          <p:nvPr/>
        </p:nvSpPr>
        <p:spPr>
          <a:xfrm>
            <a:off x="274320" y="2852928"/>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EAST AFRICA</a:t>
            </a:r>
            <a:endParaRPr lang="en-US" sz="1000" dirty="0"/>
          </a:p>
        </p:txBody>
      </p:sp>
      <p:sp>
        <p:nvSpPr>
          <p:cNvPr id="16" name="Text 14"/>
          <p:cNvSpPr/>
          <p:nvPr/>
        </p:nvSpPr>
        <p:spPr>
          <a:xfrm>
            <a:off x="292608" y="3236976"/>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Swahili Coast: Afro-Islamic commercial city-states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Kilwa: premier entrepot; controls Zimbabwe gold trade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Fully integrated into Indian Ocean trade network</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Mixed Bantu-Arab-Persian-Indian Swahili culture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Ibn Battuta called Kilwa 'one of the most beautiful cities'</a:t>
            </a:r>
            <a:endParaRPr lang="en-US" sz="950" dirty="0"/>
          </a:p>
        </p:txBody>
      </p:sp>
      <p:sp>
        <p:nvSpPr>
          <p:cNvPr id="17" name="Shape 15"/>
          <p:cNvSpPr/>
          <p:nvPr/>
        </p:nvSpPr>
        <p:spPr>
          <a:xfrm>
            <a:off x="4663440" y="1005840"/>
            <a:ext cx="4297680" cy="1719072"/>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20040"/>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SOUTHERN AFRICA</a:t>
            </a:r>
            <a:endParaRPr lang="en-US" sz="1000" dirty="0"/>
          </a:p>
        </p:txBody>
      </p:sp>
      <p:sp>
        <p:nvSpPr>
          <p:cNvPr id="20" name="Text 18"/>
          <p:cNvSpPr/>
          <p:nvPr/>
        </p:nvSpPr>
        <p:spPr>
          <a:xfrm>
            <a:off x="4773168" y="1389888"/>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Great Zimbabwe: massive stone-walled royal enclosure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Controls gold production on the Zimbabwe Plateau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Exports gold to Swahili Coast merchants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Built without mortar -- extraordinary construction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Shows African state-building WITHOUT external influence</a:t>
            </a:r>
            <a:endParaRPr lang="en-US" sz="950" dirty="0"/>
          </a:p>
        </p:txBody>
      </p:sp>
      <p:sp>
        <p:nvSpPr>
          <p:cNvPr id="21" name="Shape 19"/>
          <p:cNvSpPr/>
          <p:nvPr/>
        </p:nvSpPr>
        <p:spPr>
          <a:xfrm>
            <a:off x="4663440" y="2852928"/>
            <a:ext cx="4297680" cy="1719072"/>
          </a:xfrm>
          <a:prstGeom prst="rect">
            <a:avLst/>
          </a:prstGeom>
          <a:solidFill>
            <a:srgbClr val="FAE8E4"/>
          </a:solidFill>
          <a:ln w="12700">
            <a:solidFill>
              <a:srgbClr val="B5432A"/>
            </a:solidFill>
            <a:prstDash val="solid"/>
          </a:ln>
        </p:spPr>
      </p:sp>
      <p:sp>
        <p:nvSpPr>
          <p:cNvPr id="22" name="Shape 20"/>
          <p:cNvSpPr/>
          <p:nvPr/>
        </p:nvSpPr>
        <p:spPr>
          <a:xfrm>
            <a:off x="4663440" y="2852928"/>
            <a:ext cx="4297680" cy="320040"/>
          </a:xfrm>
          <a:prstGeom prst="rect">
            <a:avLst/>
          </a:prstGeom>
          <a:solidFill>
            <a:srgbClr val="B5432A"/>
          </a:solidFill>
          <a:ln w="12700">
            <a:solidFill>
              <a:srgbClr val="B5432A"/>
            </a:solidFill>
            <a:prstDash val="solid"/>
          </a:ln>
        </p:spPr>
      </p:sp>
      <p:sp>
        <p:nvSpPr>
          <p:cNvPr id="23" name="Text 21"/>
          <p:cNvSpPr/>
          <p:nvPr/>
        </p:nvSpPr>
        <p:spPr>
          <a:xfrm>
            <a:off x="4754880" y="2852928"/>
            <a:ext cx="4160520" cy="320040"/>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ETHIOPIA</a:t>
            </a:r>
            <a:endParaRPr lang="en-US" sz="1000" dirty="0"/>
          </a:p>
        </p:txBody>
      </p:sp>
      <p:sp>
        <p:nvSpPr>
          <p:cNvPr id="24" name="Text 22"/>
          <p:cNvSpPr/>
          <p:nvPr/>
        </p:nvSpPr>
        <p:spPr>
          <a:xfrm>
            <a:off x="4773168" y="3236976"/>
            <a:ext cx="4078224" cy="12618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Ancient Christian kingdom; claims Solomonic descent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Zagwe Dynasty: rock-hewn churches of Lalibela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Maintained Christian identity surrounded by Islamic states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One of the world's oldest continuous Christian traditions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Resisted Islamic expansion -- shows African resilience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West Africa &amp; Trans-Saharan Trade</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West Africa is the most-tested African region -- know these terms and their global connections</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7B5A2E"/>
          </a:solidFill>
          <a:ln w="12700">
            <a:solidFill>
              <a:srgbClr val="7B5A2E"/>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Mali Empire</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Powerful West African empire (c.1235-1600) that controlled gold-salt trans-Saharan trade; successor to the Ghana Empire.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Wealthiest state in the world at its height. Know: Sundiata (founder), Mansa Musa (most famous ruler), Timbuktu (scholarship).</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7B5A2E"/>
          </a:solidFill>
          <a:ln w="12700">
            <a:solidFill>
              <a:srgbClr val="7B5A2E"/>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Mansa Musa</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Emperor of Mali (r.1312-1337) whose 1324-25 hajj to Mecca is legendary -- his gold gifts depressed Egyptian gold prices for a decade.</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Top AP figure: his hajj = Islamic connectivity + West African wealth + individual historical impact. Put Mali on European maps.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7B5A2E"/>
          </a:solidFill>
          <a:ln w="12700">
            <a:solidFill>
              <a:srgbClr val="7B5A2E"/>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Timbuktu</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Major commercial and intellectual city at the intersection of trans-Saharan routes and the Niger River; home to the Sankore mosque and university.</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Destroys the myth that Africa had no intellectual culture -- Timbuktu produced world-class Islamic scholarship.</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7B5A2E"/>
          </a:solidFill>
          <a:ln w="12700">
            <a:solidFill>
              <a:srgbClr val="7B5A2E"/>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Trans-Saharan Trade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Long-distance commerce across the Sahara: West African gold and salt exchanged for North African manufactured goods and horses.</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Economic foundation of West African empires. Islam traveled with merchants along these routes -- trade AND religion linked.</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7B5A2E"/>
          </a:solidFill>
          <a:ln w="12700">
            <a:solidFill>
              <a:srgbClr val="7B5A2E"/>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Griots</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African oral historians and musicians who preserved cultural memory through performance rather than written texts.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Shows that complex historical traditions can exist without writing. The Epic of Sundiata is a primary source for Mali's history.</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7B5A2E"/>
          </a:solidFill>
          <a:ln w="12700">
            <a:solidFill>
              <a:srgbClr val="7B5A2E"/>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Gold-Salt Trade</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 had abundant gold but scarce salt; the Sahara had vast salt deposits; this structural imbalance drove trans-Saharan commerce.</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WHY Mali was wealthy -- geographic luck plus political control of the trade routes. Compare with spice trade logic.</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East Africa, Southern Africa &amp; Ethiopia</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These regions are tested via primary source documents -- know their distinctive features</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2A5298"/>
          </a:solidFill>
          <a:ln w="12700">
            <a:solidFill>
              <a:srgbClr val="2A5298"/>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Swahili Coast</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East African coast where Bantu-speaking Africans mixed with Arab, Persian, and Indian merchants, creating Afro-Islamic Swahili culture.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Exports: gold, ivory, enslaved people. Imports: Indian textiles, Chinese porcelain. Fully integrated into Indian Ocean trade.</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2A5298"/>
          </a:solidFill>
          <a:ln w="12700">
            <a:solidFill>
              <a:srgbClr val="2A5298"/>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Kilwa</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Most powerful Swahili city-state (Tanzania); controlled the gold trade from the Zimbabwe Plateau to Indian Ocean merchants.</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Ibn Battuta visited Kilwa and called it 'one of the most beautiful cities in the world' -- key AP primary source.</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2A5298"/>
          </a:solidFill>
          <a:ln w="12700">
            <a:solidFill>
              <a:srgbClr val="2A5298"/>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Great Zimbabwe</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Stone-walled royal enclosure (c.1100-1450) on Zimbabwe Plateau; capital of a state exporting gold to the Swahili Coast.</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Built without mortar. Shows African architectural achievement WITHOUT Islamic or external influence. Colonialists falsely denied Africans built it.</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2A5298"/>
          </a:solidFill>
          <a:ln w="12700">
            <a:solidFill>
              <a:srgbClr val="2A5298"/>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Swahili Language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Bantu language with significant Arabic loanwords; lingua franca of East African coastal trade and the mixed Afro-Islamic culture.</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Demonstrates how trade creates cultural synthesis -- language mixing reflects African + Arab + Persian + Indian elements.</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2A5298"/>
          </a:solidFill>
          <a:ln w="12700">
            <a:solidFill>
              <a:srgbClr val="2A5298"/>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Ethiopia (Zagwe/Solomonid)</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Christian highland kingdom claiming descent from King Solomon and the Queen of Sheba; Zagwe Dynasty built the rock-hewn churches of Lalibela.</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One of the world's oldest Christian traditions; maintained independence from Islamic pressure -- shows African religious diversity.</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2A5298"/>
          </a:solidFill>
          <a:ln w="12700">
            <a:solidFill>
              <a:srgbClr val="2A5298"/>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Stateless Societies</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African communities organized around kinship, age grades, and village councils rather than centralized state authority.</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Shows diversity of African political organization -- not all African societies were organized into states. Coexisted with empires.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Africa's most important historical figures -- know their stories for source-based AP questions</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7B5A2E"/>
          </a:solidFill>
          <a:ln w="12700">
            <a:solidFill>
              <a:srgbClr val="7B5A2E"/>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Mansa Musa</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r.1312-1337 | Mali Empire, West Africa</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Most famous African ruler in world history</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1324-25 hajj: 60,000 people, gold distributed across Cairo -- depressed Egyptian gold prices for a decade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Returned with Islamic scholars and architect Abu Ishaq al-Sahili (built Djinguereber Mosque, Timbuktu)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First appearance on European maps (1375 Catalan Atlas) as a magnificent golden king</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hajj = Islamic connectivity + West African wealth + individual impact on world</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Sundiata Keita</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r. c.1235-1255 | Mali Empire Founder</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Legendary founder of the Mali Empire; unified Mande-speaking peoples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Defeated the Sosso king Sumanguru Kante at the Battle of Kirina (~1235)</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story preserved in the 'Epic of Sundiata' by griots -- oral history as primary source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Combined traditional African religious authority with early embrace of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Established the political framework within which Mansa Musa would later flourish</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Kilwa Sultanate &amp; Swahili Coast</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c.957-1513 | East African Coast</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Kilwa: dominant city-state controlling gold trade from Zimbabwe Plateau</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Ibn Battuta visited 1331 -- described as one of world's most beautiful cities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Prosperity built on being the intermediary between inland gold producers and Indian Ocean merchants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Gold, ivory, enslaved people exported; Indian textiles and Chinese porcelain imported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Demonstrates East Africa's full integration into the Islamic world and Indian Ocean network</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Africa 1200-1450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Focus on trade connections and the role of Islam in shaping African states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286000"/>
                <a:gridCol w="1280160"/>
                <a:gridCol w="429768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c.1100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Great Zimbabwe construction peaks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Southern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Stone enclosure; controls gold trade to Swahili Coast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c.1200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Zagwe Dynasty builds Lalibela churches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Rock-hewn churches as 'New Jerusalem'; Christian African innovation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c.1235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Sundiata founds Mali Empire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Defeats Sosso kingdom; Mali Empire begins controlling gold-salt trade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Solomonid Dynasty restored in 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Ethiopia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Claims descent from Solomon and Queen of Sheba; divine legitimacy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1312</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 becomes ruler of Mali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Mali reaches peak power and wealth under his 25-year reign</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1324-25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Musa's hajj to Mecca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 /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Disrupts Egyptian gold prices; puts Mali on European maps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1331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Ibn Battuta visits Kilwa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East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Describes it as one of world's most beautiful cities; key primary source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c.1375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Mali appears on Catalan Atlas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Mediterranean</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European cartographers document Mali's wealth; global connectivity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Songhai begins challenging Mali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Mali's power weakens; Songhai Empire will dominate by 1468</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Practice applying thematic lenses to African examples -- the AP exam LOVES to test Africa</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 shows the DIVERSITY of governance: Mali's centralized empire with dual Islamic/traditional legitimacy; Swahili city-states with Islamic sultans; Great Zimbabwe's ritual-political complex; Ethiopian Christian monarchy; and stateless societies organized by kinship. There is no single 'African governance model' -- this diversity is itself the key lesson.</a:t>
            </a:r>
            <a:endParaRPr lang="en-US" sz="950" dirty="0"/>
          </a:p>
        </p:txBody>
      </p:sp>
      <p:sp>
        <p:nvSpPr>
          <p:cNvPr id="13" name="Shape 11"/>
          <p:cNvSpPr/>
          <p:nvPr/>
        </p:nvSpPr>
        <p:spPr>
          <a:xfrm>
            <a:off x="182880" y="2816352"/>
            <a:ext cx="4297680" cy="1691640"/>
          </a:xfrm>
          <a:prstGeom prst="rect">
            <a:avLst/>
          </a:prstGeom>
          <a:solidFill>
            <a:srgbClr val="FAF0E0"/>
          </a:solidFill>
          <a:ln w="12700">
            <a:solidFill>
              <a:srgbClr val="7B5A2E"/>
            </a:solidFill>
            <a:prstDash val="solid"/>
          </a:ln>
        </p:spPr>
      </p:sp>
      <p:sp>
        <p:nvSpPr>
          <p:cNvPr id="14" name="Shape 12"/>
          <p:cNvSpPr/>
          <p:nvPr/>
        </p:nvSpPr>
        <p:spPr>
          <a:xfrm>
            <a:off x="182880" y="2816352"/>
            <a:ext cx="4297680" cy="310896"/>
          </a:xfrm>
          <a:prstGeom prst="rect">
            <a:avLst/>
          </a:prstGeom>
          <a:solidFill>
            <a:srgbClr val="7B5A2E"/>
          </a:solidFill>
          <a:ln w="12700">
            <a:solidFill>
              <a:srgbClr val="7B5A2E"/>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West African gold funded Mediterranean economies via trans-Saharan networks -- Africa was economically central, not peripheral. East Africa's Swahili merchants were sophisticated intermediaries in the Indian Ocean network, exporting gold, ivory, and enslaved people. African states did not produce most of what they traded -- their wealth came from CONTROLLING exchange routes.</a:t>
            </a:r>
            <a:endParaRPr lang="en-US" sz="950" dirty="0"/>
          </a:p>
        </p:txBody>
      </p:sp>
      <p:sp>
        <p:nvSpPr>
          <p:cNvPr id="17" name="Shape 15"/>
          <p:cNvSpPr/>
          <p:nvPr/>
        </p:nvSpPr>
        <p:spPr>
          <a:xfrm>
            <a:off x="4663440" y="1005840"/>
            <a:ext cx="4297680" cy="1691640"/>
          </a:xfrm>
          <a:prstGeom prst="rect">
            <a:avLst/>
          </a:prstGeom>
          <a:solidFill>
            <a:srgbClr val="FAE8E4"/>
          </a:solidFill>
          <a:ln w="12700">
            <a:solidFill>
              <a:srgbClr val="B5432A"/>
            </a:solidFill>
            <a:prstDash val="solid"/>
          </a:ln>
        </p:spPr>
      </p:sp>
      <p:sp>
        <p:nvSpPr>
          <p:cNvPr id="18" name="Shape 16"/>
          <p:cNvSpPr/>
          <p:nvPr/>
        </p:nvSpPr>
        <p:spPr>
          <a:xfrm>
            <a:off x="4663440" y="1005840"/>
            <a:ext cx="4297680" cy="310896"/>
          </a:xfrm>
          <a:prstGeom prst="rect">
            <a:avLst/>
          </a:prstGeom>
          <a:solidFill>
            <a:srgbClr val="B5432A"/>
          </a:solidFill>
          <a:ln w="12700">
            <a:solidFill>
              <a:srgbClr val="B5432A"/>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CULTURAL DEVELOPMENTS</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 transformed West and East African states while leaving Southern Africa and Ethiopia independent. In Mali, 'elite Islam' coexisted with indigenous religious practices among the general population. Swahili culture blended African, Arab, Persian, and Indian elements. Ethiopian Christianity developed distinctive traditions (Ge'ez liturgy, rock-hewn churches) separate from Rome or Byzantium.</a:t>
            </a:r>
            <a:endParaRPr lang="en-US" sz="950" dirty="0"/>
          </a:p>
        </p:txBody>
      </p:sp>
      <p:sp>
        <p:nvSpPr>
          <p:cNvPr id="21" name="Shape 19"/>
          <p:cNvSpPr/>
          <p:nvPr/>
        </p:nvSpPr>
        <p:spPr>
          <a:xfrm>
            <a:off x="4663440" y="2816352"/>
            <a:ext cx="4297680" cy="1691640"/>
          </a:xfrm>
          <a:prstGeom prst="rect">
            <a:avLst/>
          </a:prstGeom>
          <a:solidFill>
            <a:srgbClr val="E8F5EE"/>
          </a:solidFill>
          <a:ln w="12700">
            <a:solidFill>
              <a:srgbClr val="1B5E3B"/>
            </a:solidFill>
            <a:prstDash val="solid"/>
          </a:ln>
        </p:spPr>
      </p:sp>
      <p:sp>
        <p:nvSpPr>
          <p:cNvPr id="22" name="Shape 20"/>
          <p:cNvSpPr/>
          <p:nvPr/>
        </p:nvSpPr>
        <p:spPr>
          <a:xfrm>
            <a:off x="4663440" y="2816352"/>
            <a:ext cx="4297680" cy="310896"/>
          </a:xfrm>
          <a:prstGeom prst="rect">
            <a:avLst/>
          </a:prstGeom>
          <a:solidFill>
            <a:srgbClr val="1B5E3B"/>
          </a:solidFill>
          <a:ln w="12700">
            <a:solidFill>
              <a:srgbClr val="1B5E3B"/>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SOCIAL STRUCTURES</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African social structures varied dramatically. Mali had caste-like divisions (nobles, free people, enslaved people) and griots as a special class. West African Queen Mothers held formal political roles. Swahili Coast women participated in trade and owned property. Enslaved people existed in all African societies, though the scale was far smaller than the later Atlantic slave trade.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is most often tested through PRIMARY SOURCES -- practice analyzing unfamiliar documents</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THREE TRADE NETWORKS: trans-Saharan (West Africa) + Indian Ocean (East Africa) + internal Niger River routes. Know which connects to which region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MAP QUESTIONS: Identify African states by geographic clue -- trans-Saharan routes = West Africa; Indian Ocean coast = East Africa; highland Christian kingdom = Ethiopia</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Mansa Musa's hajj: test yourself -- explain it as (1) Islamic connectivity, (2) West African wealth, (3) cross-cultural exchange, (4) individual impact on history</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Great Zimbabwe: built by Africans, WITHOUT external influence -- colonists wrongly claimed otherwise. The AP may test your ability to critique biased historical arguments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Islam in Africa = 'elite Islam': rulers and merchants converted; rural populations often maintained indigenous practices. Know this NUANCE about African Islam</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Mali Tribute vs. Aztec Tribute</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empires extracted wealth from subjects/trade. Mali's was commercial (taxing trade routes); Aztec's was extractive (demanding goods from conquered peoples).</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Swahili Coast vs. Indian Ocean Trade</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Swahili cities and SE Asian ports (Malacca) prospered as intermediaries on the Indian Ocean. Both adopted Islam to align with Muslim merchant networks.</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Mali's Griots vs. Chinese Movable Type</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preserved and transmitted cultural knowledge, but through radically different methods: oral performance vs. written printing. Neither is 'superior.'</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Ethiopian Christianity vs. European Christianity</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Christian, but Ethiopia developed independently from Rome -- distinctive liturgy (Ge'ez), unique art, rock-hewn churches. AP may test African Christian distinctiveness.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Africa questions often use PRIMARY SOURCE DOCUMENTS -- practice identifying the author's perspective.</a:t>
            </a:r>
            <a:endParaRPr lang="en-US" sz="1000" dirty="0"/>
          </a:p>
        </p:txBody>
      </p:sp>
      <p:sp>
        <p:nvSpPr>
          <p:cNvPr id="9" name="Shape 7"/>
          <p:cNvSpPr/>
          <p:nvPr/>
        </p:nvSpPr>
        <p:spPr>
          <a:xfrm>
            <a:off x="182880" y="987552"/>
            <a:ext cx="8778240" cy="1874520"/>
          </a:xfrm>
          <a:prstGeom prst="rect">
            <a:avLst/>
          </a:prstGeom>
          <a:solidFill>
            <a:srgbClr val="FAF0E0"/>
          </a:solidFill>
          <a:ln w="12700">
            <a:solidFill>
              <a:srgbClr val="D4C09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"At Kilwa is one of the most beautiful and well-constructed towns in the world. The whole of it is elegantly built... The sultan... received me with honour and treated me as his guest. The people are engaged in a holy war for their country is contiguous to the heathen Negroes." -- Ibn Battuta, 1331</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Ibn Battuta's description of Kilwa most directly illustrates which of the following about the Swahili Coast?</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Swahili cities were isolated from the Islamic world and maintained purely African cultural traditions.</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Swahili city-states were prosperous Islamic urban centers fully integrated into the wider Dar al-Islam.</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Swahili people had converted to Islam through military conquest by Arab armies.</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Kilwa's wealth derived primarily from agricultural production rather than trade.</a:t>
            </a:r>
            <a:endParaRPr lang="en-US" sz="950" dirty="0"/>
          </a:p>
        </p:txBody>
      </p:sp>
      <p:sp>
        <p:nvSpPr>
          <p:cNvPr id="20" name="Shape 18"/>
          <p:cNvSpPr/>
          <p:nvPr/>
        </p:nvSpPr>
        <p:spPr>
          <a:xfrm>
            <a:off x="182880" y="2926080"/>
            <a:ext cx="8778240" cy="1847088"/>
          </a:xfrm>
          <a:prstGeom prst="rect">
            <a:avLst/>
          </a:prstGeom>
          <a:solidFill>
            <a:srgbClr val="E3F0FF"/>
          </a:solidFill>
          <a:ln w="12700">
            <a:solidFill>
              <a:srgbClr val="C0D4F0"/>
            </a:solidFill>
            <a:prstDash val="solid"/>
          </a:ln>
        </p:spPr>
      </p:sp>
      <p:sp>
        <p:nvSpPr>
          <p:cNvPr id="21" name="Text 19"/>
          <p:cNvSpPr/>
          <p:nvPr/>
        </p:nvSpPr>
        <p:spPr>
          <a:xfrm>
            <a:off x="320040" y="2971800"/>
            <a:ext cx="8485632" cy="402336"/>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"The king of Mali has supreme power over his people. He rules over a vast empire and commands an army of horsemen... The people show great devotion to learning the Quran by heart." -- Al-Umari, 14th century Arab scholar</a:t>
            </a:r>
            <a:endParaRPr lang="en-US" sz="950" dirty="0"/>
          </a:p>
        </p:txBody>
      </p:sp>
      <p:sp>
        <p:nvSpPr>
          <p:cNvPr id="22" name="Text 20"/>
          <p:cNvSpPr/>
          <p:nvPr/>
        </p:nvSpPr>
        <p:spPr>
          <a:xfrm>
            <a:off x="320040" y="3401568"/>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description of the Mali Empire above most directly illustrates which of the following?</a:t>
            </a:r>
            <a:endParaRPr lang="en-US" sz="1000" dirty="0"/>
          </a:p>
        </p:txBody>
      </p:sp>
      <p:sp>
        <p:nvSpPr>
          <p:cNvPr id="23" name="Shape 21"/>
          <p:cNvSpPr/>
          <p:nvPr/>
        </p:nvSpPr>
        <p:spPr>
          <a:xfrm>
            <a:off x="320040" y="3694176"/>
            <a:ext cx="219456" cy="210312"/>
          </a:xfrm>
          <a:prstGeom prst="rect">
            <a:avLst/>
          </a:prstGeom>
          <a:solidFill>
            <a:srgbClr val="D1D5DB"/>
          </a:solidFill>
          <a:ln w="12700">
            <a:solidFill>
              <a:srgbClr val="D1D5DB"/>
            </a:solidFill>
            <a:prstDash val="solid"/>
          </a:ln>
        </p:spPr>
      </p:sp>
      <p:sp>
        <p:nvSpPr>
          <p:cNvPr id="24" name="Text 22"/>
          <p:cNvSpPr/>
          <p:nvPr/>
        </p:nvSpPr>
        <p:spPr>
          <a:xfrm>
            <a:off x="594360" y="3703320"/>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Mali rulers derived their legitimacy solely from traditional African religious practices.</a:t>
            </a:r>
            <a:endParaRPr lang="en-US" sz="950" dirty="0"/>
          </a:p>
        </p:txBody>
      </p:sp>
      <p:sp>
        <p:nvSpPr>
          <p:cNvPr id="25" name="Shape 23"/>
          <p:cNvSpPr/>
          <p:nvPr/>
        </p:nvSpPr>
        <p:spPr>
          <a:xfrm>
            <a:off x="320040" y="3941064"/>
            <a:ext cx="219456" cy="210312"/>
          </a:xfrm>
          <a:prstGeom prst="rect">
            <a:avLst/>
          </a:prstGeom>
          <a:solidFill>
            <a:srgbClr val="1B5E3B"/>
          </a:solidFill>
          <a:ln w="12700">
            <a:solidFill>
              <a:srgbClr val="1B5E3B"/>
            </a:solidFill>
            <a:prstDash val="solid"/>
          </a:ln>
        </p:spPr>
      </p:sp>
      <p:sp>
        <p:nvSpPr>
          <p:cNvPr id="26" name="Text 24"/>
          <p:cNvSpPr/>
          <p:nvPr/>
        </p:nvSpPr>
        <p:spPr>
          <a:xfrm>
            <a:off x="594360" y="3950208"/>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Mali Empire's power was based on both military strength and Islamic religious legitimacy.</a:t>
            </a:r>
            <a:endParaRPr lang="en-US" sz="950" dirty="0"/>
          </a:p>
        </p:txBody>
      </p:sp>
      <p:sp>
        <p:nvSpPr>
          <p:cNvPr id="27" name="Shape 25"/>
          <p:cNvSpPr/>
          <p:nvPr/>
        </p:nvSpPr>
        <p:spPr>
          <a:xfrm>
            <a:off x="320040" y="4187952"/>
            <a:ext cx="219456" cy="210312"/>
          </a:xfrm>
          <a:prstGeom prst="rect">
            <a:avLst/>
          </a:prstGeom>
          <a:solidFill>
            <a:srgbClr val="D1D5DB"/>
          </a:solidFill>
          <a:ln w="12700">
            <a:solidFill>
              <a:srgbClr val="D1D5DB"/>
            </a:solidFill>
            <a:prstDash val="solid"/>
          </a:ln>
        </p:spPr>
      </p:sp>
      <p:sp>
        <p:nvSpPr>
          <p:cNvPr id="28" name="Text 26"/>
          <p:cNvSpPr/>
          <p:nvPr/>
        </p:nvSpPr>
        <p:spPr>
          <a:xfrm>
            <a:off x="594360" y="419709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Islam had replaced all indigenous African practices throughout the Mali Empire by the 14th century.</a:t>
            </a:r>
            <a:endParaRPr lang="en-US" sz="950" dirty="0"/>
          </a:p>
        </p:txBody>
      </p:sp>
      <p:sp>
        <p:nvSpPr>
          <p:cNvPr id="29" name="Shape 27"/>
          <p:cNvSpPr/>
          <p:nvPr/>
        </p:nvSpPr>
        <p:spPr>
          <a:xfrm>
            <a:off x="320040" y="4434840"/>
            <a:ext cx="219456" cy="210312"/>
          </a:xfrm>
          <a:prstGeom prst="rect">
            <a:avLst/>
          </a:prstGeom>
          <a:solidFill>
            <a:srgbClr val="D1D5DB"/>
          </a:solidFill>
          <a:ln w="12700">
            <a:solidFill>
              <a:srgbClr val="D1D5DB"/>
            </a:solidFill>
            <a:prstDash val="solid"/>
          </a:ln>
        </p:spPr>
      </p:sp>
      <p:sp>
        <p:nvSpPr>
          <p:cNvPr id="30" name="Text 28"/>
          <p:cNvSpPr/>
          <p:nvPr/>
        </p:nvSpPr>
        <p:spPr>
          <a:xfrm>
            <a:off x="594360" y="444398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Mali Empire was economically dependent on European trade partners for its wealth.</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3-5 sentences per part. Back every claim with specific evidence -- names, dates, examples.</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"African states in the period 1200-1450 were not isolated from global networks but were deeply integrated into interregional trade systems that shaped their political development, cultural forms, and religious identities."</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7B5A2E"/>
          </a:solidFill>
          <a:ln w="12700">
            <a:solidFill>
              <a:srgbClr val="7B5A2E"/>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an African state in this period was connected to a major interregional trade network.</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7B5A2E"/>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Mali controls trans-Saharan gold-salt trade / Kilwa controls Indian Ocean gold trade from Zimbabwe / Ethiopian Christian kingdom traded via Red Sea / Swahili cities export ivory and enslaved people to Indian Ocean</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2A5298"/>
          </a:solidFill>
          <a:ln w="12700">
            <a:solidFill>
              <a:srgbClr val="2A5298"/>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trade connections shaped the political or cultural development of an African state.</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Trans-Saharan trade brought Islam to Mali rulers / Mansa Musa's hajj connected Mali to wider Islamic world / Gold wealth enabled Mansa Musa to build mosques and bring scholars / Kilwa's Islamic culture reflects Indian Ocean merchant influence</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1B5E3B"/>
          </a:solidFill>
          <a:ln w="12700">
            <a:solidFill>
              <a:srgbClr val="1B5E3B"/>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African example that CHALLENGES the argument that all African states were deeply connected to global networks.</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Great Zimbabwe: built and flourished without Islamic or external cultural influence / Stateless societies in sub-Saharan Africa had little direct contact with trans-Saharan or Indian Ocean networks / Ethiopia maintained Christian identity separate from Islamic world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4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Ch.4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stronger comparative essays and CCOT arguments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Ancient Ghana Empire (predecessor to Mali) controlled gold trade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Aksumite kingdom (Ethiopia) was one of the ancient world's great powers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Indian Ocean trade routes between Arabia and East Africa predate 1200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Bantu migrations spread agriculture and iron-working across sub-Saharan Africa</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Songhai Empire rises after Mali's decline (after 1450)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Portuguese arrive on West African coast (1400s) -- seeking gold sources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Atlantic slave trade begins to transform West African societies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East African Swahili coast becomes target of Portuguese in Indian Ocean (Unit 3)</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2: Dar al-Islam -- Swahili Coast is eastern end; trans-Saharan connects to Islamic world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3: Swahili Coast and Malacca -- both Islamic entrepots on major ocean trade routes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Chinese porcelain found in Swahili ruins -- same Indian Ocean trade connecting all regions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5: Mali vs. Aztec tribute systems -- compare how empires extract wealth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State Building in Africa (1200-1450)</dc:title>
  <dc:subject>PptxGenJS Presentation</dc:subject>
  <dc:creator>PptxGenJS</dc:creator>
  <cp:lastModifiedBy>PptxGenJS</cp:lastModifiedBy>
  <cp:revision>1</cp:revision>
  <dcterms:created xsi:type="dcterms:W3CDTF">2026-05-10T12:39:29Z</dcterms:created>
  <dcterms:modified xsi:type="dcterms:W3CDTF">2026-05-10T12:39:29Z</dcterms:modified>
</cp:coreProperties>
</file>