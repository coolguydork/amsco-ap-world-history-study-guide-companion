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1A"/>
        </a:solidFill>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C8853A"/>
          </a:solidFill>
          <a:ln w="12700">
            <a:solidFill>
              <a:srgbClr val="C8853A"/>
            </a:solidFill>
            <a:prstDash val="solid"/>
          </a:ln>
        </p:spPr>
      </p:sp>
      <p:sp>
        <p:nvSpPr>
          <p:cNvPr id="3" name="Shape 1"/>
          <p:cNvSpPr/>
          <p:nvPr/>
        </p:nvSpPr>
        <p:spPr>
          <a:xfrm>
            <a:off x="502920" y="0"/>
            <a:ext cx="73152" cy="5143500"/>
          </a:xfrm>
          <a:prstGeom prst="rect">
            <a:avLst/>
          </a:prstGeom>
          <a:solidFill>
            <a:srgbClr val="E8C97A"/>
          </a:solidFill>
          <a:ln w="12700">
            <a:solidFill>
              <a:srgbClr val="E8C97A"/>
            </a:solidFill>
            <a:prstDash val="solid"/>
          </a:ln>
        </p:spPr>
      </p:sp>
      <p:sp>
        <p:nvSpPr>
          <p:cNvPr id="4" name="Shape 2"/>
          <p:cNvSpPr/>
          <p:nvPr/>
        </p:nvSpPr>
        <p:spPr>
          <a:xfrm>
            <a:off x="6400800" y="-1371600"/>
            <a:ext cx="4572000" cy="4572000"/>
          </a:xfrm>
          <a:prstGeom prst="ellipse">
            <a:avLst/>
          </a:prstGeom>
          <a:solidFill>
            <a:srgbClr val="122010"/>
          </a:solidFill>
          <a:ln w="12700">
            <a:solidFill>
              <a:srgbClr val="122010"/>
            </a:solidFill>
            <a:prstDash val="solid"/>
          </a:ln>
        </p:spPr>
      </p:sp>
      <p:sp>
        <p:nvSpPr>
          <p:cNvPr id="5" name="Shape 3"/>
          <p:cNvSpPr/>
          <p:nvPr/>
        </p:nvSpPr>
        <p:spPr>
          <a:xfrm>
            <a:off x="7132320" y="3200400"/>
            <a:ext cx="3200400" cy="3200400"/>
          </a:xfrm>
          <a:prstGeom prst="ellipse">
            <a:avLst/>
          </a:prstGeom>
          <a:solidFill>
            <a:srgbClr val="081408"/>
          </a:solidFill>
          <a:ln w="12700">
            <a:solidFill>
              <a:srgbClr val="081408"/>
            </a:solidFill>
            <a:prstDash val="solid"/>
          </a:ln>
        </p:spPr>
      </p:sp>
      <p:sp>
        <p:nvSpPr>
          <p:cNvPr id="6" name="Text 4"/>
          <p:cNvSpPr/>
          <p:nvPr/>
        </p:nvSpPr>
        <p:spPr>
          <a:xfrm>
            <a:off x="777240" y="822960"/>
            <a:ext cx="8046720" cy="292608"/>
          </a:xfrm>
          <a:prstGeom prst="rect">
            <a:avLst/>
          </a:prstGeom>
          <a:noFill/>
          <a:ln/>
        </p:spPr>
        <p:txBody>
          <a:bodyPr wrap="square" lIns="0" tIns="0" rIns="0" bIns="0" rtlCol="0" anchor="ctr"/>
          <a:lstStyle/>
          <a:p>
            <a:pPr indent="0" marL="0">
              <a:buNone/>
            </a:pPr>
            <a:r>
              <a:rPr lang="en-US" sz="1000" spc="200" kern="0" dirty="0">
                <a:solidFill>
                  <a:srgbClr val="E8C97A"/>
                </a:solidFill>
                <a:latin typeface="Trebuchet MS" pitchFamily="34" charset="0"/>
                <a:ea typeface="Trebuchet MS" pitchFamily="34" charset="-122"/>
                <a:cs typeface="Trebuchet MS" pitchFamily="34" charset="-120"/>
              </a:rPr>
              <a:t>AP WORLD HISTORY: MODERN  ·  UNIT 1  ·  PERIOD 1</a:t>
            </a:r>
            <a:endParaRPr lang="en-US" sz="1000" dirty="0"/>
          </a:p>
        </p:txBody>
      </p:sp>
      <p:sp>
        <p:nvSpPr>
          <p:cNvPr id="7" name="Text 5"/>
          <p:cNvSpPr/>
          <p:nvPr/>
        </p:nvSpPr>
        <p:spPr>
          <a:xfrm>
            <a:off x="777240" y="1161288"/>
            <a:ext cx="7315200" cy="365760"/>
          </a:xfrm>
          <a:prstGeom prst="rect">
            <a:avLst/>
          </a:prstGeom>
          <a:noFill/>
          <a:ln/>
        </p:spPr>
        <p:txBody>
          <a:bodyPr wrap="square" lIns="0" tIns="0" rIns="0" bIns="0" rtlCol="0" anchor="ctr"/>
          <a:lstStyle/>
          <a:p>
            <a:pPr indent="0" marL="0">
              <a:buNone/>
            </a:pPr>
            <a:r>
              <a:rPr lang="en-US" sz="1300" b="1" spc="400" kern="0" dirty="0">
                <a:solidFill>
                  <a:srgbClr val="E8C97A"/>
                </a:solidFill>
                <a:latin typeface="Trebuchet MS" pitchFamily="34" charset="0"/>
                <a:ea typeface="Trebuchet MS" pitchFamily="34" charset="-122"/>
                <a:cs typeface="Trebuchet MS" pitchFamily="34" charset="-120"/>
              </a:rPr>
              <a:t>CHAPTER 3</a:t>
            </a:r>
            <a:endParaRPr lang="en-US" sz="1300" dirty="0"/>
          </a:p>
        </p:txBody>
      </p:sp>
      <p:sp>
        <p:nvSpPr>
          <p:cNvPr id="8" name="Text 6"/>
          <p:cNvSpPr/>
          <p:nvPr/>
        </p:nvSpPr>
        <p:spPr>
          <a:xfrm>
            <a:off x="777240" y="1572768"/>
            <a:ext cx="5943600" cy="160020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South &amp; Southeast</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Asia</a:t>
            </a:r>
            <a:endParaRPr lang="en-US" sz="4000" dirty="0"/>
          </a:p>
        </p:txBody>
      </p:sp>
      <p:sp>
        <p:nvSpPr>
          <p:cNvPr id="9" name="Text 7"/>
          <p:cNvSpPr/>
          <p:nvPr/>
        </p:nvSpPr>
        <p:spPr>
          <a:xfrm>
            <a:off x="777240" y="3246120"/>
            <a:ext cx="7772400" cy="365760"/>
          </a:xfrm>
          <a:prstGeom prst="rect">
            <a:avLst/>
          </a:prstGeom>
          <a:noFill/>
          <a:ln/>
        </p:spPr>
        <p:txBody>
          <a:bodyPr wrap="square" lIns="0" tIns="0" rIns="0" bIns="0" rtlCol="0" anchor="ctr"/>
          <a:lstStyle/>
          <a:p>
            <a:pPr indent="0" marL="0">
              <a:buNone/>
            </a:pPr>
            <a:r>
              <a:rPr lang="en-US" sz="1500" i="1" dirty="0">
                <a:solidFill>
                  <a:srgbClr val="E8C97A"/>
                </a:solidFill>
                <a:latin typeface="Calibri" pitchFamily="34" charset="0"/>
                <a:ea typeface="Calibri" pitchFamily="34" charset="-122"/>
                <a:cs typeface="Calibri" pitchFamily="34" charset="-120"/>
              </a:rPr>
              <a:t>1200-1450  |  Delhi Sultanate · Khmer Empire · Indian Ocean Trade</a:t>
            </a:r>
            <a:endParaRPr lang="en-US" sz="1500" dirty="0"/>
          </a:p>
        </p:txBody>
      </p:sp>
      <p:sp>
        <p:nvSpPr>
          <p:cNvPr id="10" name="Shape 8"/>
          <p:cNvSpPr/>
          <p:nvPr/>
        </p:nvSpPr>
        <p:spPr>
          <a:xfrm>
            <a:off x="777240" y="3703320"/>
            <a:ext cx="7315200" cy="0"/>
          </a:xfrm>
          <a:prstGeom prst="line">
            <a:avLst/>
          </a:prstGeom>
          <a:noFill/>
          <a:ln w="19050">
            <a:solidFill>
              <a:srgbClr val="C8853A"/>
            </a:solidFill>
            <a:prstDash val="solid"/>
          </a:ln>
        </p:spPr>
      </p:sp>
      <p:sp>
        <p:nvSpPr>
          <p:cNvPr id="11" name="Text 9"/>
          <p:cNvSpPr/>
          <p:nvPr/>
        </p:nvSpPr>
        <p:spPr>
          <a:xfrm>
            <a:off x="777240" y="3822192"/>
            <a:ext cx="8046720" cy="274320"/>
          </a:xfrm>
          <a:prstGeom prst="rect">
            <a:avLst/>
          </a:prstGeom>
          <a:noFill/>
          <a:ln/>
        </p:spPr>
        <p:txBody>
          <a:bodyPr wrap="square" lIns="0" tIns="0" rIns="0" bIns="0" rtlCol="0" anchor="ctr"/>
          <a:lstStyle/>
          <a:p>
            <a:pPr indent="0" marL="0">
              <a:buNone/>
            </a:pPr>
            <a:r>
              <a:rPr lang="en-US" sz="1100" i="1" dirty="0">
                <a:solidFill>
                  <a:srgbClr val="80A890"/>
                </a:solidFill>
                <a:latin typeface="Calibri" pitchFamily="34" charset="0"/>
                <a:ea typeface="Calibri" pitchFamily="34" charset="-122"/>
                <a:cs typeface="Calibri" pitchFamily="34" charset="-120"/>
              </a:rPr>
              <a:t>UNIT 1: THE GLOBAL TAPESTRY  ·  India · Cambodia · Java · Malay Peninsula</a:t>
            </a:r>
            <a:endParaRPr lang="en-US" sz="1100" dirty="0"/>
          </a:p>
        </p:txBody>
      </p:sp>
      <p:sp>
        <p:nvSpPr>
          <p:cNvPr id="12" name="Shape 10"/>
          <p:cNvSpPr/>
          <p:nvPr/>
        </p:nvSpPr>
        <p:spPr>
          <a:xfrm>
            <a:off x="777240" y="4187952"/>
            <a:ext cx="1463040" cy="347472"/>
          </a:xfrm>
          <a:prstGeom prst="rect">
            <a:avLst/>
          </a:prstGeom>
          <a:solidFill>
            <a:srgbClr val="1A3D28"/>
          </a:solidFill>
          <a:ln w="12700">
            <a:solidFill>
              <a:srgbClr val="C8853A"/>
            </a:solidFill>
            <a:prstDash val="solid"/>
          </a:ln>
        </p:spPr>
      </p:sp>
      <p:sp>
        <p:nvSpPr>
          <p:cNvPr id="13" name="Text 11"/>
          <p:cNvSpPr/>
          <p:nvPr/>
        </p:nvSpPr>
        <p:spPr>
          <a:xfrm>
            <a:off x="777240"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Delhi Sultanate</a:t>
            </a:r>
            <a:endParaRPr lang="en-US" sz="850" dirty="0"/>
          </a:p>
        </p:txBody>
      </p:sp>
      <p:sp>
        <p:nvSpPr>
          <p:cNvPr id="14" name="Shape 12"/>
          <p:cNvSpPr/>
          <p:nvPr/>
        </p:nvSpPr>
        <p:spPr>
          <a:xfrm>
            <a:off x="2359152" y="4187952"/>
            <a:ext cx="1463040" cy="347472"/>
          </a:xfrm>
          <a:prstGeom prst="rect">
            <a:avLst/>
          </a:prstGeom>
          <a:solidFill>
            <a:srgbClr val="1A3D28"/>
          </a:solidFill>
          <a:ln w="12700">
            <a:solidFill>
              <a:srgbClr val="C8853A"/>
            </a:solidFill>
            <a:prstDash val="solid"/>
          </a:ln>
        </p:spPr>
      </p:sp>
      <p:sp>
        <p:nvSpPr>
          <p:cNvPr id="15" name="Text 13"/>
          <p:cNvSpPr/>
          <p:nvPr/>
        </p:nvSpPr>
        <p:spPr>
          <a:xfrm>
            <a:off x="2359152"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Hinduism</a:t>
            </a:r>
            <a:endParaRPr lang="en-US" sz="850" dirty="0"/>
          </a:p>
        </p:txBody>
      </p:sp>
      <p:sp>
        <p:nvSpPr>
          <p:cNvPr id="16" name="Shape 14"/>
          <p:cNvSpPr/>
          <p:nvPr/>
        </p:nvSpPr>
        <p:spPr>
          <a:xfrm>
            <a:off x="3941064" y="4187952"/>
            <a:ext cx="1463040" cy="347472"/>
          </a:xfrm>
          <a:prstGeom prst="rect">
            <a:avLst/>
          </a:prstGeom>
          <a:solidFill>
            <a:srgbClr val="1A3D28"/>
          </a:solidFill>
          <a:ln w="12700">
            <a:solidFill>
              <a:srgbClr val="C8853A"/>
            </a:solidFill>
            <a:prstDash val="solid"/>
          </a:ln>
        </p:spPr>
      </p:sp>
      <p:sp>
        <p:nvSpPr>
          <p:cNvPr id="17" name="Text 15"/>
          <p:cNvSpPr/>
          <p:nvPr/>
        </p:nvSpPr>
        <p:spPr>
          <a:xfrm>
            <a:off x="3941064"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Khmer Empire</a:t>
            </a:r>
            <a:endParaRPr lang="en-US" sz="850" dirty="0"/>
          </a:p>
        </p:txBody>
      </p:sp>
      <p:sp>
        <p:nvSpPr>
          <p:cNvPr id="18" name="Shape 16"/>
          <p:cNvSpPr/>
          <p:nvPr/>
        </p:nvSpPr>
        <p:spPr>
          <a:xfrm>
            <a:off x="5522976" y="4187952"/>
            <a:ext cx="1463040" cy="347472"/>
          </a:xfrm>
          <a:prstGeom prst="rect">
            <a:avLst/>
          </a:prstGeom>
          <a:solidFill>
            <a:srgbClr val="1A3D28"/>
          </a:solidFill>
          <a:ln w="12700">
            <a:solidFill>
              <a:srgbClr val="C8853A"/>
            </a:solidFill>
            <a:prstDash val="solid"/>
          </a:ln>
        </p:spPr>
      </p:sp>
      <p:sp>
        <p:nvSpPr>
          <p:cNvPr id="19" name="Text 17"/>
          <p:cNvSpPr/>
          <p:nvPr/>
        </p:nvSpPr>
        <p:spPr>
          <a:xfrm>
            <a:off x="5522976"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Indian Ocean</a:t>
            </a:r>
            <a:endParaRPr lang="en-US" sz="850" dirty="0"/>
          </a:p>
        </p:txBody>
      </p:sp>
      <p:sp>
        <p:nvSpPr>
          <p:cNvPr id="20" name="Shape 18"/>
          <p:cNvSpPr/>
          <p:nvPr/>
        </p:nvSpPr>
        <p:spPr>
          <a:xfrm>
            <a:off x="7104888" y="4187952"/>
            <a:ext cx="1463040" cy="347472"/>
          </a:xfrm>
          <a:prstGeom prst="rect">
            <a:avLst/>
          </a:prstGeom>
          <a:solidFill>
            <a:srgbClr val="1A3D28"/>
          </a:solidFill>
          <a:ln w="12700">
            <a:solidFill>
              <a:srgbClr val="C8853A"/>
            </a:solidFill>
            <a:prstDash val="solid"/>
          </a:ln>
        </p:spPr>
      </p:sp>
      <p:sp>
        <p:nvSpPr>
          <p:cNvPr id="21" name="Text 19"/>
          <p:cNvSpPr/>
          <p:nvPr/>
        </p:nvSpPr>
        <p:spPr>
          <a:xfrm>
            <a:off x="7104888" y="4187952"/>
            <a:ext cx="1463040" cy="34747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Islamization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Big Picture &amp; Learning Objectives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Shape 6"/>
          <p:cNvSpPr/>
          <p:nvPr/>
        </p:nvSpPr>
        <p:spPr>
          <a:xfrm>
            <a:off x="182880" y="749808"/>
            <a:ext cx="8778240" cy="1188720"/>
          </a:xfrm>
          <a:prstGeom prst="rect">
            <a:avLst/>
          </a:prstGeom>
          <a:solidFill>
            <a:srgbClr val="1B5E3B"/>
          </a:solidFill>
          <a:ln w="12700">
            <a:solidFill>
              <a:srgbClr val="1B5E3B"/>
            </a:solidFill>
            <a:prstDash val="solid"/>
          </a:ln>
        </p:spPr>
      </p:sp>
      <p:sp>
        <p:nvSpPr>
          <p:cNvPr id="9" name="Text 7"/>
          <p:cNvSpPr/>
          <p:nvPr/>
        </p:nvSpPr>
        <p:spPr>
          <a:xfrm>
            <a:off x="347472" y="795528"/>
            <a:ext cx="1828800" cy="256032"/>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BIG PICTURE</a:t>
            </a:r>
            <a:endParaRPr lang="en-US" sz="900" dirty="0"/>
          </a:p>
        </p:txBody>
      </p:sp>
      <p:sp>
        <p:nvSpPr>
          <p:cNvPr id="10" name="Text 8"/>
          <p:cNvSpPr/>
          <p:nvPr/>
        </p:nvSpPr>
        <p:spPr>
          <a:xfrm>
            <a:off x="347472" y="1051560"/>
            <a:ext cx="8412480" cy="80467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South and Southeast Asia were the world's most commercially vital crossroads in 1200-1450, sitting at the center of Indian Ocean trade. India (under the Delhi Sultanate) experienced complex Hindu-Muslim interaction. Southeast Asian kingdoms (Khmer, Majapahit) built empires on wet-rice agriculture and trade. Islam began spreading through Southeast Asian ports via merchants and Sufi missionaries -- Malacca's conversion (~1414) accelerated Islamization across the region.</a:t>
            </a:r>
            <a:endParaRPr lang="en-US" sz="1050" dirty="0"/>
          </a:p>
        </p:txBody>
      </p:sp>
      <p:sp>
        <p:nvSpPr>
          <p:cNvPr id="11" name="Text 9"/>
          <p:cNvSpPr/>
          <p:nvPr/>
        </p:nvSpPr>
        <p:spPr>
          <a:xfrm>
            <a:off x="182880" y="2075688"/>
            <a:ext cx="43891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LEARNING OBJECTIVES</a:t>
            </a:r>
            <a:endParaRPr lang="en-US" sz="1000" dirty="0"/>
          </a:p>
        </p:txBody>
      </p:sp>
      <p:sp>
        <p:nvSpPr>
          <p:cNvPr id="12" name="Text 10"/>
          <p:cNvSpPr/>
          <p:nvPr/>
        </p:nvSpPr>
        <p:spPr>
          <a:xfrm>
            <a:off x="182880" y="2395728"/>
            <a:ext cx="5074920" cy="2304288"/>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how South Asian states developed and changed under the Delhi Sultanate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Analyze the diversity of political and cultural forms in Southeast Asian states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Explain the role of the Indian Ocean trade network in connecting these regions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Evaluate the nature of Hindu-Muslim interaction in the Delhi Sultanate period</a:t>
            </a:r>
            <a:endParaRPr lang="en-US" sz="1050" dirty="0"/>
          </a:p>
        </p:txBody>
      </p:sp>
      <p:sp>
        <p:nvSpPr>
          <p:cNvPr id="13" name="Shape 11"/>
          <p:cNvSpPr/>
          <p:nvPr/>
        </p:nvSpPr>
        <p:spPr>
          <a:xfrm>
            <a:off x="5394960" y="2075688"/>
            <a:ext cx="0" cy="2624328"/>
          </a:xfrm>
          <a:prstGeom prst="line">
            <a:avLst/>
          </a:prstGeom>
          <a:noFill/>
          <a:ln w="12700">
            <a:solidFill>
              <a:srgbClr val="CCCCCC"/>
            </a:solidFill>
            <a:prstDash val="solid"/>
          </a:ln>
        </p:spPr>
      </p:sp>
      <p:sp>
        <p:nvSpPr>
          <p:cNvPr id="14" name="Text 12"/>
          <p:cNvSpPr/>
          <p:nvPr/>
        </p:nvSpPr>
        <p:spPr>
          <a:xfrm>
            <a:off x="5532120" y="2075688"/>
            <a:ext cx="3474720" cy="274320"/>
          </a:xfrm>
          <a:prstGeom prst="rect">
            <a:avLst/>
          </a:prstGeom>
          <a:noFill/>
          <a:ln/>
        </p:spPr>
        <p:txBody>
          <a:bodyPr wrap="square" lIns="0" tIns="0" rIns="0" bIns="0" rtlCol="0" anchor="ctr"/>
          <a:lstStyle/>
          <a:p>
            <a:pPr indent="0" marL="0">
              <a:buNone/>
            </a:pPr>
            <a:r>
              <a:rPr lang="en-US" sz="1000" b="1" spc="100" kern="0" dirty="0">
                <a:solidFill>
                  <a:srgbClr val="1B3A6B"/>
                </a:solidFill>
                <a:latin typeface="Trebuchet MS" pitchFamily="34" charset="0"/>
                <a:ea typeface="Trebuchet MS" pitchFamily="34" charset="-122"/>
                <a:cs typeface="Trebuchet MS" pitchFamily="34" charset="-120"/>
              </a:rPr>
              <a:t>AP KEY CONCEPTS</a:t>
            </a:r>
            <a:endParaRPr lang="en-US" sz="1000" dirty="0"/>
          </a:p>
        </p:txBody>
      </p:sp>
      <p:sp>
        <p:nvSpPr>
          <p:cNvPr id="15" name="Text 13"/>
          <p:cNvSpPr/>
          <p:nvPr/>
        </p:nvSpPr>
        <p:spPr>
          <a:xfrm>
            <a:off x="5532120" y="2395728"/>
            <a:ext cx="3429000" cy="2304288"/>
          </a:xfrm>
          <a:prstGeom prst="rect">
            <a:avLst/>
          </a:prstGeom>
          <a:noFill/>
          <a:ln/>
        </p:spPr>
        <p:txBody>
          <a:bodyPr wrap="square" lIns="0" tIns="0" rIns="0" bIns="0" rtlCol="0" anchor="t"/>
          <a:lstStyle/>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 -- Islam and Hinduism/Buddhism shaped South and SE Asian states</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KC-1.3.II -- Indian Ocean trade connected South/SE Asia to Afro-Eurasia</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KC-1.2.II -- States used religious ideology to legitimize political authority</a:t>
            </a:r>
            <a:endParaRPr lang="en-US" sz="1000" dirty="0"/>
          </a:p>
          <a:p>
            <a:pPr marL="342900" indent="-342900">
              <a:buSzPct val="100000"/>
              <a:buChar char="•"/>
            </a:pPr>
            <a:r>
              <a:rPr lang="en-US" sz="1000" dirty="0">
                <a:solidFill>
                  <a:srgbClr val="374151"/>
                </a:solidFill>
                <a:latin typeface="Calibri" pitchFamily="34" charset="0"/>
                <a:ea typeface="Calibri" pitchFamily="34" charset="-122"/>
                <a:cs typeface="Calibri" pitchFamily="34" charset="-120"/>
              </a:rPr>
              <a:t>KC-2.3.II -- Cross-cultural trade produced new forms of cultural synthesis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Two Regions: South Asia vs. Southeast Asia</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Both regions centered on the Indian Ocean -- but very different political and cultural forms</a:t>
            </a:r>
            <a:endParaRPr lang="en-US" sz="1000" dirty="0"/>
          </a:p>
        </p:txBody>
      </p:sp>
      <p:sp>
        <p:nvSpPr>
          <p:cNvPr id="9" name="Shape 7"/>
          <p:cNvSpPr/>
          <p:nvPr/>
        </p:nvSpPr>
        <p:spPr>
          <a:xfrm>
            <a:off x="182880" y="1005840"/>
            <a:ext cx="4251960" cy="475488"/>
          </a:xfrm>
          <a:prstGeom prst="rect">
            <a:avLst/>
          </a:prstGeom>
          <a:solidFill>
            <a:srgbClr val="B5432A"/>
          </a:solidFill>
          <a:ln w="12700">
            <a:solidFill>
              <a:srgbClr val="B5432A"/>
            </a:solidFill>
            <a:prstDash val="solid"/>
          </a:ln>
        </p:spPr>
      </p:sp>
      <p:sp>
        <p:nvSpPr>
          <p:cNvPr id="10" name="Text 8"/>
          <p:cNvSpPr/>
          <p:nvPr/>
        </p:nvSpPr>
        <p:spPr>
          <a:xfrm>
            <a:off x="274320" y="1005840"/>
            <a:ext cx="4114800" cy="47548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SOUTH ASIA (India)</a:t>
            </a:r>
            <a:endParaRPr lang="en-US" sz="1300" dirty="0"/>
          </a:p>
        </p:txBody>
      </p:sp>
      <p:sp>
        <p:nvSpPr>
          <p:cNvPr id="11" name="Shape 9"/>
          <p:cNvSpPr/>
          <p:nvPr/>
        </p:nvSpPr>
        <p:spPr>
          <a:xfrm>
            <a:off x="182880" y="1481328"/>
            <a:ext cx="4251960" cy="3236976"/>
          </a:xfrm>
          <a:prstGeom prst="rect">
            <a:avLst/>
          </a:prstGeom>
          <a:solidFill>
            <a:srgbClr val="FAE8E4"/>
          </a:solidFill>
          <a:ln w="12700">
            <a:solidFill>
              <a:srgbClr val="B5432A"/>
            </a:solidFill>
            <a:prstDash val="solid"/>
          </a:ln>
        </p:spPr>
      </p:sp>
      <p:sp>
        <p:nvSpPr>
          <p:cNvPr id="12" name="Text 10"/>
          <p:cNvSpPr/>
          <p:nvPr/>
        </p:nvSpPr>
        <p:spPr>
          <a:xfrm>
            <a:off x="292608" y="1554480"/>
            <a:ext cx="4041648" cy="30906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Delhi Sultanate (1206-1526): Muslim rule over Hindu majority</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First major Islamic political power in South Asia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Never fully conquered southern India -- Vijayanagara Empire resisted</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Hindu-Muslim cultural synthesis: Bhakti movement, Indo-Islamic architecture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Persian became the language of court and administration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Caste system persisted despite (or beneath) Muslim governance</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Alauddin Khalji repelled Mongol invasions -- India spared Mongol devastation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Sufi missionaries key to Islamic spread among Hindu population</a:t>
            </a:r>
            <a:endParaRPr lang="en-US" sz="950" dirty="0"/>
          </a:p>
        </p:txBody>
      </p:sp>
      <p:sp>
        <p:nvSpPr>
          <p:cNvPr id="13" name="Shape 11"/>
          <p:cNvSpPr/>
          <p:nvPr/>
        </p:nvSpPr>
        <p:spPr>
          <a:xfrm>
            <a:off x="4709160" y="1005840"/>
            <a:ext cx="4251960" cy="475488"/>
          </a:xfrm>
          <a:prstGeom prst="rect">
            <a:avLst/>
          </a:prstGeom>
          <a:solidFill>
            <a:srgbClr val="1B5E3B"/>
          </a:solidFill>
          <a:ln w="12700">
            <a:solidFill>
              <a:srgbClr val="1B5E3B"/>
            </a:solidFill>
            <a:prstDash val="solid"/>
          </a:ln>
        </p:spPr>
      </p:sp>
      <p:sp>
        <p:nvSpPr>
          <p:cNvPr id="14" name="Text 12"/>
          <p:cNvSpPr/>
          <p:nvPr/>
        </p:nvSpPr>
        <p:spPr>
          <a:xfrm>
            <a:off x="4800600" y="1005840"/>
            <a:ext cx="4114800" cy="475488"/>
          </a:xfrm>
          <a:prstGeom prst="rect">
            <a:avLst/>
          </a:prstGeom>
          <a:noFill/>
          <a:ln/>
        </p:spPr>
        <p:txBody>
          <a:bodyPr wrap="square" lIns="0" tIns="0" rIns="0" bIns="0"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SOUTHEAST ASIA</a:t>
            </a:r>
            <a:endParaRPr lang="en-US" sz="1300" dirty="0"/>
          </a:p>
        </p:txBody>
      </p:sp>
      <p:sp>
        <p:nvSpPr>
          <p:cNvPr id="15" name="Shape 13"/>
          <p:cNvSpPr/>
          <p:nvPr/>
        </p:nvSpPr>
        <p:spPr>
          <a:xfrm>
            <a:off x="4709160" y="1481328"/>
            <a:ext cx="4251960" cy="3236976"/>
          </a:xfrm>
          <a:prstGeom prst="rect">
            <a:avLst/>
          </a:prstGeom>
          <a:solidFill>
            <a:srgbClr val="E8F5EE"/>
          </a:solidFill>
          <a:ln w="12700">
            <a:solidFill>
              <a:srgbClr val="1B5E3B"/>
            </a:solidFill>
            <a:prstDash val="solid"/>
          </a:ln>
        </p:spPr>
      </p:sp>
      <p:sp>
        <p:nvSpPr>
          <p:cNvPr id="16" name="Text 14"/>
          <p:cNvSpPr/>
          <p:nvPr/>
        </p:nvSpPr>
        <p:spPr>
          <a:xfrm>
            <a:off x="4818888" y="1554480"/>
            <a:ext cx="4041648" cy="3090672"/>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Khmer Empire (802-1431): Hindu-Buddhist mainland kingdom at Angkor</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Majapahit (1293-1527): Hindu-Buddhist maritime empire based in Java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Mandala state model: power radiates from center, not fixed borders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Wet-rice agriculture funded mainland kingdoms (Khmer, Pagan, Dai Viet)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Indian Ocean trade funded maritime states (Majapahit, Malacca)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Malacca (~1400): First major Islamic port city in SE Asia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Islam spreads via trade networks -- not conquest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Women had higher social status than in South or East Asia</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South Asia -- Religion, Caste &amp; Synthesis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India's Hindu-Muslim interaction produced lasting cultural synthesis -- know it well for the AP exam</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B5432A"/>
          </a:solidFill>
          <a:ln w="12700">
            <a:solidFill>
              <a:srgbClr val="B5432A"/>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Delhi Sultanate</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Series of Muslim dynasties (1206-1526) ruling northern India; introduced Persian-Islamic culture and governance.</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Precursor to the Mughal Empire. AP exams ask about Hindu-Muslim cultural interaction and the limits of its power.</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B5432A"/>
          </a:solidFill>
          <a:ln w="12700">
            <a:solidFill>
              <a:srgbClr val="B5432A"/>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Hinduism &amp; Caste System</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Dominant religion of India; caste (varna/jati) divided society into hereditary occupational groups (Brahmin, Kshatriya, Vaishya, Shudra).</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The caste system persisted under Muslim rule -- one of history's most durable social structures.</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B5432A"/>
          </a:solidFill>
          <a:ln w="12700">
            <a:solidFill>
              <a:srgbClr val="B5432A"/>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Bhakti Movement</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Hindu devotional movement emphasizing personal devotion to a deity without priestly mediation; included Muslim-influenced poet-saints like Kabir.</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Represents Hindu-Islamic cultural synthesis; challenged caste hierarchy; influenced Sikhism.</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B5432A"/>
          </a:solidFill>
          <a:ln w="12700">
            <a:solidFill>
              <a:srgbClr val="B5432A"/>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Vijayanagara Empire</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Hindu empire (1336-1646) in southern India that successfully resisted Delhi Sultanate expansion; a center of Hindu culture.</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Shows limits of Muslim power in India -- significant portions of South Asia remained Hindu-ruled throughout.</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B5432A"/>
          </a:solidFill>
          <a:ln w="12700">
            <a:solidFill>
              <a:srgbClr val="B5432A"/>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Indianization</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Process by which South Asian political/cultural concepts (Hindu kingship, Sanskrit, Buddhism) spread to Southeast Asia through trade, not conquest.</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Key AP concept: cultural diffusion without military force. Compare with Sinification in East Asia.</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B5432A"/>
          </a:solidFill>
          <a:ln w="12700">
            <a:solidFill>
              <a:srgbClr val="B5432A"/>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Sufism in India</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Sufi Islamic mysticism was particularly effective in India because its personal devotion resonated with Hindu bhakti traditions.</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Sufi missionaries and shrines became sites of Hindu-Muslim cultural exchange -- explains Islamic spread in India.</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Terms: Southeast Asia -- Kingdoms, Trade &amp; Religion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Southeast Asia is underemphasized but heavily tested on the AP exam -- know these terms</a:t>
            </a:r>
            <a:endParaRPr lang="en-US" sz="1000" dirty="0"/>
          </a:p>
        </p:txBody>
      </p:sp>
      <p:sp>
        <p:nvSpPr>
          <p:cNvPr id="9" name="Shape 7"/>
          <p:cNvSpPr/>
          <p:nvPr/>
        </p:nvSpPr>
        <p:spPr>
          <a:xfrm>
            <a:off x="182880"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05840"/>
            <a:ext cx="64008" cy="1554480"/>
          </a:xfrm>
          <a:prstGeom prst="rect">
            <a:avLst/>
          </a:prstGeom>
          <a:solidFill>
            <a:srgbClr val="1B5E3B"/>
          </a:solidFill>
          <a:ln w="12700">
            <a:solidFill>
              <a:srgbClr val="1B5E3B"/>
            </a:solidFill>
            <a:prstDash val="solid"/>
          </a:ln>
        </p:spPr>
      </p:sp>
      <p:sp>
        <p:nvSpPr>
          <p:cNvPr id="11" name="Text 9"/>
          <p:cNvSpPr/>
          <p:nvPr/>
        </p:nvSpPr>
        <p:spPr>
          <a:xfrm>
            <a:off x="301752"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Khmer Empire</a:t>
            </a:r>
            <a:endParaRPr lang="en-US" sz="1100" dirty="0"/>
          </a:p>
        </p:txBody>
      </p:sp>
      <p:sp>
        <p:nvSpPr>
          <p:cNvPr id="12" name="Text 10"/>
          <p:cNvSpPr/>
          <p:nvPr/>
        </p:nvSpPr>
        <p:spPr>
          <a:xfrm>
            <a:off x="301752"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Powerful Hindu-Buddhist kingdom (802-1431) in present-day Cambodia; built Angkor Wat and a vast hydraulic system.</a:t>
            </a:r>
            <a:endParaRPr lang="en-US" sz="950" dirty="0"/>
          </a:p>
        </p:txBody>
      </p:sp>
      <p:sp>
        <p:nvSpPr>
          <p:cNvPr id="13" name="Shape 11"/>
          <p:cNvSpPr/>
          <p:nvPr/>
        </p:nvSpPr>
        <p:spPr>
          <a:xfrm>
            <a:off x="182880" y="2194560"/>
            <a:ext cx="2834640" cy="365760"/>
          </a:xfrm>
          <a:prstGeom prst="rect">
            <a:avLst/>
          </a:prstGeom>
          <a:solidFill>
            <a:srgbClr val="F0F4FF"/>
          </a:solidFill>
          <a:ln w="12700">
            <a:solidFill>
              <a:srgbClr val="F0F4FF"/>
            </a:solidFill>
            <a:prstDash val="solid"/>
          </a:ln>
        </p:spPr>
      </p:sp>
      <p:sp>
        <p:nvSpPr>
          <p:cNvPr id="14" name="Text 12"/>
          <p:cNvSpPr/>
          <p:nvPr/>
        </p:nvSpPr>
        <p:spPr>
          <a:xfrm>
            <a:off x="301752"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Peak of Indian cultural influence in SE Asia. Its decline (climate, Thai pressure, trade shift) is a key causation question.</a:t>
            </a:r>
            <a:endParaRPr lang="en-US" sz="850" dirty="0"/>
          </a:p>
        </p:txBody>
      </p:sp>
      <p:sp>
        <p:nvSpPr>
          <p:cNvPr id="15" name="Shape 13"/>
          <p:cNvSpPr/>
          <p:nvPr/>
        </p:nvSpPr>
        <p:spPr>
          <a:xfrm>
            <a:off x="3136392"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6" name="Shape 14"/>
          <p:cNvSpPr/>
          <p:nvPr/>
        </p:nvSpPr>
        <p:spPr>
          <a:xfrm>
            <a:off x="3136392" y="1005840"/>
            <a:ext cx="64008" cy="1554480"/>
          </a:xfrm>
          <a:prstGeom prst="rect">
            <a:avLst/>
          </a:prstGeom>
          <a:solidFill>
            <a:srgbClr val="1B5E3B"/>
          </a:solidFill>
          <a:ln w="12700">
            <a:solidFill>
              <a:srgbClr val="1B5E3B"/>
            </a:solidFill>
            <a:prstDash val="solid"/>
          </a:ln>
        </p:spPr>
      </p:sp>
      <p:sp>
        <p:nvSpPr>
          <p:cNvPr id="17" name="Text 15"/>
          <p:cNvSpPr/>
          <p:nvPr/>
        </p:nvSpPr>
        <p:spPr>
          <a:xfrm>
            <a:off x="3255264"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Angkor Wat</a:t>
            </a:r>
            <a:endParaRPr lang="en-US" sz="1100" dirty="0"/>
          </a:p>
        </p:txBody>
      </p:sp>
      <p:sp>
        <p:nvSpPr>
          <p:cNvPr id="18" name="Text 16"/>
          <p:cNvSpPr/>
          <p:nvPr/>
        </p:nvSpPr>
        <p:spPr>
          <a:xfrm>
            <a:off x="3255264"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Massive temple complex in Cambodia built by Khmer king Suryavarman II (~1113); world's largest religious monument.</a:t>
            </a:r>
            <a:endParaRPr lang="en-US" sz="950" dirty="0"/>
          </a:p>
        </p:txBody>
      </p:sp>
      <p:sp>
        <p:nvSpPr>
          <p:cNvPr id="19" name="Shape 17"/>
          <p:cNvSpPr/>
          <p:nvPr/>
        </p:nvSpPr>
        <p:spPr>
          <a:xfrm>
            <a:off x="3136392" y="2194560"/>
            <a:ext cx="2834640" cy="365760"/>
          </a:xfrm>
          <a:prstGeom prst="rect">
            <a:avLst/>
          </a:prstGeom>
          <a:solidFill>
            <a:srgbClr val="F0F4FF"/>
          </a:solidFill>
          <a:ln w="12700">
            <a:solidFill>
              <a:srgbClr val="F0F4FF"/>
            </a:solidFill>
            <a:prstDash val="solid"/>
          </a:ln>
        </p:spPr>
      </p:sp>
      <p:sp>
        <p:nvSpPr>
          <p:cNvPr id="20" name="Text 18"/>
          <p:cNvSpPr/>
          <p:nvPr/>
        </p:nvSpPr>
        <p:spPr>
          <a:xfrm>
            <a:off x="3255264"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Demonstrates Khmer state power and Hindu devaraja (god-king) concept. Later converted to Buddhist use.</a:t>
            </a:r>
            <a:endParaRPr lang="en-US" sz="850" dirty="0"/>
          </a:p>
        </p:txBody>
      </p:sp>
      <p:sp>
        <p:nvSpPr>
          <p:cNvPr id="21" name="Shape 19"/>
          <p:cNvSpPr/>
          <p:nvPr/>
        </p:nvSpPr>
        <p:spPr>
          <a:xfrm>
            <a:off x="6089904" y="1005840"/>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2" name="Shape 20"/>
          <p:cNvSpPr/>
          <p:nvPr/>
        </p:nvSpPr>
        <p:spPr>
          <a:xfrm>
            <a:off x="6089904" y="1005840"/>
            <a:ext cx="64008" cy="1554480"/>
          </a:xfrm>
          <a:prstGeom prst="rect">
            <a:avLst/>
          </a:prstGeom>
          <a:solidFill>
            <a:srgbClr val="1B5E3B"/>
          </a:solidFill>
          <a:ln w="12700">
            <a:solidFill>
              <a:srgbClr val="1B5E3B"/>
            </a:solidFill>
            <a:prstDash val="solid"/>
          </a:ln>
        </p:spPr>
      </p:sp>
      <p:sp>
        <p:nvSpPr>
          <p:cNvPr id="23" name="Text 21"/>
          <p:cNvSpPr/>
          <p:nvPr/>
        </p:nvSpPr>
        <p:spPr>
          <a:xfrm>
            <a:off x="6208776" y="1060704"/>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Majapahit Empire</a:t>
            </a:r>
            <a:endParaRPr lang="en-US" sz="1100" dirty="0"/>
          </a:p>
        </p:txBody>
      </p:sp>
      <p:sp>
        <p:nvSpPr>
          <p:cNvPr id="24" name="Text 22"/>
          <p:cNvSpPr/>
          <p:nvPr/>
        </p:nvSpPr>
        <p:spPr>
          <a:xfrm>
            <a:off x="6208776" y="1325880"/>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Last great Hindu-Buddhist maritime empire (1293-1527) based in Java; controlled Indonesian archipelago trade routes.</a:t>
            </a:r>
            <a:endParaRPr lang="en-US" sz="950" dirty="0"/>
          </a:p>
        </p:txBody>
      </p:sp>
      <p:sp>
        <p:nvSpPr>
          <p:cNvPr id="25" name="Shape 23"/>
          <p:cNvSpPr/>
          <p:nvPr/>
        </p:nvSpPr>
        <p:spPr>
          <a:xfrm>
            <a:off x="6089904" y="2194560"/>
            <a:ext cx="2834640" cy="365760"/>
          </a:xfrm>
          <a:prstGeom prst="rect">
            <a:avLst/>
          </a:prstGeom>
          <a:solidFill>
            <a:srgbClr val="F0F4FF"/>
          </a:solidFill>
          <a:ln w="12700">
            <a:solidFill>
              <a:srgbClr val="F0F4FF"/>
            </a:solidFill>
            <a:prstDash val="solid"/>
          </a:ln>
        </p:spPr>
      </p:sp>
      <p:sp>
        <p:nvSpPr>
          <p:cNvPr id="26" name="Text 24"/>
          <p:cNvSpPr/>
          <p:nvPr/>
        </p:nvSpPr>
        <p:spPr>
          <a:xfrm>
            <a:off x="6208776" y="2212848"/>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Its gradual Islamization shows how trade-based religion change worked -- port cities converted first.</a:t>
            </a:r>
            <a:endParaRPr lang="en-US" sz="850" dirty="0"/>
          </a:p>
        </p:txBody>
      </p:sp>
      <p:sp>
        <p:nvSpPr>
          <p:cNvPr id="27" name="Shape 25"/>
          <p:cNvSpPr/>
          <p:nvPr/>
        </p:nvSpPr>
        <p:spPr>
          <a:xfrm>
            <a:off x="182880"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8" name="Shape 26"/>
          <p:cNvSpPr/>
          <p:nvPr/>
        </p:nvSpPr>
        <p:spPr>
          <a:xfrm>
            <a:off x="182880" y="2679192"/>
            <a:ext cx="64008" cy="1554480"/>
          </a:xfrm>
          <a:prstGeom prst="rect">
            <a:avLst/>
          </a:prstGeom>
          <a:solidFill>
            <a:srgbClr val="1B5E3B"/>
          </a:solidFill>
          <a:ln w="12700">
            <a:solidFill>
              <a:srgbClr val="1B5E3B"/>
            </a:solidFill>
            <a:prstDash val="solid"/>
          </a:ln>
        </p:spPr>
      </p:sp>
      <p:sp>
        <p:nvSpPr>
          <p:cNvPr id="29" name="Text 27"/>
          <p:cNvSpPr/>
          <p:nvPr/>
        </p:nvSpPr>
        <p:spPr>
          <a:xfrm>
            <a:off x="301752"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Malacca (Melaka)</a:t>
            </a:r>
            <a:endParaRPr lang="en-US" sz="1100" dirty="0"/>
          </a:p>
        </p:txBody>
      </p:sp>
      <p:sp>
        <p:nvSpPr>
          <p:cNvPr id="30" name="Text 28"/>
          <p:cNvSpPr/>
          <p:nvPr/>
        </p:nvSpPr>
        <p:spPr>
          <a:xfrm>
            <a:off x="301752"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Port city-state on the Malay Peninsula (~1400); ruler converted to Islam ~1414, one of SE Asia's earliest major Islamic polities (Samudra Pasai, c. 1267, predates it slightly).</a:t>
            </a:r>
            <a:endParaRPr lang="en-US" sz="950" dirty="0"/>
          </a:p>
        </p:txBody>
      </p:sp>
      <p:sp>
        <p:nvSpPr>
          <p:cNvPr id="31" name="Shape 29"/>
          <p:cNvSpPr/>
          <p:nvPr/>
        </p:nvSpPr>
        <p:spPr>
          <a:xfrm>
            <a:off x="182880" y="3867912"/>
            <a:ext cx="2834640" cy="365760"/>
          </a:xfrm>
          <a:prstGeom prst="rect">
            <a:avLst/>
          </a:prstGeom>
          <a:solidFill>
            <a:srgbClr val="F0F4FF"/>
          </a:solidFill>
          <a:ln w="12700">
            <a:solidFill>
              <a:srgbClr val="F0F4FF"/>
            </a:solidFill>
            <a:prstDash val="solid"/>
          </a:ln>
        </p:spPr>
      </p:sp>
      <p:sp>
        <p:nvSpPr>
          <p:cNvPr id="32" name="Text 30"/>
          <p:cNvSpPr/>
          <p:nvPr/>
        </p:nvSpPr>
        <p:spPr>
          <a:xfrm>
            <a:off x="301752"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Becoming the dominant trade entrepôt; its conversion accelerated Islamization across maritime SE Asia.</a:t>
            </a:r>
            <a:endParaRPr lang="en-US" sz="850" dirty="0"/>
          </a:p>
        </p:txBody>
      </p:sp>
      <p:sp>
        <p:nvSpPr>
          <p:cNvPr id="33" name="Shape 31"/>
          <p:cNvSpPr/>
          <p:nvPr/>
        </p:nvSpPr>
        <p:spPr>
          <a:xfrm>
            <a:off x="3136392"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34" name="Shape 32"/>
          <p:cNvSpPr/>
          <p:nvPr/>
        </p:nvSpPr>
        <p:spPr>
          <a:xfrm>
            <a:off x="3136392" y="2679192"/>
            <a:ext cx="64008" cy="1554480"/>
          </a:xfrm>
          <a:prstGeom prst="rect">
            <a:avLst/>
          </a:prstGeom>
          <a:solidFill>
            <a:srgbClr val="1B5E3B"/>
          </a:solidFill>
          <a:ln w="12700">
            <a:solidFill>
              <a:srgbClr val="1B5E3B"/>
            </a:solidFill>
            <a:prstDash val="solid"/>
          </a:ln>
        </p:spPr>
      </p:sp>
      <p:sp>
        <p:nvSpPr>
          <p:cNvPr id="35" name="Text 33"/>
          <p:cNvSpPr/>
          <p:nvPr/>
        </p:nvSpPr>
        <p:spPr>
          <a:xfrm>
            <a:off x="3255264"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Mandala State</a:t>
            </a:r>
            <a:endParaRPr lang="en-US" sz="1100" dirty="0"/>
          </a:p>
        </p:txBody>
      </p:sp>
      <p:sp>
        <p:nvSpPr>
          <p:cNvPr id="36" name="Text 34"/>
          <p:cNvSpPr/>
          <p:nvPr/>
        </p:nvSpPr>
        <p:spPr>
          <a:xfrm>
            <a:off x="3255264"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SE Asian political model where power radiates from a royal center and diminishes with distance -- no fixed territorial borders.</a:t>
            </a:r>
            <a:endParaRPr lang="en-US" sz="950" dirty="0"/>
          </a:p>
        </p:txBody>
      </p:sp>
      <p:sp>
        <p:nvSpPr>
          <p:cNvPr id="37" name="Shape 35"/>
          <p:cNvSpPr/>
          <p:nvPr/>
        </p:nvSpPr>
        <p:spPr>
          <a:xfrm>
            <a:off x="3136392" y="3867912"/>
            <a:ext cx="2834640" cy="365760"/>
          </a:xfrm>
          <a:prstGeom prst="rect">
            <a:avLst/>
          </a:prstGeom>
          <a:solidFill>
            <a:srgbClr val="F0F4FF"/>
          </a:solidFill>
          <a:ln w="12700">
            <a:solidFill>
              <a:srgbClr val="F0F4FF"/>
            </a:solidFill>
            <a:prstDash val="solid"/>
          </a:ln>
        </p:spPr>
      </p:sp>
      <p:sp>
        <p:nvSpPr>
          <p:cNvPr id="38" name="Text 36"/>
          <p:cNvSpPr/>
          <p:nvPr/>
        </p:nvSpPr>
        <p:spPr>
          <a:xfrm>
            <a:off x="3255264"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Explains why SE Asian political authority looks so different from Chinese or European state models.</a:t>
            </a:r>
            <a:endParaRPr lang="en-US" sz="850" dirty="0"/>
          </a:p>
        </p:txBody>
      </p:sp>
      <p:sp>
        <p:nvSpPr>
          <p:cNvPr id="39" name="Shape 37"/>
          <p:cNvSpPr/>
          <p:nvPr/>
        </p:nvSpPr>
        <p:spPr>
          <a:xfrm>
            <a:off x="6089904" y="2679192"/>
            <a:ext cx="2834640" cy="155448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40" name="Shape 38"/>
          <p:cNvSpPr/>
          <p:nvPr/>
        </p:nvSpPr>
        <p:spPr>
          <a:xfrm>
            <a:off x="6089904" y="2679192"/>
            <a:ext cx="64008" cy="1554480"/>
          </a:xfrm>
          <a:prstGeom prst="rect">
            <a:avLst/>
          </a:prstGeom>
          <a:solidFill>
            <a:srgbClr val="1B5E3B"/>
          </a:solidFill>
          <a:ln w="12700">
            <a:solidFill>
              <a:srgbClr val="1B5E3B"/>
            </a:solidFill>
            <a:prstDash val="solid"/>
          </a:ln>
        </p:spPr>
      </p:sp>
      <p:sp>
        <p:nvSpPr>
          <p:cNvPr id="41" name="Text 39"/>
          <p:cNvSpPr/>
          <p:nvPr/>
        </p:nvSpPr>
        <p:spPr>
          <a:xfrm>
            <a:off x="6208776" y="2734056"/>
            <a:ext cx="2651760" cy="246888"/>
          </a:xfrm>
          <a:prstGeom prst="rect">
            <a:avLst/>
          </a:prstGeom>
          <a:noFill/>
          <a:ln/>
        </p:spPr>
        <p:txBody>
          <a:bodyPr wrap="square" lIns="0" tIns="0" rIns="0" bIns="0" rtlCol="0" anchor="ctr"/>
          <a:lstStyle/>
          <a:p>
            <a:pPr indent="0" marL="0">
              <a:buNone/>
            </a:pPr>
            <a:r>
              <a:rPr lang="en-US" sz="1100" b="1" dirty="0">
                <a:solidFill>
                  <a:srgbClr val="1B3A6B"/>
                </a:solidFill>
                <a:latin typeface="Trebuchet MS" pitchFamily="34" charset="0"/>
                <a:ea typeface="Trebuchet MS" pitchFamily="34" charset="-122"/>
                <a:cs typeface="Trebuchet MS" pitchFamily="34" charset="-120"/>
              </a:rPr>
              <a:t>Monsoon &amp; Indian Ocean Trade</a:t>
            </a:r>
            <a:endParaRPr lang="en-US" sz="1100" dirty="0"/>
          </a:p>
        </p:txBody>
      </p:sp>
      <p:sp>
        <p:nvSpPr>
          <p:cNvPr id="42" name="Text 40"/>
          <p:cNvSpPr/>
          <p:nvPr/>
        </p:nvSpPr>
        <p:spPr>
          <a:xfrm>
            <a:off x="6208776" y="2999232"/>
            <a:ext cx="2651760" cy="841248"/>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Seasonal wind reversal enabling predictable sailing between Arabia, India, and SE Asia; foundation of Indian Ocean commerce.</a:t>
            </a:r>
            <a:endParaRPr lang="en-US" sz="950" dirty="0"/>
          </a:p>
        </p:txBody>
      </p:sp>
      <p:sp>
        <p:nvSpPr>
          <p:cNvPr id="43" name="Shape 41"/>
          <p:cNvSpPr/>
          <p:nvPr/>
        </p:nvSpPr>
        <p:spPr>
          <a:xfrm>
            <a:off x="6089904" y="3867912"/>
            <a:ext cx="2834640" cy="365760"/>
          </a:xfrm>
          <a:prstGeom prst="rect">
            <a:avLst/>
          </a:prstGeom>
          <a:solidFill>
            <a:srgbClr val="F0F4FF"/>
          </a:solidFill>
          <a:ln w="12700">
            <a:solidFill>
              <a:srgbClr val="F0F4FF"/>
            </a:solidFill>
            <a:prstDash val="solid"/>
          </a:ln>
        </p:spPr>
      </p:sp>
      <p:sp>
        <p:nvSpPr>
          <p:cNvPr id="44" name="Text 42"/>
          <p:cNvSpPr/>
          <p:nvPr/>
        </p:nvSpPr>
        <p:spPr>
          <a:xfrm>
            <a:off x="6208776" y="3886200"/>
            <a:ext cx="2651760" cy="320040"/>
          </a:xfrm>
          <a:prstGeom prst="rect">
            <a:avLst/>
          </a:prstGeom>
          <a:noFill/>
          <a:ln/>
        </p:spPr>
        <p:txBody>
          <a:bodyPr wrap="square" lIns="0" tIns="0" rIns="0" bIns="0" rtlCol="0" anchor="ctr"/>
          <a:lstStyle/>
          <a:p>
            <a:pPr indent="0" marL="0">
              <a:buNone/>
            </a:pPr>
            <a:r>
              <a:rPr lang="en-US" sz="850" i="1" dirty="0">
                <a:solidFill>
                  <a:srgbClr val="374151"/>
                </a:solidFill>
                <a:latin typeface="Calibri" pitchFamily="34" charset="0"/>
                <a:ea typeface="Calibri" pitchFamily="34" charset="-122"/>
                <a:cs typeface="Calibri" pitchFamily="34" charset="-120"/>
              </a:rPr>
              <a:t>★ The monsoon made the Indian Ocean the world's most active trade network -- all these states depended on it.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Key People &amp; Groups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Know these groups, their regions, and their AP World History significance</a:t>
            </a:r>
            <a:endParaRPr lang="en-US" sz="1000" dirty="0"/>
          </a:p>
        </p:txBody>
      </p:sp>
      <p:sp>
        <p:nvSpPr>
          <p:cNvPr id="9" name="Shape 7"/>
          <p:cNvSpPr/>
          <p:nvPr/>
        </p:nvSpPr>
        <p:spPr>
          <a:xfrm>
            <a:off x="1828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0" name="Shape 8"/>
          <p:cNvSpPr/>
          <p:nvPr/>
        </p:nvSpPr>
        <p:spPr>
          <a:xfrm>
            <a:off x="182880" y="1024128"/>
            <a:ext cx="2834640" cy="475488"/>
          </a:xfrm>
          <a:prstGeom prst="rect">
            <a:avLst/>
          </a:prstGeom>
          <a:solidFill>
            <a:srgbClr val="B5432A"/>
          </a:solidFill>
          <a:ln w="12700">
            <a:solidFill>
              <a:srgbClr val="B5432A"/>
            </a:solidFill>
            <a:prstDash val="solid"/>
          </a:ln>
        </p:spPr>
      </p:sp>
      <p:sp>
        <p:nvSpPr>
          <p:cNvPr id="11" name="Text 9"/>
          <p:cNvSpPr/>
          <p:nvPr/>
        </p:nvSpPr>
        <p:spPr>
          <a:xfrm>
            <a:off x="2743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Delhi Sultanate</a:t>
            </a:r>
            <a:endParaRPr lang="en-US" sz="1200" dirty="0"/>
          </a:p>
        </p:txBody>
      </p:sp>
      <p:sp>
        <p:nvSpPr>
          <p:cNvPr id="12" name="Text 10"/>
          <p:cNvSpPr/>
          <p:nvPr/>
        </p:nvSpPr>
        <p:spPr>
          <a:xfrm>
            <a:off x="2743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1206-1526 | Northern India</a:t>
            </a:r>
            <a:endParaRPr lang="en-US" sz="850" dirty="0"/>
          </a:p>
        </p:txBody>
      </p:sp>
      <p:sp>
        <p:nvSpPr>
          <p:cNvPr id="13" name="Text 11"/>
          <p:cNvSpPr/>
          <p:nvPr/>
        </p:nvSpPr>
        <p:spPr>
          <a:xfrm>
            <a:off x="2926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Founded by Turkish military commanders after defeating Hindu rulers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Introduced Persian-Islamic governance, architecture (Qutb Minar), and art</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Alauddin Khalji (r.1296-1316) extended rule furthest south -- but never all of India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Repelled multiple Mongol invasions -- India avoided the destruction that hit the Islamic heartland</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Set the foundation for the later Mughal Empire (1526-1857)</a:t>
            </a:r>
            <a:endParaRPr lang="en-US" sz="950" dirty="0"/>
          </a:p>
        </p:txBody>
      </p:sp>
      <p:sp>
        <p:nvSpPr>
          <p:cNvPr id="14" name="Shape 12"/>
          <p:cNvSpPr/>
          <p:nvPr/>
        </p:nvSpPr>
        <p:spPr>
          <a:xfrm>
            <a:off x="31546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5" name="Shape 13"/>
          <p:cNvSpPr/>
          <p:nvPr/>
        </p:nvSpPr>
        <p:spPr>
          <a:xfrm>
            <a:off x="3154680" y="1024128"/>
            <a:ext cx="2834640" cy="475488"/>
          </a:xfrm>
          <a:prstGeom prst="rect">
            <a:avLst/>
          </a:prstGeom>
          <a:solidFill>
            <a:srgbClr val="2A5298"/>
          </a:solidFill>
          <a:ln w="12700">
            <a:solidFill>
              <a:srgbClr val="2A5298"/>
            </a:solidFill>
            <a:prstDash val="solid"/>
          </a:ln>
        </p:spPr>
      </p:sp>
      <p:sp>
        <p:nvSpPr>
          <p:cNvPr id="16" name="Text 14"/>
          <p:cNvSpPr/>
          <p:nvPr/>
        </p:nvSpPr>
        <p:spPr>
          <a:xfrm>
            <a:off x="32461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Khmer Empire / Angkor</a:t>
            </a:r>
            <a:endParaRPr lang="en-US" sz="1200" dirty="0"/>
          </a:p>
        </p:txBody>
      </p:sp>
      <p:sp>
        <p:nvSpPr>
          <p:cNvPr id="17" name="Text 15"/>
          <p:cNvSpPr/>
          <p:nvPr/>
        </p:nvSpPr>
        <p:spPr>
          <a:xfrm>
            <a:off x="32461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802-1431 | Mainland SE Asia (Cambodia)</a:t>
            </a:r>
            <a:endParaRPr lang="en-US" sz="850" dirty="0"/>
          </a:p>
        </p:txBody>
      </p:sp>
      <p:sp>
        <p:nvSpPr>
          <p:cNvPr id="18" name="Text 16"/>
          <p:cNvSpPr/>
          <p:nvPr/>
        </p:nvSpPr>
        <p:spPr>
          <a:xfrm>
            <a:off x="32644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Built the world's most extensive hydraulic system for rice cultivation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At its height, Angkor was one of the world's largest pre-industrial cities (~1 million)</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Angkor Wat: dedicated to Vishnu -- god-king (devaraja) ideology at its peak</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Declined due to Thai pressure from north, possible environmental degradation, trade route shifts</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The hydraulic system's failure is a key environmental causation example</a:t>
            </a:r>
            <a:endParaRPr lang="en-US" sz="950" dirty="0"/>
          </a:p>
        </p:txBody>
      </p:sp>
      <p:sp>
        <p:nvSpPr>
          <p:cNvPr id="19" name="Shape 17"/>
          <p:cNvSpPr/>
          <p:nvPr/>
        </p:nvSpPr>
        <p:spPr>
          <a:xfrm>
            <a:off x="6126480" y="1024128"/>
            <a:ext cx="2834640" cy="3703320"/>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0" name="Shape 18"/>
          <p:cNvSpPr/>
          <p:nvPr/>
        </p:nvSpPr>
        <p:spPr>
          <a:xfrm>
            <a:off x="6126480" y="1024128"/>
            <a:ext cx="2834640" cy="475488"/>
          </a:xfrm>
          <a:prstGeom prst="rect">
            <a:avLst/>
          </a:prstGeom>
          <a:solidFill>
            <a:srgbClr val="1B5E3B"/>
          </a:solidFill>
          <a:ln w="12700">
            <a:solidFill>
              <a:srgbClr val="1B5E3B"/>
            </a:solidFill>
            <a:prstDash val="solid"/>
          </a:ln>
        </p:spPr>
      </p:sp>
      <p:sp>
        <p:nvSpPr>
          <p:cNvPr id="21" name="Text 19"/>
          <p:cNvSpPr/>
          <p:nvPr/>
        </p:nvSpPr>
        <p:spPr>
          <a:xfrm>
            <a:off x="6217920" y="1069848"/>
            <a:ext cx="2697480" cy="256032"/>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Bhakti Poet-Saints</a:t>
            </a:r>
            <a:endParaRPr lang="en-US" sz="1200" dirty="0"/>
          </a:p>
        </p:txBody>
      </p:sp>
      <p:sp>
        <p:nvSpPr>
          <p:cNvPr id="22" name="Text 20"/>
          <p:cNvSpPr/>
          <p:nvPr/>
        </p:nvSpPr>
        <p:spPr>
          <a:xfrm>
            <a:off x="6217920" y="1335024"/>
            <a:ext cx="2697480" cy="164592"/>
          </a:xfrm>
          <a:prstGeom prst="rect">
            <a:avLst/>
          </a:prstGeom>
          <a:noFill/>
          <a:ln/>
        </p:spPr>
        <p:txBody>
          <a:bodyPr wrap="square" lIns="0" tIns="0" rIns="0" bIns="0" rtlCol="0" anchor="ctr"/>
          <a:lstStyle/>
          <a:p>
            <a:pPr indent="0" marL="0">
              <a:buNone/>
            </a:pPr>
            <a:r>
              <a:rPr lang="en-US" sz="850" i="1" dirty="0">
                <a:solidFill>
                  <a:srgbClr val="FFFFFF"/>
                </a:solidFill>
                <a:latin typeface="Calibri" pitchFamily="34" charset="0"/>
                <a:ea typeface="Calibri" pitchFamily="34" charset="-122"/>
                <a:cs typeface="Calibri" pitchFamily="34" charset="-120"/>
              </a:rPr>
              <a:t>c.1200-1500 | India</a:t>
            </a:r>
            <a:endParaRPr lang="en-US" sz="850" dirty="0"/>
          </a:p>
        </p:txBody>
      </p:sp>
      <p:sp>
        <p:nvSpPr>
          <p:cNvPr id="23" name="Text 21"/>
          <p:cNvSpPr/>
          <p:nvPr/>
        </p:nvSpPr>
        <p:spPr>
          <a:xfrm>
            <a:off x="6236208" y="1572768"/>
            <a:ext cx="2651760" cy="3063240"/>
          </a:xfrm>
          <a:prstGeom prst="rect">
            <a:avLst/>
          </a:prstGeom>
          <a:noFill/>
          <a:ln/>
        </p:spPr>
        <p:txBody>
          <a:bodyPr wrap="square" lIns="0" tIns="0" rIns="0" bIns="0" rtlCol="0" anchor="t"/>
          <a:lstStyle/>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Hindu and mixed Hindu-Muslim poets writing in vernacular languages (Tamil, Hindi, Marathi)</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Figures like Kabir drew on BOTH Hindu bhakti and Sufi Islamic spirituality</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Challenged caste distinctions -- 'devotion to God requires no intermediary'</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Represent the most significant grassroots Hindu-Islamic synthesis in India</a:t>
            </a:r>
            <a:endParaRPr lang="en-US" sz="950" dirty="0"/>
          </a:p>
          <a:p>
            <a:pPr marL="342900" indent="-342900">
              <a:buSzPct val="100000"/>
              <a:buChar char="•"/>
            </a:pPr>
            <a:r>
              <a:rPr lang="en-US" sz="950" dirty="0">
                <a:solidFill>
                  <a:srgbClr val="374151"/>
                </a:solidFill>
                <a:latin typeface="Calibri" pitchFamily="34" charset="0"/>
                <a:ea typeface="Calibri" pitchFamily="34" charset="-122"/>
                <a:cs typeface="Calibri" pitchFamily="34" charset="-120"/>
              </a:rPr>
              <a:t>Their tradition directly influenced the founding of Sikhism in the 15th-16th century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Timeline: South &amp; Southeast Asia 1200-1450</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Focus on causes of change -- why did these states rise, peak, and decline?</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82880" y="1005840"/>
          <a:ext cx="8778240" cy="3767328"/>
        </p:xfrm>
        <a:graphic>
          <a:graphicData uri="http://schemas.openxmlformats.org/drawingml/2006/table">
            <a:tbl>
              <a:tblPr/>
              <a:tblGrid>
                <a:gridCol w="914400"/>
                <a:gridCol w="2286000"/>
                <a:gridCol w="1188720"/>
                <a:gridCol w="4389120"/>
              </a:tblGrid>
              <a:tr h="376733">
                <a:tc>
                  <a:txBody>
                    <a:bodyPr/>
                    <a:lstStyle/>
                    <a:p>
                      <a:pPr algn="ctr" indent="0" marL="0">
                        <a:buNone/>
                      </a:pPr>
                      <a:r>
                        <a:rPr lang="en-US" sz="1000" b="1" dirty="0">
                          <a:solidFill>
                            <a:srgbClr val="FFFFFF"/>
                          </a:solidFill>
                          <a:latin typeface="Trebuchet MS" pitchFamily="34" charset="0"/>
                          <a:ea typeface="Trebuchet MS" pitchFamily="34" charset="-122"/>
                          <a:cs typeface="Trebuchet MS" pitchFamily="34" charset="-120"/>
                        </a:rPr>
                        <a:t>Date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Event</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Region</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c>
                  <a:txBody>
                    <a:bodyP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AP Significance</a:t>
                      </a:r>
                      <a:endParaRPr lang="en-US" sz="1000" dirty="0">
                        <a:latin typeface="Trebuchet MS" charset="0"/>
                        <a:ea typeface="Trebuchet MS" charset="0"/>
                        <a:cs typeface="Trebuchet MS"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B3A6B"/>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802</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Khmer Empire founded at Angkor</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Cambodia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Begins 600 years of hydraulic civilization and Hindu-Buddhist statecraft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1206</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Delhi Sultanate established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Northern India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First major Islamic rule in South Asia; precursor to Mughal Empire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c.1113</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Angkor Wat construction begins</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Cambodia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Suryavarman II; peak of Khmer devaraja (god-king) ideology</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1293</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Majapahit Empire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Java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Last great Hindu-Buddhist maritime empire; controls archipelago trade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1296-1316</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Alauddin Khalji rules Delhi</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India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Greatest extent of Muslim rule; repels Mongol invasions 1297-1306</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1336</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Vijayanagara Empire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South India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Hindu kingdom resisting Delhi Sultanate; center of Telugu culture</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c.1400</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Malacca founded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Malay Peninsula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Strategic port city; ruler converts to Islam c.1414 -- major turning point</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r h="376733">
                <a:tc>
                  <a:txBody>
                    <a:bodyPr/>
                    <a:lstStyle/>
                    <a:p>
                      <a:pPr indent="0" marL="0">
                        <a:buNone/>
                      </a:pPr>
                      <a:r>
                        <a:rPr lang="en-US" sz="950" dirty="0">
                          <a:solidFill>
                            <a:srgbClr val="1B3A6B"/>
                          </a:solidFill>
                          <a:latin typeface="Calibri" pitchFamily="34" charset="0"/>
                          <a:ea typeface="Calibri" pitchFamily="34" charset="-122"/>
                          <a:cs typeface="Calibri" pitchFamily="34" charset="-120"/>
                        </a:rPr>
                        <a:t>1414</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Malacca ruler converts to Islam</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SE Asia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Triggers rapid Islamization of maritime Southeast Asia via trade networks</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5F0E8"/>
                    </a:solidFill>
                  </a:tcPr>
                </a:tc>
              </a:tr>
              <a:tr h="376733">
                <a:tc>
                  <a:txBody>
                    <a:bodyPr/>
                    <a:lstStyle/>
                    <a:p>
                      <a:pPr indent="0" marL="0">
                        <a:buNone/>
                      </a:pPr>
                      <a:r>
                        <a:rPr lang="en-US" sz="950" dirty="0">
                          <a:solidFill>
                            <a:srgbClr val="1A1A2E"/>
                          </a:solidFill>
                          <a:latin typeface="Calibri" pitchFamily="34" charset="0"/>
                          <a:ea typeface="Calibri" pitchFamily="34" charset="-122"/>
                          <a:cs typeface="Calibri" pitchFamily="34" charset="-120"/>
                        </a:rPr>
                        <a:t>1431</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Khmer capital Angkor abandoned</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50" dirty="0">
                          <a:solidFill>
                            <a:srgbClr val="374151"/>
                          </a:solidFill>
                          <a:latin typeface="Calibri" pitchFamily="34" charset="0"/>
                          <a:ea typeface="Calibri" pitchFamily="34" charset="-122"/>
                          <a:cs typeface="Calibri" pitchFamily="34" charset="-120"/>
                        </a:rPr>
                        <a:t>Cambodia</a:t>
                      </a:r>
                      <a:endParaRPr lang="en-US" sz="95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c>
                  <a:txBody>
                    <a:bodyPr/>
                    <a:lstStyle/>
                    <a:p>
                      <a:pPr indent="0" marL="0">
                        <a:buNone/>
                      </a:pPr>
                      <a:r>
                        <a:rPr lang="en-US" sz="900" i="1" dirty="0">
                          <a:solidFill>
                            <a:srgbClr val="6B7280"/>
                          </a:solidFill>
                          <a:latin typeface="Calibri" pitchFamily="34" charset="0"/>
                          <a:ea typeface="Calibri" pitchFamily="34" charset="-122"/>
                          <a:cs typeface="Calibri" pitchFamily="34" charset="-120"/>
                        </a:rPr>
                        <a:t>Thai pressure + possible hydraulic system failure; capital moves south</a:t>
                      </a:r>
                      <a:endParaRPr lang="en-US" sz="9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9F5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Themes &amp; Causation</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Practice connecting content to AP thematic lenses -- this is what DBQs and LEQs test</a:t>
            </a:r>
            <a:endParaRPr lang="en-US" sz="1000" dirty="0"/>
          </a:p>
        </p:txBody>
      </p:sp>
      <p:sp>
        <p:nvSpPr>
          <p:cNvPr id="9" name="Shape 7"/>
          <p:cNvSpPr/>
          <p:nvPr/>
        </p:nvSpPr>
        <p:spPr>
          <a:xfrm>
            <a:off x="182880" y="1005840"/>
            <a:ext cx="4297680" cy="1691640"/>
          </a:xfrm>
          <a:prstGeom prst="rect">
            <a:avLst/>
          </a:prstGeom>
          <a:solidFill>
            <a:srgbClr val="E3F0FF"/>
          </a:solidFill>
          <a:ln w="12700">
            <a:solidFill>
              <a:srgbClr val="2A5298"/>
            </a:solidFill>
            <a:prstDash val="solid"/>
          </a:ln>
        </p:spPr>
      </p:sp>
      <p:sp>
        <p:nvSpPr>
          <p:cNvPr id="10" name="Shape 8"/>
          <p:cNvSpPr/>
          <p:nvPr/>
        </p:nvSpPr>
        <p:spPr>
          <a:xfrm>
            <a:off x="182880" y="1005840"/>
            <a:ext cx="4297680" cy="310896"/>
          </a:xfrm>
          <a:prstGeom prst="rect">
            <a:avLst/>
          </a:prstGeom>
          <a:solidFill>
            <a:srgbClr val="2A5298"/>
          </a:solidFill>
          <a:ln w="12700">
            <a:solidFill>
              <a:srgbClr val="2A5298"/>
            </a:solidFill>
            <a:prstDash val="solid"/>
          </a:ln>
        </p:spPr>
      </p:sp>
      <p:sp>
        <p:nvSpPr>
          <p:cNvPr id="11" name="Text 9"/>
          <p:cNvSpPr/>
          <p:nvPr/>
        </p:nvSpPr>
        <p:spPr>
          <a:xfrm>
            <a:off x="27432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GOVERNANCE</a:t>
            </a:r>
            <a:endParaRPr lang="en-US" sz="1000" dirty="0"/>
          </a:p>
        </p:txBody>
      </p:sp>
      <p:sp>
        <p:nvSpPr>
          <p:cNvPr id="12" name="Text 10"/>
          <p:cNvSpPr/>
          <p:nvPr/>
        </p:nvSpPr>
        <p:spPr>
          <a:xfrm>
            <a:off x="27432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The Delhi Sultanate's fundamental challenge: governing a vast Hindu majority as a small Muslim military elite. Some sultans ruled by terror; others accommodated Hindu practices. In SE Asia, the mandala state model meant power radiated from royal courts, not fixed territorial administrations -- very different from Chinese or Islamic governance models.</a:t>
            </a:r>
            <a:endParaRPr lang="en-US" sz="950" dirty="0"/>
          </a:p>
        </p:txBody>
      </p:sp>
      <p:sp>
        <p:nvSpPr>
          <p:cNvPr id="13" name="Shape 11"/>
          <p:cNvSpPr/>
          <p:nvPr/>
        </p:nvSpPr>
        <p:spPr>
          <a:xfrm>
            <a:off x="182880" y="2816352"/>
            <a:ext cx="4297680" cy="1691640"/>
          </a:xfrm>
          <a:prstGeom prst="rect">
            <a:avLst/>
          </a:prstGeom>
          <a:solidFill>
            <a:srgbClr val="FAE8E4"/>
          </a:solidFill>
          <a:ln w="12700">
            <a:solidFill>
              <a:srgbClr val="B5432A"/>
            </a:solidFill>
            <a:prstDash val="solid"/>
          </a:ln>
        </p:spPr>
      </p:sp>
      <p:sp>
        <p:nvSpPr>
          <p:cNvPr id="14" name="Shape 12"/>
          <p:cNvSpPr/>
          <p:nvPr/>
        </p:nvSpPr>
        <p:spPr>
          <a:xfrm>
            <a:off x="182880" y="2816352"/>
            <a:ext cx="4297680" cy="310896"/>
          </a:xfrm>
          <a:prstGeom prst="rect">
            <a:avLst/>
          </a:prstGeom>
          <a:solidFill>
            <a:srgbClr val="B5432A"/>
          </a:solidFill>
          <a:ln w="12700">
            <a:solidFill>
              <a:srgbClr val="B5432A"/>
            </a:solidFill>
            <a:prstDash val="solid"/>
          </a:ln>
        </p:spPr>
      </p:sp>
      <p:sp>
        <p:nvSpPr>
          <p:cNvPr id="15" name="Text 13"/>
          <p:cNvSpPr/>
          <p:nvPr/>
        </p:nvSpPr>
        <p:spPr>
          <a:xfrm>
            <a:off x="27432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CULTURAL DEVELOPMENTS</a:t>
            </a:r>
            <a:endParaRPr lang="en-US" sz="1000" dirty="0"/>
          </a:p>
        </p:txBody>
      </p:sp>
      <p:sp>
        <p:nvSpPr>
          <p:cNvPr id="16" name="Text 14"/>
          <p:cNvSpPr/>
          <p:nvPr/>
        </p:nvSpPr>
        <p:spPr>
          <a:xfrm>
            <a:off x="27432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India produced a rich Hindu-Muslim cultural synthesis: Indo-Islamic architecture, Persian court culture over Sanskrit traditions, and the Bhakti movement's grassroots spiritual blending. In SE Asia, 'Indianization' spread Hindu kingship and Buddhism via trade, not conquest -- this cultural model differs fundamentally from Sinification (China) or Islamic spread.</a:t>
            </a:r>
            <a:endParaRPr lang="en-US" sz="950" dirty="0"/>
          </a:p>
        </p:txBody>
      </p:sp>
      <p:sp>
        <p:nvSpPr>
          <p:cNvPr id="17" name="Shape 15"/>
          <p:cNvSpPr/>
          <p:nvPr/>
        </p:nvSpPr>
        <p:spPr>
          <a:xfrm>
            <a:off x="4663440" y="1005840"/>
            <a:ext cx="4297680" cy="1691640"/>
          </a:xfrm>
          <a:prstGeom prst="rect">
            <a:avLst/>
          </a:prstGeom>
          <a:solidFill>
            <a:srgbClr val="E8F5EE"/>
          </a:solidFill>
          <a:ln w="12700">
            <a:solidFill>
              <a:srgbClr val="1B5E3B"/>
            </a:solidFill>
            <a:prstDash val="solid"/>
          </a:ln>
        </p:spPr>
      </p:sp>
      <p:sp>
        <p:nvSpPr>
          <p:cNvPr id="18" name="Shape 16"/>
          <p:cNvSpPr/>
          <p:nvPr/>
        </p:nvSpPr>
        <p:spPr>
          <a:xfrm>
            <a:off x="4663440" y="1005840"/>
            <a:ext cx="4297680" cy="310896"/>
          </a:xfrm>
          <a:prstGeom prst="rect">
            <a:avLst/>
          </a:prstGeom>
          <a:solidFill>
            <a:srgbClr val="1B5E3B"/>
          </a:solidFill>
          <a:ln w="12700">
            <a:solidFill>
              <a:srgbClr val="1B5E3B"/>
            </a:solidFill>
            <a:prstDash val="solid"/>
          </a:ln>
        </p:spPr>
      </p:sp>
      <p:sp>
        <p:nvSpPr>
          <p:cNvPr id="19" name="Text 17"/>
          <p:cNvSpPr/>
          <p:nvPr/>
        </p:nvSpPr>
        <p:spPr>
          <a:xfrm>
            <a:off x="4754880" y="1005840"/>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ECONOMIC SYSTEMS</a:t>
            </a:r>
            <a:endParaRPr lang="en-US" sz="1000" dirty="0"/>
          </a:p>
        </p:txBody>
      </p:sp>
      <p:sp>
        <p:nvSpPr>
          <p:cNvPr id="20" name="Text 18"/>
          <p:cNvSpPr/>
          <p:nvPr/>
        </p:nvSpPr>
        <p:spPr>
          <a:xfrm>
            <a:off x="4754880" y="1371600"/>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India sat at the center of Indian Ocean commerce, with cotton textiles and spices as key exports. SE Asian mainland kingdoms ran on wet-rice surpluses; maritime states (Majapahit, Malacca) derived wealth from trade entrepot control. The shift from inland agricultural states to maritime commercial states during this period reflects the growing importance of Indian Ocean trade.</a:t>
            </a:r>
            <a:endParaRPr lang="en-US" sz="950" dirty="0"/>
          </a:p>
        </p:txBody>
      </p:sp>
      <p:sp>
        <p:nvSpPr>
          <p:cNvPr id="21" name="Shape 19"/>
          <p:cNvSpPr/>
          <p:nvPr/>
        </p:nvSpPr>
        <p:spPr>
          <a:xfrm>
            <a:off x="4663440" y="2816352"/>
            <a:ext cx="4297680" cy="1691640"/>
          </a:xfrm>
          <a:prstGeom prst="rect">
            <a:avLst/>
          </a:prstGeom>
          <a:solidFill>
            <a:srgbClr val="EDE8F5"/>
          </a:solidFill>
          <a:ln w="12700">
            <a:solidFill>
              <a:srgbClr val="4B2D8A"/>
            </a:solidFill>
            <a:prstDash val="solid"/>
          </a:ln>
        </p:spPr>
      </p:sp>
      <p:sp>
        <p:nvSpPr>
          <p:cNvPr id="22" name="Shape 20"/>
          <p:cNvSpPr/>
          <p:nvPr/>
        </p:nvSpPr>
        <p:spPr>
          <a:xfrm>
            <a:off x="4663440" y="2816352"/>
            <a:ext cx="4297680" cy="310896"/>
          </a:xfrm>
          <a:prstGeom prst="rect">
            <a:avLst/>
          </a:prstGeom>
          <a:solidFill>
            <a:srgbClr val="4B2D8A"/>
          </a:solidFill>
          <a:ln w="12700">
            <a:solidFill>
              <a:srgbClr val="4B2D8A"/>
            </a:solidFill>
            <a:prstDash val="solid"/>
          </a:ln>
        </p:spPr>
      </p:sp>
      <p:sp>
        <p:nvSpPr>
          <p:cNvPr id="23" name="Text 21"/>
          <p:cNvSpPr/>
          <p:nvPr/>
        </p:nvSpPr>
        <p:spPr>
          <a:xfrm>
            <a:off x="4754880" y="2816352"/>
            <a:ext cx="4160520" cy="310896"/>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SOCIAL STRUCTURES</a:t>
            </a:r>
            <a:endParaRPr lang="en-US" sz="1000" dirty="0"/>
          </a:p>
        </p:txBody>
      </p:sp>
      <p:sp>
        <p:nvSpPr>
          <p:cNvPr id="24" name="Text 22"/>
          <p:cNvSpPr/>
          <p:nvPr/>
        </p:nvSpPr>
        <p:spPr>
          <a:xfrm>
            <a:off x="4754880" y="3182112"/>
            <a:ext cx="4114800" cy="126187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India's caste system proved extraordinarily resilient under Muslim rule -- social reality continued beneath political change. In SE Asia, women generally enjoyed higher social status than in South or East Asia: they participated in trade, could inherit property, and held important religious roles. This reflects pre-Hindu indigenous cultural foundations surviving Indianization.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Exam Tips &amp; Must-Know Comparisons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Chapter 3 is often underestimated -- but South and SE Asia appear frequently on the AP exam</a:t>
            </a:r>
            <a:endParaRPr lang="en-US" sz="1000" dirty="0"/>
          </a:p>
        </p:txBody>
      </p:sp>
      <p:sp>
        <p:nvSpPr>
          <p:cNvPr id="9" name="Shape 7"/>
          <p:cNvSpPr/>
          <p:nvPr/>
        </p:nvSpPr>
        <p:spPr>
          <a:xfrm>
            <a:off x="182880" y="1005840"/>
            <a:ext cx="5074920" cy="3767328"/>
          </a:xfrm>
          <a:prstGeom prst="rect">
            <a:avLst/>
          </a:prstGeom>
          <a:solidFill>
            <a:srgbClr val="1B5E3B"/>
          </a:solidFill>
          <a:ln w="12700">
            <a:solidFill>
              <a:srgbClr val="1B5E3B"/>
            </a:solidFill>
            <a:prstDash val="solid"/>
          </a:ln>
        </p:spPr>
      </p:sp>
      <p:sp>
        <p:nvSpPr>
          <p:cNvPr id="10" name="Text 8"/>
          <p:cNvSpPr/>
          <p:nvPr/>
        </p:nvSpPr>
        <p:spPr>
          <a:xfrm>
            <a:off x="320040" y="1097280"/>
            <a:ext cx="4846320" cy="274320"/>
          </a:xfrm>
          <a:prstGeom prst="rect">
            <a:avLst/>
          </a:prstGeom>
          <a:noFill/>
          <a:ln/>
        </p:spPr>
        <p:txBody>
          <a:bodyPr wrap="square" lIns="0" tIns="0" rIns="0" bIns="0" rtlCol="0" anchor="ctr"/>
          <a:lstStyle/>
          <a:p>
            <a:pPr indent="0" marL="0">
              <a:buNone/>
            </a:pPr>
            <a:r>
              <a:rPr lang="en-US" sz="1200" b="1" dirty="0">
                <a:solidFill>
                  <a:srgbClr val="E8C97A"/>
                </a:solidFill>
                <a:latin typeface="Trebuchet MS" pitchFamily="34" charset="0"/>
                <a:ea typeface="Trebuchet MS" pitchFamily="34" charset="-122"/>
                <a:cs typeface="Trebuchet MS" pitchFamily="34" charset="-120"/>
              </a:rPr>
              <a:t>★  AP EXAM TIPS</a:t>
            </a:r>
            <a:endParaRPr lang="en-US" sz="1200" dirty="0"/>
          </a:p>
        </p:txBody>
      </p:sp>
      <p:sp>
        <p:nvSpPr>
          <p:cNvPr id="11" name="Text 9"/>
          <p:cNvSpPr/>
          <p:nvPr/>
        </p:nvSpPr>
        <p:spPr>
          <a:xfrm>
            <a:off x="320040" y="1408176"/>
            <a:ext cx="4846320" cy="3273552"/>
          </a:xfrm>
          <a:prstGeom prst="rect">
            <a:avLst/>
          </a:prstGeom>
          <a:noFill/>
          <a:ln/>
        </p:spPr>
        <p:txBody>
          <a:bodyPr wrap="square" lIns="0" tIns="0" rIns="0" bIns="0" rtlCol="0" anchor="t"/>
          <a:lstStyle/>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INDIANIZATION: South Asian political and cultural concepts spread to SE Asia through TRADE, not military conquest -- compare with Sinification (East Asia) and Islamic spread</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Delhi Sultanate is the precursor to the Mughal Empire -- AP exams frequently ask about CONTINUITY of Islamic rule in India from Sultanate through Mughal period</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The Indian Ocean trade network is the central AP theme for this chapter -- India was not a passive participant but the CENTER of the world's most active trade system</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Malacca's conversion to Islam (~1414) is a TURNING POINT: demonstrates how rulers converted for commercial advantage, then spread Islam along their trade networks</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Women's relatively higher status in SE Asia (vs. India or China) is a top AP comparison/contrast point -- reflects pre-Hindu indigenous cultural foundations</a:t>
            </a:r>
            <a:endParaRPr lang="en-US" sz="1050" dirty="0"/>
          </a:p>
        </p:txBody>
      </p:sp>
      <p:sp>
        <p:nvSpPr>
          <p:cNvPr id="12" name="Shape 10"/>
          <p:cNvSpPr/>
          <p:nvPr/>
        </p:nvSpPr>
        <p:spPr>
          <a:xfrm>
            <a:off x="5440680" y="1005840"/>
            <a:ext cx="3520440" cy="3767328"/>
          </a:xfrm>
          <a:prstGeom prst="rect">
            <a:avLst/>
          </a:prstGeom>
          <a:solidFill>
            <a:srgbClr val="EDE8F5"/>
          </a:solidFill>
          <a:ln w="12700">
            <a:solidFill>
              <a:srgbClr val="4B2D8A"/>
            </a:solidFill>
            <a:prstDash val="solid"/>
          </a:ln>
        </p:spPr>
      </p:sp>
      <p:sp>
        <p:nvSpPr>
          <p:cNvPr id="13" name="Text 11"/>
          <p:cNvSpPr/>
          <p:nvPr/>
        </p:nvSpPr>
        <p:spPr>
          <a:xfrm>
            <a:off x="5559552" y="1078992"/>
            <a:ext cx="3291840" cy="256032"/>
          </a:xfrm>
          <a:prstGeom prst="rect">
            <a:avLst/>
          </a:prstGeom>
          <a:noFill/>
          <a:ln/>
        </p:spPr>
        <p:txBody>
          <a:bodyPr wrap="square" lIns="0" tIns="0" rIns="0" bIns="0" rtlCol="0" anchor="ctr"/>
          <a:lstStyle/>
          <a:p>
            <a:pPr indent="0" marL="0">
              <a:buNone/>
            </a:pPr>
            <a:r>
              <a:rPr lang="en-US" sz="1000" b="1" spc="100" kern="0" dirty="0">
                <a:solidFill>
                  <a:srgbClr val="4B2D8A"/>
                </a:solidFill>
                <a:latin typeface="Trebuchet MS" pitchFamily="34" charset="0"/>
                <a:ea typeface="Trebuchet MS" pitchFamily="34" charset="-122"/>
                <a:cs typeface="Trebuchet MS" pitchFamily="34" charset="-120"/>
              </a:rPr>
              <a:t>MUST-KNOW COMPARISONS</a:t>
            </a:r>
            <a:endParaRPr lang="en-US" sz="1000" dirty="0"/>
          </a:p>
        </p:txBody>
      </p:sp>
      <p:sp>
        <p:nvSpPr>
          <p:cNvPr id="14" name="Shape 12"/>
          <p:cNvSpPr/>
          <p:nvPr/>
        </p:nvSpPr>
        <p:spPr>
          <a:xfrm>
            <a:off x="5559552" y="1371600"/>
            <a:ext cx="3291840" cy="237744"/>
          </a:xfrm>
          <a:prstGeom prst="rect">
            <a:avLst/>
          </a:prstGeom>
          <a:solidFill>
            <a:srgbClr val="4B2D8A"/>
          </a:solidFill>
          <a:ln w="12700">
            <a:solidFill>
              <a:srgbClr val="4B2D8A"/>
            </a:solidFill>
            <a:prstDash val="solid"/>
          </a:ln>
        </p:spPr>
      </p:sp>
      <p:sp>
        <p:nvSpPr>
          <p:cNvPr id="15" name="Text 13"/>
          <p:cNvSpPr/>
          <p:nvPr/>
        </p:nvSpPr>
        <p:spPr>
          <a:xfrm>
            <a:off x="5650992" y="138988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Indianization vs. Sinification</a:t>
            </a:r>
            <a:endParaRPr lang="en-US" sz="950" dirty="0"/>
          </a:p>
        </p:txBody>
      </p:sp>
      <p:sp>
        <p:nvSpPr>
          <p:cNvPr id="16" name="Text 14"/>
          <p:cNvSpPr/>
          <p:nvPr/>
        </p:nvSpPr>
        <p:spPr>
          <a:xfrm>
            <a:off x="5559552" y="162763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 cultural spread without military conquest. But Indianization spread via trade/missionaries; Sinification via political modeling of Chinese governance.</a:t>
            </a:r>
            <a:endParaRPr lang="en-US" sz="950" dirty="0"/>
          </a:p>
        </p:txBody>
      </p:sp>
      <p:sp>
        <p:nvSpPr>
          <p:cNvPr id="17" name="Shape 15"/>
          <p:cNvSpPr/>
          <p:nvPr/>
        </p:nvSpPr>
        <p:spPr>
          <a:xfrm>
            <a:off x="5559552" y="2194560"/>
            <a:ext cx="3291840" cy="237744"/>
          </a:xfrm>
          <a:prstGeom prst="rect">
            <a:avLst/>
          </a:prstGeom>
          <a:solidFill>
            <a:srgbClr val="4B2D8A"/>
          </a:solidFill>
          <a:ln w="12700">
            <a:solidFill>
              <a:srgbClr val="4B2D8A"/>
            </a:solidFill>
            <a:prstDash val="solid"/>
          </a:ln>
        </p:spPr>
      </p:sp>
      <p:sp>
        <p:nvSpPr>
          <p:cNvPr id="18" name="Text 16"/>
          <p:cNvSpPr/>
          <p:nvPr/>
        </p:nvSpPr>
        <p:spPr>
          <a:xfrm>
            <a:off x="5650992" y="221284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Delhi Sultanate vs. Yuan Dynasty</a:t>
            </a:r>
            <a:endParaRPr lang="en-US" sz="950" dirty="0"/>
          </a:p>
        </p:txBody>
      </p:sp>
      <p:sp>
        <p:nvSpPr>
          <p:cNvPr id="19" name="Text 17"/>
          <p:cNvSpPr/>
          <p:nvPr/>
        </p:nvSpPr>
        <p:spPr>
          <a:xfrm>
            <a:off x="5559552" y="245059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 small foreign military elite ruling a large non-Muslim/non-Mongol majority. Both accommodated local cultures while maintaining ethnic/religious hierarchy.</a:t>
            </a:r>
            <a:endParaRPr lang="en-US" sz="950" dirty="0"/>
          </a:p>
        </p:txBody>
      </p:sp>
      <p:sp>
        <p:nvSpPr>
          <p:cNvPr id="20" name="Shape 18"/>
          <p:cNvSpPr/>
          <p:nvPr/>
        </p:nvSpPr>
        <p:spPr>
          <a:xfrm>
            <a:off x="5559552" y="3017520"/>
            <a:ext cx="3291840" cy="237744"/>
          </a:xfrm>
          <a:prstGeom prst="rect">
            <a:avLst/>
          </a:prstGeom>
          <a:solidFill>
            <a:srgbClr val="4B2D8A"/>
          </a:solidFill>
          <a:ln w="12700">
            <a:solidFill>
              <a:srgbClr val="4B2D8A"/>
            </a:solidFill>
            <a:prstDash val="solid"/>
          </a:ln>
        </p:spPr>
      </p:sp>
      <p:sp>
        <p:nvSpPr>
          <p:cNvPr id="21" name="Text 19"/>
          <p:cNvSpPr/>
          <p:nvPr/>
        </p:nvSpPr>
        <p:spPr>
          <a:xfrm>
            <a:off x="5650992" y="303580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Khmer Angkor vs. Aztec Tenochtitlan</a:t>
            </a:r>
            <a:endParaRPr lang="en-US" sz="950" dirty="0"/>
          </a:p>
        </p:txBody>
      </p:sp>
      <p:sp>
        <p:nvSpPr>
          <p:cNvPr id="22" name="Text 20"/>
          <p:cNvSpPr/>
          <p:nvPr/>
        </p:nvSpPr>
        <p:spPr>
          <a:xfrm>
            <a:off x="5559552" y="327355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built monumental urban centers using intensive agriculture and corvee labor. Both declined partly from environmental/agricultural overextension.</a:t>
            </a:r>
            <a:endParaRPr lang="en-US" sz="950" dirty="0"/>
          </a:p>
        </p:txBody>
      </p:sp>
      <p:sp>
        <p:nvSpPr>
          <p:cNvPr id="23" name="Shape 21"/>
          <p:cNvSpPr/>
          <p:nvPr/>
        </p:nvSpPr>
        <p:spPr>
          <a:xfrm>
            <a:off x="5559552" y="3840480"/>
            <a:ext cx="3291840" cy="237744"/>
          </a:xfrm>
          <a:prstGeom prst="rect">
            <a:avLst/>
          </a:prstGeom>
          <a:solidFill>
            <a:srgbClr val="4B2D8A"/>
          </a:solidFill>
          <a:ln w="12700">
            <a:solidFill>
              <a:srgbClr val="4B2D8A"/>
            </a:solidFill>
            <a:prstDash val="solid"/>
          </a:ln>
        </p:spPr>
      </p:sp>
      <p:sp>
        <p:nvSpPr>
          <p:cNvPr id="24" name="Text 22"/>
          <p:cNvSpPr/>
          <p:nvPr/>
        </p:nvSpPr>
        <p:spPr>
          <a:xfrm>
            <a:off x="5650992" y="3858768"/>
            <a:ext cx="3154680" cy="201168"/>
          </a:xfrm>
          <a:prstGeom prst="rect">
            <a:avLst/>
          </a:prstGeom>
          <a:noFill/>
          <a:ln/>
        </p:spPr>
        <p:txBody>
          <a:bodyPr wrap="square" lIns="0" tIns="0" rIns="0" bIns="0" rtlCol="0" anchor="ctr"/>
          <a:lstStyle/>
          <a:p>
            <a:pPr indent="0" marL="0">
              <a:buNone/>
            </a:pPr>
            <a:r>
              <a:rPr lang="en-US" sz="950" b="1" dirty="0">
                <a:solidFill>
                  <a:srgbClr val="FFFFFF"/>
                </a:solidFill>
                <a:latin typeface="Trebuchet MS" pitchFamily="34" charset="0"/>
                <a:ea typeface="Trebuchet MS" pitchFamily="34" charset="-122"/>
                <a:cs typeface="Trebuchet MS" pitchFamily="34" charset="-120"/>
              </a:rPr>
              <a:t>Malacca vs. Venice</a:t>
            </a:r>
            <a:endParaRPr lang="en-US" sz="950" dirty="0"/>
          </a:p>
        </p:txBody>
      </p:sp>
      <p:sp>
        <p:nvSpPr>
          <p:cNvPr id="25" name="Text 23"/>
          <p:cNvSpPr/>
          <p:nvPr/>
        </p:nvSpPr>
        <p:spPr>
          <a:xfrm>
            <a:off x="5559552" y="4096512"/>
            <a:ext cx="3291840" cy="530352"/>
          </a:xfrm>
          <a:prstGeom prst="rect">
            <a:avLst/>
          </a:prstGeom>
          <a:noFill/>
          <a:ln/>
        </p:spPr>
        <p:txBody>
          <a:bodyPr wrap="square" lIns="0" tIns="63500" rIns="6350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Both were maritime trading entrepots that accumulated wealth by controlling chokepoint trade routes, not producing goods. Both converted to dominant merchants' faith.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Multiple Choice Questions</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Highlighted = correct. Study WHY the other choices are wrong -- that's how AP graders think.</a:t>
            </a:r>
            <a:endParaRPr lang="en-US" sz="1000" dirty="0"/>
          </a:p>
        </p:txBody>
      </p:sp>
      <p:sp>
        <p:nvSpPr>
          <p:cNvPr id="9" name="Shape 7"/>
          <p:cNvSpPr/>
          <p:nvPr/>
        </p:nvSpPr>
        <p:spPr>
          <a:xfrm>
            <a:off x="182880" y="987552"/>
            <a:ext cx="8778240" cy="1874520"/>
          </a:xfrm>
          <a:prstGeom prst="rect">
            <a:avLst/>
          </a:prstGeom>
          <a:solidFill>
            <a:srgbClr val="E8F5EE"/>
          </a:solidFill>
          <a:ln w="12700">
            <a:solidFill>
              <a:srgbClr val="A8D8B0"/>
            </a:solidFill>
            <a:prstDash val="solid"/>
          </a:ln>
        </p:spPr>
      </p:sp>
      <p:sp>
        <p:nvSpPr>
          <p:cNvPr id="10" name="Text 8"/>
          <p:cNvSpPr/>
          <p:nvPr/>
        </p:nvSpPr>
        <p:spPr>
          <a:xfrm>
            <a:off x="320040" y="1033272"/>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"Angkor Wat, the great temple complex of the Khmer Empire, was dedicated to the Hindu god Vishnu and served as both a state temple and the intended mausoleum of King Suryavarman II. Later, Buddhist monks converted it to Theravada Buddhist use."</a:t>
            </a:r>
            <a:endParaRPr lang="en-US" sz="950" dirty="0"/>
          </a:p>
        </p:txBody>
      </p:sp>
      <p:sp>
        <p:nvSpPr>
          <p:cNvPr id="11" name="Text 9"/>
          <p:cNvSpPr/>
          <p:nvPr/>
        </p:nvSpPr>
        <p:spPr>
          <a:xfrm>
            <a:off x="320040" y="1536192"/>
            <a:ext cx="8485632" cy="274320"/>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Q1. The construction of Angkor Wat most directly reflects which of the following features of Southeast Asian states in this period?</a:t>
            </a:r>
            <a:endParaRPr lang="en-US" sz="1000" dirty="0"/>
          </a:p>
        </p:txBody>
      </p:sp>
      <p:sp>
        <p:nvSpPr>
          <p:cNvPr id="12" name="Shape 10"/>
          <p:cNvSpPr/>
          <p:nvPr/>
        </p:nvSpPr>
        <p:spPr>
          <a:xfrm>
            <a:off x="320040" y="1837944"/>
            <a:ext cx="219456" cy="210312"/>
          </a:xfrm>
          <a:prstGeom prst="rect">
            <a:avLst/>
          </a:prstGeom>
          <a:solidFill>
            <a:srgbClr val="D1D5DB"/>
          </a:solidFill>
          <a:ln w="12700">
            <a:solidFill>
              <a:srgbClr val="D1D5DB"/>
            </a:solidFill>
            <a:prstDash val="solid"/>
          </a:ln>
        </p:spPr>
      </p:sp>
      <p:sp>
        <p:nvSpPr>
          <p:cNvPr id="13" name="Text 11"/>
          <p:cNvSpPr/>
          <p:nvPr/>
        </p:nvSpPr>
        <p:spPr>
          <a:xfrm>
            <a:off x="594360" y="1847088"/>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The dominance of Islam as the primary source of political legitimacy in Southeast Asian kingdoms.</a:t>
            </a:r>
            <a:endParaRPr lang="en-US" sz="950" dirty="0"/>
          </a:p>
        </p:txBody>
      </p:sp>
      <p:sp>
        <p:nvSpPr>
          <p:cNvPr id="14" name="Shape 12"/>
          <p:cNvSpPr/>
          <p:nvPr/>
        </p:nvSpPr>
        <p:spPr>
          <a:xfrm>
            <a:off x="320040" y="2084832"/>
            <a:ext cx="219456" cy="210312"/>
          </a:xfrm>
          <a:prstGeom prst="rect">
            <a:avLst/>
          </a:prstGeom>
          <a:solidFill>
            <a:srgbClr val="1B5E3B"/>
          </a:solidFill>
          <a:ln w="12700">
            <a:solidFill>
              <a:srgbClr val="1B5E3B"/>
            </a:solidFill>
            <a:prstDash val="solid"/>
          </a:ln>
        </p:spPr>
      </p:sp>
      <p:sp>
        <p:nvSpPr>
          <p:cNvPr id="15" name="Text 13"/>
          <p:cNvSpPr/>
          <p:nvPr/>
        </p:nvSpPr>
        <p:spPr>
          <a:xfrm>
            <a:off x="594360" y="2093976"/>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use of Indian-derived religious concepts to legitimize royal authority and state power.</a:t>
            </a:r>
            <a:endParaRPr lang="en-US" sz="950" dirty="0"/>
          </a:p>
        </p:txBody>
      </p:sp>
      <p:sp>
        <p:nvSpPr>
          <p:cNvPr id="16" name="Shape 14"/>
          <p:cNvSpPr/>
          <p:nvPr/>
        </p:nvSpPr>
        <p:spPr>
          <a:xfrm>
            <a:off x="320040" y="2331720"/>
            <a:ext cx="219456" cy="210312"/>
          </a:xfrm>
          <a:prstGeom prst="rect">
            <a:avLst/>
          </a:prstGeom>
          <a:solidFill>
            <a:srgbClr val="D1D5DB"/>
          </a:solidFill>
          <a:ln w="12700">
            <a:solidFill>
              <a:srgbClr val="D1D5DB"/>
            </a:solidFill>
            <a:prstDash val="solid"/>
          </a:ln>
        </p:spPr>
      </p:sp>
      <p:sp>
        <p:nvSpPr>
          <p:cNvPr id="17" name="Text 15"/>
          <p:cNvSpPr/>
          <p:nvPr/>
        </p:nvSpPr>
        <p:spPr>
          <a:xfrm>
            <a:off x="594360" y="2340864"/>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The rejection of trade and commerce in favor of purely agricultural economic systems.</a:t>
            </a:r>
            <a:endParaRPr lang="en-US" sz="950" dirty="0"/>
          </a:p>
        </p:txBody>
      </p:sp>
      <p:sp>
        <p:nvSpPr>
          <p:cNvPr id="18" name="Shape 16"/>
          <p:cNvSpPr/>
          <p:nvPr/>
        </p:nvSpPr>
        <p:spPr>
          <a:xfrm>
            <a:off x="320040" y="2578608"/>
            <a:ext cx="219456" cy="210312"/>
          </a:xfrm>
          <a:prstGeom prst="rect">
            <a:avLst/>
          </a:prstGeom>
          <a:solidFill>
            <a:srgbClr val="D1D5DB"/>
          </a:solidFill>
          <a:ln w="12700">
            <a:solidFill>
              <a:srgbClr val="D1D5DB"/>
            </a:solidFill>
            <a:prstDash val="solid"/>
          </a:ln>
        </p:spPr>
      </p:sp>
      <p:sp>
        <p:nvSpPr>
          <p:cNvPr id="19" name="Text 17"/>
          <p:cNvSpPr/>
          <p:nvPr/>
        </p:nvSpPr>
        <p:spPr>
          <a:xfrm>
            <a:off x="594360" y="258775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The isolation of Southeast Asian civilizations from Eurasian cultural influences.</a:t>
            </a:r>
            <a:endParaRPr lang="en-US" sz="950" dirty="0"/>
          </a:p>
        </p:txBody>
      </p:sp>
      <p:sp>
        <p:nvSpPr>
          <p:cNvPr id="20" name="Shape 18"/>
          <p:cNvSpPr/>
          <p:nvPr/>
        </p:nvSpPr>
        <p:spPr>
          <a:xfrm>
            <a:off x="182880" y="2926080"/>
            <a:ext cx="8778240" cy="1847088"/>
          </a:xfrm>
          <a:prstGeom prst="rect">
            <a:avLst/>
          </a:prstGeom>
          <a:solidFill>
            <a:srgbClr val="FAE8E4"/>
          </a:solidFill>
          <a:ln w="12700">
            <a:solidFill>
              <a:srgbClr val="F5D6A8"/>
            </a:solidFill>
            <a:prstDash val="solid"/>
          </a:ln>
        </p:spPr>
      </p:sp>
      <p:sp>
        <p:nvSpPr>
          <p:cNvPr id="21" name="Text 19"/>
          <p:cNvSpPr/>
          <p:nvPr/>
        </p:nvSpPr>
        <p:spPr>
          <a:xfrm>
            <a:off x="320040" y="2971800"/>
            <a:ext cx="8485632" cy="475488"/>
          </a:xfrm>
          <a:prstGeom prst="rect">
            <a:avLst/>
          </a:prstGeom>
          <a:noFill/>
          <a:ln/>
        </p:spPr>
        <p:txBody>
          <a:bodyPr wrap="square" lIns="0" tIns="0" rIns="0" bIns="0" rtlCol="0" anchor="t"/>
          <a:lstStyle/>
          <a:p>
            <a:pPr indent="0" marL="0">
              <a:buNone/>
            </a:pPr>
            <a:r>
              <a:rPr lang="en-US" sz="950" i="1" dirty="0">
                <a:solidFill>
                  <a:srgbClr val="374151"/>
                </a:solidFill>
                <a:latin typeface="Calibri" pitchFamily="34" charset="0"/>
                <a:ea typeface="Calibri" pitchFamily="34" charset="-122"/>
                <a:cs typeface="Calibri" pitchFamily="34" charset="-120"/>
              </a:rPr>
              <a:t>STIMULUS: "The port city of Malacca, founded around 1400, became the most important trading entrepot in Southeast Asia. Its ruler converted to Islam around 1414, and within decades, Islam had spread to dozens of other port cities and kingdoms across the Indonesian archipelago."</a:t>
            </a:r>
            <a:endParaRPr lang="en-US" sz="950" dirty="0"/>
          </a:p>
        </p:txBody>
      </p:sp>
      <p:sp>
        <p:nvSpPr>
          <p:cNvPr id="22" name="Text 20"/>
          <p:cNvSpPr/>
          <p:nvPr/>
        </p:nvSpPr>
        <p:spPr>
          <a:xfrm>
            <a:off x="320040" y="3474720"/>
            <a:ext cx="8485632" cy="256032"/>
          </a:xfrm>
          <a:prstGeom prst="rect">
            <a:avLst/>
          </a:prstGeom>
          <a:noFill/>
          <a:ln/>
        </p:spPr>
        <p:txBody>
          <a:bodyPr wrap="square" lIns="0" tIns="0" rIns="0" bIns="0" rtlCol="0" anchor="ctr"/>
          <a:lstStyle/>
          <a:p>
            <a:pPr indent="0" marL="0">
              <a:buNone/>
            </a:pPr>
            <a:r>
              <a:rPr lang="en-US" sz="1000" b="1" dirty="0">
                <a:solidFill>
                  <a:srgbClr val="1A1A2E"/>
                </a:solidFill>
                <a:latin typeface="Calibri" pitchFamily="34" charset="0"/>
                <a:ea typeface="Calibri" pitchFamily="34" charset="-122"/>
                <a:cs typeface="Calibri" pitchFamily="34" charset="-120"/>
              </a:rPr>
              <a:t>Q2. The pattern described in the passage most directly illustrates which of the following about the spread of Islam in Southeast Asia?</a:t>
            </a:r>
            <a:endParaRPr lang="en-US" sz="1000" dirty="0"/>
          </a:p>
        </p:txBody>
      </p:sp>
      <p:sp>
        <p:nvSpPr>
          <p:cNvPr id="23" name="Shape 21"/>
          <p:cNvSpPr/>
          <p:nvPr/>
        </p:nvSpPr>
        <p:spPr>
          <a:xfrm>
            <a:off x="320040" y="3767328"/>
            <a:ext cx="219456" cy="210312"/>
          </a:xfrm>
          <a:prstGeom prst="rect">
            <a:avLst/>
          </a:prstGeom>
          <a:solidFill>
            <a:srgbClr val="D1D5DB"/>
          </a:solidFill>
          <a:ln w="12700">
            <a:solidFill>
              <a:srgbClr val="D1D5DB"/>
            </a:solidFill>
            <a:prstDash val="solid"/>
          </a:ln>
        </p:spPr>
      </p:sp>
      <p:sp>
        <p:nvSpPr>
          <p:cNvPr id="24" name="Text 22"/>
          <p:cNvSpPr/>
          <p:nvPr/>
        </p:nvSpPr>
        <p:spPr>
          <a:xfrm>
            <a:off x="594360" y="3776472"/>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A) Islam spread to Southeast Asia primarily through military conquest by Muslim armies from India.</a:t>
            </a:r>
            <a:endParaRPr lang="en-US" sz="950" dirty="0"/>
          </a:p>
        </p:txBody>
      </p:sp>
      <p:sp>
        <p:nvSpPr>
          <p:cNvPr id="25" name="Shape 23"/>
          <p:cNvSpPr/>
          <p:nvPr/>
        </p:nvSpPr>
        <p:spPr>
          <a:xfrm>
            <a:off x="320040" y="4014216"/>
            <a:ext cx="219456" cy="210312"/>
          </a:xfrm>
          <a:prstGeom prst="rect">
            <a:avLst/>
          </a:prstGeom>
          <a:solidFill>
            <a:srgbClr val="1B5E3B"/>
          </a:solidFill>
          <a:ln w="12700">
            <a:solidFill>
              <a:srgbClr val="1B5E3B"/>
            </a:solidFill>
            <a:prstDash val="solid"/>
          </a:ln>
        </p:spPr>
      </p:sp>
      <p:sp>
        <p:nvSpPr>
          <p:cNvPr id="26" name="Text 24"/>
          <p:cNvSpPr/>
          <p:nvPr/>
        </p:nvSpPr>
        <p:spPr>
          <a:xfrm>
            <a:off x="594360" y="4023360"/>
            <a:ext cx="8275320" cy="210312"/>
          </a:xfrm>
          <a:prstGeom prst="rect">
            <a:avLst/>
          </a:prstGeom>
          <a:noFill/>
          <a:ln/>
        </p:spPr>
        <p:txBody>
          <a:bodyPr wrap="square" lIns="0" tIns="0" rIns="0" bIns="0" rtlCol="0" anchor="ctr"/>
          <a:lstStyle/>
          <a:p>
            <a:pPr indent="0" marL="0">
              <a:buNone/>
            </a:pPr>
            <a:r>
              <a:rPr lang="en-US" sz="950" b="1" dirty="0">
                <a:solidFill>
                  <a:srgbClr val="1B5E3B"/>
                </a:solidFill>
                <a:latin typeface="Calibri" pitchFamily="34" charset="0"/>
                <a:ea typeface="Calibri" pitchFamily="34" charset="-122"/>
                <a:cs typeface="Calibri" pitchFamily="34" charset="-120"/>
              </a:rPr>
              <a:t>B) The conversion of trading rulers to Islam spread the religion through commercial networks rather than conquest.</a:t>
            </a:r>
            <a:endParaRPr lang="en-US" sz="950" dirty="0"/>
          </a:p>
        </p:txBody>
      </p:sp>
      <p:sp>
        <p:nvSpPr>
          <p:cNvPr id="27" name="Shape 25"/>
          <p:cNvSpPr/>
          <p:nvPr/>
        </p:nvSpPr>
        <p:spPr>
          <a:xfrm>
            <a:off x="320040" y="4261104"/>
            <a:ext cx="219456" cy="210312"/>
          </a:xfrm>
          <a:prstGeom prst="rect">
            <a:avLst/>
          </a:prstGeom>
          <a:solidFill>
            <a:srgbClr val="D1D5DB"/>
          </a:solidFill>
          <a:ln w="12700">
            <a:solidFill>
              <a:srgbClr val="D1D5DB"/>
            </a:solidFill>
            <a:prstDash val="solid"/>
          </a:ln>
        </p:spPr>
      </p:sp>
      <p:sp>
        <p:nvSpPr>
          <p:cNvPr id="28" name="Text 26"/>
          <p:cNvSpPr/>
          <p:nvPr/>
        </p:nvSpPr>
        <p:spPr>
          <a:xfrm>
            <a:off x="594360" y="4270248"/>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C) Islam replaced Hinduism and Buddhism entirely in Southeast Asia during the 15th century.</a:t>
            </a:r>
            <a:endParaRPr lang="en-US" sz="950" dirty="0"/>
          </a:p>
        </p:txBody>
      </p:sp>
      <p:sp>
        <p:nvSpPr>
          <p:cNvPr id="29" name="Shape 27"/>
          <p:cNvSpPr/>
          <p:nvPr/>
        </p:nvSpPr>
        <p:spPr>
          <a:xfrm>
            <a:off x="320040" y="4507992"/>
            <a:ext cx="219456" cy="210312"/>
          </a:xfrm>
          <a:prstGeom prst="rect">
            <a:avLst/>
          </a:prstGeom>
          <a:solidFill>
            <a:srgbClr val="D1D5DB"/>
          </a:solidFill>
          <a:ln w="12700">
            <a:solidFill>
              <a:srgbClr val="D1D5DB"/>
            </a:solidFill>
            <a:prstDash val="solid"/>
          </a:ln>
        </p:spPr>
      </p:sp>
      <p:sp>
        <p:nvSpPr>
          <p:cNvPr id="30" name="Text 28"/>
          <p:cNvSpPr/>
          <p:nvPr/>
        </p:nvSpPr>
        <p:spPr>
          <a:xfrm>
            <a:off x="594360" y="4517136"/>
            <a:ext cx="8275320" cy="210312"/>
          </a:xfrm>
          <a:prstGeom prst="rect">
            <a:avLst/>
          </a:prstGeom>
          <a:noFill/>
          <a:ln/>
        </p:spPr>
        <p:txBody>
          <a:bodyPr wrap="square" lIns="0" tIns="0" rIns="0" bIns="0" rtlCol="0" anchor="ctr"/>
          <a:lstStyle/>
          <a:p>
            <a:pPr indent="0" marL="0">
              <a:buNone/>
            </a:pPr>
            <a:r>
              <a:rPr lang="en-US" sz="950" dirty="0">
                <a:solidFill>
                  <a:srgbClr val="374151"/>
                </a:solidFill>
                <a:latin typeface="Calibri" pitchFamily="34" charset="0"/>
                <a:ea typeface="Calibri" pitchFamily="34" charset="-122"/>
                <a:cs typeface="Calibri" pitchFamily="34" charset="-120"/>
              </a:rPr>
              <a:t>D) European merchants introduced Islam to Southeast Asian port cities during this period.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AP Practice: Short Answer Question (SAQ)</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3-5 sentences per part. No thesis. Back every claim with specific historical evidence.</a:t>
            </a:r>
            <a:endParaRPr lang="en-US" sz="1000" dirty="0"/>
          </a:p>
        </p:txBody>
      </p:sp>
      <p:sp>
        <p:nvSpPr>
          <p:cNvPr id="9" name="Shape 7"/>
          <p:cNvSpPr/>
          <p:nvPr/>
        </p:nvSpPr>
        <p:spPr>
          <a:xfrm>
            <a:off x="182880" y="987552"/>
            <a:ext cx="8778240" cy="658368"/>
          </a:xfrm>
          <a:prstGeom prst="rect">
            <a:avLst/>
          </a:prstGeom>
          <a:solidFill>
            <a:srgbClr val="1B3A6B"/>
          </a:solidFill>
          <a:ln w="12700">
            <a:solidFill>
              <a:srgbClr val="1B3A6B"/>
            </a:solidFill>
            <a:prstDash val="solid"/>
          </a:ln>
        </p:spPr>
      </p:sp>
      <p:sp>
        <p:nvSpPr>
          <p:cNvPr id="10" name="Text 8"/>
          <p:cNvSpPr/>
          <p:nvPr/>
        </p:nvSpPr>
        <p:spPr>
          <a:xfrm>
            <a:off x="320040" y="1024128"/>
            <a:ext cx="1645920" cy="237744"/>
          </a:xfrm>
          <a:prstGeom prst="rect">
            <a:avLst/>
          </a:prstGeom>
          <a:noFill/>
          <a:ln/>
        </p:spPr>
        <p:txBody>
          <a:bodyPr wrap="square" lIns="0" tIns="0" rIns="0" bIns="0" rtlCol="0" anchor="ctr"/>
          <a:lstStyle/>
          <a:p>
            <a:pPr indent="0" marL="0">
              <a:buNone/>
            </a:pPr>
            <a:r>
              <a:rPr lang="en-US" sz="900" b="1" spc="200" kern="0" dirty="0">
                <a:solidFill>
                  <a:srgbClr val="E8C97A"/>
                </a:solidFill>
                <a:latin typeface="Trebuchet MS" pitchFamily="34" charset="0"/>
                <a:ea typeface="Trebuchet MS" pitchFamily="34" charset="-122"/>
                <a:cs typeface="Trebuchet MS" pitchFamily="34" charset="-120"/>
              </a:rPr>
              <a:t>SAQ PROMPT</a:t>
            </a:r>
            <a:endParaRPr lang="en-US" sz="900" dirty="0"/>
          </a:p>
        </p:txBody>
      </p:sp>
      <p:sp>
        <p:nvSpPr>
          <p:cNvPr id="11" name="Text 9"/>
          <p:cNvSpPr/>
          <p:nvPr/>
        </p:nvSpPr>
        <p:spPr>
          <a:xfrm>
            <a:off x="320040" y="1261872"/>
            <a:ext cx="8458200" cy="347472"/>
          </a:xfrm>
          <a:prstGeom prst="rect">
            <a:avLst/>
          </a:prstGeom>
          <a:noFill/>
          <a:ln/>
        </p:spPr>
        <p:txBody>
          <a:bodyPr wrap="square" lIns="0" tIns="0" rIns="0" bIns="0" rtlCol="0" anchor="t"/>
          <a:lstStyle/>
          <a:p>
            <a:pPr indent="0" marL="0">
              <a:buNone/>
            </a:pPr>
            <a:r>
              <a:rPr lang="en-US" sz="1000" i="1" dirty="0">
                <a:solidFill>
                  <a:srgbClr val="FFFFFF"/>
                </a:solidFill>
                <a:latin typeface="Calibri" pitchFamily="34" charset="0"/>
                <a:ea typeface="Calibri" pitchFamily="34" charset="-122"/>
                <a:cs typeface="Calibri" pitchFamily="34" charset="-120"/>
              </a:rPr>
              <a:t>Use the following argument: "The Indian Ocean trade network was the central force shaping political, cultural, and religious developments in South and Southeast Asia between 1200 and 1450."</a:t>
            </a:r>
            <a:endParaRPr lang="en-US" sz="1000" dirty="0"/>
          </a:p>
        </p:txBody>
      </p:sp>
      <p:sp>
        <p:nvSpPr>
          <p:cNvPr id="12" name="Shape 10"/>
          <p:cNvSpPr/>
          <p:nvPr/>
        </p:nvSpPr>
        <p:spPr>
          <a:xfrm>
            <a:off x="1828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3" name="Shape 11"/>
          <p:cNvSpPr/>
          <p:nvPr/>
        </p:nvSpPr>
        <p:spPr>
          <a:xfrm>
            <a:off x="182880" y="1737360"/>
            <a:ext cx="2834640" cy="320040"/>
          </a:xfrm>
          <a:prstGeom prst="rect">
            <a:avLst/>
          </a:prstGeom>
          <a:solidFill>
            <a:srgbClr val="B5432A"/>
          </a:solidFill>
          <a:ln w="12700">
            <a:solidFill>
              <a:srgbClr val="B5432A"/>
            </a:solidFill>
            <a:prstDash val="solid"/>
          </a:ln>
        </p:spPr>
      </p:sp>
      <p:sp>
        <p:nvSpPr>
          <p:cNvPr id="14" name="Text 12"/>
          <p:cNvSpPr/>
          <p:nvPr/>
        </p:nvSpPr>
        <p:spPr>
          <a:xfrm>
            <a:off x="2560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A</a:t>
            </a:r>
            <a:endParaRPr lang="en-US" sz="1100" dirty="0"/>
          </a:p>
        </p:txBody>
      </p:sp>
      <p:sp>
        <p:nvSpPr>
          <p:cNvPr id="15" name="Text 13"/>
          <p:cNvSpPr/>
          <p:nvPr/>
        </p:nvSpPr>
        <p:spPr>
          <a:xfrm>
            <a:off x="2743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the Indian Ocean trade network shaped political development in South or Southeast Asia.</a:t>
            </a:r>
            <a:endParaRPr lang="en-US" sz="1000" dirty="0"/>
          </a:p>
        </p:txBody>
      </p:sp>
      <p:sp>
        <p:nvSpPr>
          <p:cNvPr id="16" name="Text 14"/>
          <p:cNvSpPr/>
          <p:nvPr/>
        </p:nvSpPr>
        <p:spPr>
          <a:xfrm>
            <a:off x="274320" y="2798064"/>
            <a:ext cx="2651760" cy="228600"/>
          </a:xfrm>
          <a:prstGeom prst="rect">
            <a:avLst/>
          </a:prstGeom>
          <a:noFill/>
          <a:ln/>
        </p:spPr>
        <p:txBody>
          <a:bodyPr wrap="square" lIns="0" tIns="0" rIns="0" bIns="0" rtlCol="0" anchor="ctr"/>
          <a:lstStyle/>
          <a:p>
            <a:pPr indent="0" marL="0">
              <a:buNone/>
            </a:pPr>
            <a:r>
              <a:rPr lang="en-US" sz="900" b="1" dirty="0">
                <a:solidFill>
                  <a:srgbClr val="B5432A"/>
                </a:solidFill>
                <a:latin typeface="Trebuchet MS" pitchFamily="34" charset="0"/>
                <a:ea typeface="Trebuchet MS" pitchFamily="34" charset="-122"/>
                <a:cs typeface="Trebuchet MS" pitchFamily="34" charset="-120"/>
              </a:rPr>
              <a:t>A top response includes:</a:t>
            </a:r>
            <a:endParaRPr lang="en-US" sz="900" dirty="0"/>
          </a:p>
        </p:txBody>
      </p:sp>
      <p:sp>
        <p:nvSpPr>
          <p:cNvPr id="17" name="Text 15"/>
          <p:cNvSpPr/>
          <p:nvPr/>
        </p:nvSpPr>
        <p:spPr>
          <a:xfrm>
            <a:off x="2743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Delhi Sultanate controlled Indian trade ports / Malacca's rise tied to trade chokepoint / Khmer declined as maritime trade bypassed its inland capital / Majapahit wealth from controlling archipelago trade routes</a:t>
            </a:r>
            <a:endParaRPr lang="en-US" sz="950" dirty="0"/>
          </a:p>
        </p:txBody>
      </p:sp>
      <p:sp>
        <p:nvSpPr>
          <p:cNvPr id="18" name="Shape 16"/>
          <p:cNvSpPr/>
          <p:nvPr/>
        </p:nvSpPr>
        <p:spPr>
          <a:xfrm>
            <a:off x="31546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19" name="Shape 17"/>
          <p:cNvSpPr/>
          <p:nvPr/>
        </p:nvSpPr>
        <p:spPr>
          <a:xfrm>
            <a:off x="3154680" y="1737360"/>
            <a:ext cx="2834640" cy="320040"/>
          </a:xfrm>
          <a:prstGeom prst="rect">
            <a:avLst/>
          </a:prstGeom>
          <a:solidFill>
            <a:srgbClr val="1B5E3B"/>
          </a:solidFill>
          <a:ln w="12700">
            <a:solidFill>
              <a:srgbClr val="1B5E3B"/>
            </a:solidFill>
            <a:prstDash val="solid"/>
          </a:ln>
        </p:spPr>
      </p:sp>
      <p:sp>
        <p:nvSpPr>
          <p:cNvPr id="20" name="Text 18"/>
          <p:cNvSpPr/>
          <p:nvPr/>
        </p:nvSpPr>
        <p:spPr>
          <a:xfrm>
            <a:off x="32278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B</a:t>
            </a:r>
            <a:endParaRPr lang="en-US" sz="1100" dirty="0"/>
          </a:p>
        </p:txBody>
      </p:sp>
      <p:sp>
        <p:nvSpPr>
          <p:cNvPr id="21" name="Text 19"/>
          <p:cNvSpPr/>
          <p:nvPr/>
        </p:nvSpPr>
        <p:spPr>
          <a:xfrm>
            <a:off x="32461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way the Indian Ocean trade network facilitated the spread of a religion or culture.</a:t>
            </a:r>
            <a:endParaRPr lang="en-US" sz="1000" dirty="0"/>
          </a:p>
        </p:txBody>
      </p:sp>
      <p:sp>
        <p:nvSpPr>
          <p:cNvPr id="22" name="Text 20"/>
          <p:cNvSpPr/>
          <p:nvPr/>
        </p:nvSpPr>
        <p:spPr>
          <a:xfrm>
            <a:off x="3246120" y="2798064"/>
            <a:ext cx="2651760" cy="228600"/>
          </a:xfrm>
          <a:prstGeom prst="rect">
            <a:avLst/>
          </a:prstGeom>
          <a:noFill/>
          <a:ln/>
        </p:spPr>
        <p:txBody>
          <a:bodyPr wrap="square" lIns="0" tIns="0" rIns="0" bIns="0" rtlCol="0" anchor="ctr"/>
          <a:lstStyle/>
          <a:p>
            <a:pPr indent="0" marL="0">
              <a:buNone/>
            </a:pPr>
            <a:r>
              <a:rPr lang="en-US" sz="900" b="1" dirty="0">
                <a:solidFill>
                  <a:srgbClr val="1B5E3B"/>
                </a:solidFill>
                <a:latin typeface="Trebuchet MS" pitchFamily="34" charset="0"/>
                <a:ea typeface="Trebuchet MS" pitchFamily="34" charset="-122"/>
                <a:cs typeface="Trebuchet MS" pitchFamily="34" charset="-120"/>
              </a:rPr>
              <a:t>A top response includes:</a:t>
            </a:r>
            <a:endParaRPr lang="en-US" sz="900" dirty="0"/>
          </a:p>
        </p:txBody>
      </p:sp>
      <p:sp>
        <p:nvSpPr>
          <p:cNvPr id="23" name="Text 21"/>
          <p:cNvSpPr/>
          <p:nvPr/>
        </p:nvSpPr>
        <p:spPr>
          <a:xfrm>
            <a:off x="32461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Islam spread via Muslim merchants to Malacca and SE Asian ports / Indianization: Hindu-Buddhist concepts spread to SE Asian courts via Indian merchants / Chinese porcelain and Indian textiles spread along trade routes as luxury goods</a:t>
            </a:r>
            <a:endParaRPr lang="en-US" sz="950" dirty="0"/>
          </a:p>
        </p:txBody>
      </p:sp>
      <p:sp>
        <p:nvSpPr>
          <p:cNvPr id="24" name="Shape 22"/>
          <p:cNvSpPr/>
          <p:nvPr/>
        </p:nvSpPr>
        <p:spPr>
          <a:xfrm>
            <a:off x="6126480" y="1737360"/>
            <a:ext cx="2834640" cy="3035808"/>
          </a:xfrm>
          <a:prstGeom prst="rect">
            <a:avLst/>
          </a:prstGeom>
          <a:solidFill>
            <a:srgbClr val="FFFFFF"/>
          </a:solidFill>
          <a:ln/>
          <a:effectLst>
            <a:outerShdw sx="100000" sy="100000" kx="0" ky="0" algn="bl" rotWithShape="0" blurRad="63500" dist="25400" dir="8100000">
              <a:srgbClr val="000000">
                <a:alpha val="12000"/>
              </a:srgbClr>
            </a:outerShdw>
          </a:effectLst>
        </p:spPr>
      </p:sp>
      <p:sp>
        <p:nvSpPr>
          <p:cNvPr id="25" name="Shape 23"/>
          <p:cNvSpPr/>
          <p:nvPr/>
        </p:nvSpPr>
        <p:spPr>
          <a:xfrm>
            <a:off x="6126480" y="1737360"/>
            <a:ext cx="2834640" cy="320040"/>
          </a:xfrm>
          <a:prstGeom prst="rect">
            <a:avLst/>
          </a:prstGeom>
          <a:solidFill>
            <a:srgbClr val="2A5298"/>
          </a:solidFill>
          <a:ln w="12700">
            <a:solidFill>
              <a:srgbClr val="2A5298"/>
            </a:solidFill>
            <a:prstDash val="solid"/>
          </a:ln>
        </p:spPr>
      </p:sp>
      <p:sp>
        <p:nvSpPr>
          <p:cNvPr id="26" name="Text 24"/>
          <p:cNvSpPr/>
          <p:nvPr/>
        </p:nvSpPr>
        <p:spPr>
          <a:xfrm>
            <a:off x="6199632" y="1737360"/>
            <a:ext cx="2743200" cy="320040"/>
          </a:xfrm>
          <a:prstGeom prst="rect">
            <a:avLst/>
          </a:prstGeom>
          <a:noFill/>
          <a:ln/>
        </p:spPr>
        <p:txBody>
          <a:bodyPr wrap="square" lIns="0" tIns="0" rIns="0" bIns="0" rtlCol="0" anchor="ctr"/>
          <a:lstStyle/>
          <a:p>
            <a:pPr indent="0" marL="0">
              <a:buNone/>
            </a:pPr>
            <a:r>
              <a:rPr lang="en-US" sz="1100" b="1" dirty="0">
                <a:solidFill>
                  <a:srgbClr val="FFFFFF"/>
                </a:solidFill>
                <a:latin typeface="Trebuchet MS" pitchFamily="34" charset="0"/>
                <a:ea typeface="Trebuchet MS" pitchFamily="34" charset="-122"/>
                <a:cs typeface="Trebuchet MS" pitchFamily="34" charset="-120"/>
              </a:rPr>
              <a:t>PART C</a:t>
            </a:r>
            <a:endParaRPr lang="en-US" sz="1100" dirty="0"/>
          </a:p>
        </p:txBody>
      </p:sp>
      <p:sp>
        <p:nvSpPr>
          <p:cNvPr id="27" name="Text 25"/>
          <p:cNvSpPr/>
          <p:nvPr/>
        </p:nvSpPr>
        <p:spPr>
          <a:xfrm>
            <a:off x="6217920" y="2103120"/>
            <a:ext cx="2651760" cy="658368"/>
          </a:xfrm>
          <a:prstGeom prst="rect">
            <a:avLst/>
          </a:prstGeom>
          <a:noFill/>
          <a:ln/>
        </p:spPr>
        <p:txBody>
          <a:bodyPr wrap="square" lIns="0" tIns="0" rIns="0" bIns="0" rtlCol="0" anchor="t"/>
          <a:lstStyle/>
          <a:p>
            <a:pPr indent="0" marL="0">
              <a:buNone/>
            </a:pPr>
            <a:r>
              <a:rPr lang="en-US" sz="1000" b="1" dirty="0">
                <a:solidFill>
                  <a:srgbClr val="1A1A2E"/>
                </a:solidFill>
                <a:latin typeface="Calibri" pitchFamily="34" charset="0"/>
                <a:ea typeface="Calibri" pitchFamily="34" charset="-122"/>
                <a:cs typeface="Calibri" pitchFamily="34" charset="-120"/>
              </a:rPr>
              <a:t>Explain ONE limitation of the argument that trade alone explains developments in South and Southeast Asia.</a:t>
            </a:r>
            <a:endParaRPr lang="en-US" sz="1000" dirty="0"/>
          </a:p>
        </p:txBody>
      </p:sp>
      <p:sp>
        <p:nvSpPr>
          <p:cNvPr id="28" name="Text 26"/>
          <p:cNvSpPr/>
          <p:nvPr/>
        </p:nvSpPr>
        <p:spPr>
          <a:xfrm>
            <a:off x="6217920" y="2798064"/>
            <a:ext cx="2651760" cy="228600"/>
          </a:xfrm>
          <a:prstGeom prst="rect">
            <a:avLst/>
          </a:prstGeom>
          <a:noFill/>
          <a:ln/>
        </p:spPr>
        <p:txBody>
          <a:bodyPr wrap="square" lIns="0" tIns="0" rIns="0" bIns="0" rtlCol="0" anchor="ctr"/>
          <a:lstStyle/>
          <a:p>
            <a:pPr indent="0" marL="0">
              <a:buNone/>
            </a:pPr>
            <a:r>
              <a:rPr lang="en-US" sz="900" b="1" dirty="0">
                <a:solidFill>
                  <a:srgbClr val="2A5298"/>
                </a:solidFill>
                <a:latin typeface="Trebuchet MS" pitchFamily="34" charset="0"/>
                <a:ea typeface="Trebuchet MS" pitchFamily="34" charset="-122"/>
                <a:cs typeface="Trebuchet MS" pitchFamily="34" charset="-120"/>
              </a:rPr>
              <a:t>A top response includes:</a:t>
            </a:r>
            <a:endParaRPr lang="en-US" sz="900" dirty="0"/>
          </a:p>
        </p:txBody>
      </p:sp>
      <p:sp>
        <p:nvSpPr>
          <p:cNvPr id="29" name="Text 27"/>
          <p:cNvSpPr/>
          <p:nvPr/>
        </p:nvSpPr>
        <p:spPr>
          <a:xfrm>
            <a:off x="6217920" y="3035808"/>
            <a:ext cx="2651760" cy="1627632"/>
          </a:xfrm>
          <a:prstGeom prst="rect">
            <a:avLst/>
          </a:prstGeom>
          <a:noFill/>
          <a:ln/>
        </p:spPr>
        <p:txBody>
          <a:bodyPr wrap="square" lIns="0" tIns="0" rIns="0" bIns="0" rtlCol="0" anchor="t"/>
          <a:lstStyle/>
          <a:p>
            <a:pPr indent="0" marL="0">
              <a:buNone/>
            </a:pPr>
            <a:r>
              <a:rPr lang="en-US" sz="950" dirty="0">
                <a:solidFill>
                  <a:srgbClr val="374151"/>
                </a:solidFill>
                <a:latin typeface="Calibri" pitchFamily="34" charset="0"/>
                <a:ea typeface="Calibri" pitchFamily="34" charset="-122"/>
                <a:cs typeface="Calibri" pitchFamily="34" charset="-120"/>
              </a:rPr>
              <a:t>Delhi Sultanate established through military conquest, not trade / Khmer Empire was inland -- based on hydraulic agriculture, not ocean trade / Religious change also driven by Sufi missionaries, not just merchants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B3A6B"/>
          </a:solidFill>
          <a:ln w="12700">
            <a:solidFill>
              <a:srgbClr val="1B3A6B"/>
            </a:solidFill>
            <a:prstDash val="solid"/>
          </a:ln>
        </p:spPr>
      </p:sp>
      <p:sp>
        <p:nvSpPr>
          <p:cNvPr id="3" name="Shape 1"/>
          <p:cNvSpPr/>
          <p:nvPr/>
        </p:nvSpPr>
        <p:spPr>
          <a:xfrm>
            <a:off x="0" y="0"/>
            <a:ext cx="118872" cy="603504"/>
          </a:xfrm>
          <a:prstGeom prst="rect">
            <a:avLst/>
          </a:prstGeom>
          <a:solidFill>
            <a:srgbClr val="C8853A"/>
          </a:solidFill>
          <a:ln w="12700">
            <a:solidFill>
              <a:srgbClr val="C8853A"/>
            </a:solidFill>
            <a:prstDash val="solid"/>
          </a:ln>
        </p:spPr>
      </p:sp>
      <p:sp>
        <p:nvSpPr>
          <p:cNvPr id="4" name="Text 2"/>
          <p:cNvSpPr/>
          <p:nvPr/>
        </p:nvSpPr>
        <p:spPr>
          <a:xfrm>
            <a:off x="201168" y="0"/>
            <a:ext cx="7315200" cy="603504"/>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Connections: How Chapter 3 Fits the AP Arc</a:t>
            </a:r>
            <a:endParaRPr lang="en-US" sz="1800" dirty="0"/>
          </a:p>
        </p:txBody>
      </p:sp>
      <p:sp>
        <p:nvSpPr>
          <p:cNvPr id="5" name="Text 3"/>
          <p:cNvSpPr/>
          <p:nvPr/>
        </p:nvSpPr>
        <p:spPr>
          <a:xfrm>
            <a:off x="7406640" y="0"/>
            <a:ext cx="1645920" cy="603504"/>
          </a:xfrm>
          <a:prstGeom prst="rect">
            <a:avLst/>
          </a:prstGeom>
          <a:noFill/>
          <a:ln/>
        </p:spPr>
        <p:txBody>
          <a:bodyPr wrap="square" lIns="0" tIns="0" rIns="0" bIns="0" rtlCol="0" anchor="ctr"/>
          <a:lstStyle/>
          <a:p>
            <a:pPr algn="r" indent="0" marL="0">
              <a:buNone/>
            </a:pPr>
            <a:r>
              <a:rPr lang="en-US" sz="900" dirty="0">
                <a:solidFill>
                  <a:srgbClr val="E8C97A"/>
                </a:solidFill>
                <a:latin typeface="Calibri" pitchFamily="34" charset="0"/>
                <a:ea typeface="Calibri" pitchFamily="34" charset="-122"/>
                <a:cs typeface="Calibri" pitchFamily="34" charset="-120"/>
              </a:rPr>
              <a:t>Ch.3 · Unit 1 · Period 1</a:t>
            </a:r>
            <a:endParaRPr lang="en-US" sz="900" dirty="0"/>
          </a:p>
        </p:txBody>
      </p:sp>
      <p:sp>
        <p:nvSpPr>
          <p:cNvPr id="6" name="Shape 4"/>
          <p:cNvSpPr/>
          <p:nvPr/>
        </p:nvSpPr>
        <p:spPr>
          <a:xfrm>
            <a:off x="0" y="4855464"/>
            <a:ext cx="9144000" cy="288036"/>
          </a:xfrm>
          <a:prstGeom prst="rect">
            <a:avLst/>
          </a:prstGeom>
          <a:solidFill>
            <a:srgbClr val="1B3A6B"/>
          </a:solidFill>
          <a:ln w="12700">
            <a:solidFill>
              <a:srgbClr val="1B3A6B"/>
            </a:solidFill>
            <a:prstDash val="solid"/>
          </a:ln>
        </p:spPr>
      </p:sp>
      <p:sp>
        <p:nvSpPr>
          <p:cNvPr id="7" name="Text 5"/>
          <p:cNvSpPr/>
          <p:nvPr/>
        </p:nvSpPr>
        <p:spPr>
          <a:xfrm>
            <a:off x="182880" y="4873752"/>
            <a:ext cx="8778240" cy="256032"/>
          </a:xfrm>
          <a:prstGeom prst="rect">
            <a:avLst/>
          </a:prstGeom>
          <a:noFill/>
          <a:ln/>
        </p:spPr>
        <p:txBody>
          <a:bodyPr wrap="square" lIns="0" tIns="0" rIns="0" bIns="0" rtlCol="0" anchor="ctr"/>
          <a:lstStyle/>
          <a:p>
            <a:pPr indent="0" marL="0">
              <a:buNone/>
            </a:pPr>
            <a:r>
              <a:rPr lang="en-US" sz="850" dirty="0">
                <a:solidFill>
                  <a:srgbClr val="E8C97A"/>
                </a:solidFill>
                <a:latin typeface="Calibri" pitchFamily="34" charset="0"/>
                <a:ea typeface="Calibri" pitchFamily="34" charset="-122"/>
                <a:cs typeface="Calibri" pitchFamily="34" charset="-120"/>
              </a:rPr>
              <a:t>AP World History: Modern  ·  Unit 1: The Global Tapestry  ·  Period 1  ·  1200-1450</a:t>
            </a:r>
            <a:endParaRPr lang="en-US" sz="850" dirty="0"/>
          </a:p>
        </p:txBody>
      </p:sp>
      <p:sp>
        <p:nvSpPr>
          <p:cNvPr id="8" name="Text 6"/>
          <p:cNvSpPr/>
          <p:nvPr/>
        </p:nvSpPr>
        <p:spPr>
          <a:xfrm>
            <a:off x="182880" y="704088"/>
            <a:ext cx="8778240" cy="237744"/>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Use these links to write stronger comparative essays and CCOT arguments</a:t>
            </a:r>
            <a:endParaRPr lang="en-US" sz="1000" dirty="0"/>
          </a:p>
        </p:txBody>
      </p:sp>
      <p:sp>
        <p:nvSpPr>
          <p:cNvPr id="9" name="Shape 7"/>
          <p:cNvSpPr/>
          <p:nvPr/>
        </p:nvSpPr>
        <p:spPr>
          <a:xfrm>
            <a:off x="182880" y="987552"/>
            <a:ext cx="2834640" cy="347472"/>
          </a:xfrm>
          <a:prstGeom prst="rect">
            <a:avLst/>
          </a:prstGeom>
          <a:solidFill>
            <a:srgbClr val="2A5298"/>
          </a:solidFill>
          <a:ln w="12700">
            <a:solidFill>
              <a:srgbClr val="2A5298"/>
            </a:solidFill>
            <a:prstDash val="solid"/>
          </a:ln>
        </p:spPr>
      </p:sp>
      <p:sp>
        <p:nvSpPr>
          <p:cNvPr id="10" name="Text 8"/>
          <p:cNvSpPr/>
          <p:nvPr/>
        </p:nvSpPr>
        <p:spPr>
          <a:xfrm>
            <a:off x="256032"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BUILT ON (Earlier)</a:t>
            </a:r>
            <a:endParaRPr lang="en-US" sz="1000" dirty="0"/>
          </a:p>
        </p:txBody>
      </p:sp>
      <p:sp>
        <p:nvSpPr>
          <p:cNvPr id="11" name="Shape 9"/>
          <p:cNvSpPr/>
          <p:nvPr/>
        </p:nvSpPr>
        <p:spPr>
          <a:xfrm>
            <a:off x="182880" y="1335024"/>
            <a:ext cx="2834640" cy="3383280"/>
          </a:xfrm>
          <a:prstGeom prst="rect">
            <a:avLst/>
          </a:prstGeom>
          <a:solidFill>
            <a:srgbClr val="E3F0FF"/>
          </a:solidFill>
          <a:ln w="12700">
            <a:solidFill>
              <a:srgbClr val="2A5298"/>
            </a:solidFill>
            <a:prstDash val="solid"/>
          </a:ln>
        </p:spPr>
      </p:sp>
      <p:sp>
        <p:nvSpPr>
          <p:cNvPr id="12" name="Text 10"/>
          <p:cNvSpPr/>
          <p:nvPr/>
        </p:nvSpPr>
        <p:spPr>
          <a:xfrm>
            <a:off x="292608"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Ancient Indian Ocean trade routes (pre-1200 CE)</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Gupta Empire's Hindu cultural foundations in India</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Classical Khmer and Pagan Buddhist civilizations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Arab and Persian domination of Indian Ocean trade</a:t>
            </a:r>
            <a:endParaRPr lang="en-US" sz="1050" dirty="0"/>
          </a:p>
        </p:txBody>
      </p:sp>
      <p:sp>
        <p:nvSpPr>
          <p:cNvPr id="13" name="Shape 11"/>
          <p:cNvSpPr/>
          <p:nvPr/>
        </p:nvSpPr>
        <p:spPr>
          <a:xfrm>
            <a:off x="3136392" y="987552"/>
            <a:ext cx="2834640" cy="347472"/>
          </a:xfrm>
          <a:prstGeom prst="rect">
            <a:avLst/>
          </a:prstGeom>
          <a:solidFill>
            <a:srgbClr val="1B5E3B"/>
          </a:solidFill>
          <a:ln w="12700">
            <a:solidFill>
              <a:srgbClr val="1B5E3B"/>
            </a:solidFill>
            <a:prstDash val="solid"/>
          </a:ln>
        </p:spPr>
      </p:sp>
      <p:sp>
        <p:nvSpPr>
          <p:cNvPr id="14" name="Text 12"/>
          <p:cNvSpPr/>
          <p:nvPr/>
        </p:nvSpPr>
        <p:spPr>
          <a:xfrm>
            <a:off x="3209544"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SETS UP (Later Chapters)</a:t>
            </a:r>
            <a:endParaRPr lang="en-US" sz="1000" dirty="0"/>
          </a:p>
        </p:txBody>
      </p:sp>
      <p:sp>
        <p:nvSpPr>
          <p:cNvPr id="15" name="Shape 13"/>
          <p:cNvSpPr/>
          <p:nvPr/>
        </p:nvSpPr>
        <p:spPr>
          <a:xfrm>
            <a:off x="3136392" y="1335024"/>
            <a:ext cx="2834640" cy="3383280"/>
          </a:xfrm>
          <a:prstGeom prst="rect">
            <a:avLst/>
          </a:prstGeom>
          <a:solidFill>
            <a:srgbClr val="E8F5EE"/>
          </a:solidFill>
          <a:ln w="12700">
            <a:solidFill>
              <a:srgbClr val="1B5E3B"/>
            </a:solidFill>
            <a:prstDash val="solid"/>
          </a:ln>
        </p:spPr>
      </p:sp>
      <p:sp>
        <p:nvSpPr>
          <p:cNvPr id="16" name="Text 14"/>
          <p:cNvSpPr/>
          <p:nvPr/>
        </p:nvSpPr>
        <p:spPr>
          <a:xfrm>
            <a:off x="3246120"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Mughal Empire (1526) builds on Delhi Sultanate foundations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Full Islamization of maritime SE Asia continues through 1500s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Indian Ocean trade carries Europeans into Asia (Unit 3)</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Indian textiles remain a key commodity in Atlantic trade era</a:t>
            </a:r>
            <a:endParaRPr lang="en-US" sz="1050" dirty="0"/>
          </a:p>
        </p:txBody>
      </p:sp>
      <p:sp>
        <p:nvSpPr>
          <p:cNvPr id="17" name="Shape 15"/>
          <p:cNvSpPr/>
          <p:nvPr/>
        </p:nvSpPr>
        <p:spPr>
          <a:xfrm>
            <a:off x="6089904" y="987552"/>
            <a:ext cx="2834640" cy="347472"/>
          </a:xfrm>
          <a:prstGeom prst="rect">
            <a:avLst/>
          </a:prstGeom>
          <a:solidFill>
            <a:srgbClr val="4B2D8A"/>
          </a:solidFill>
          <a:ln w="12700">
            <a:solidFill>
              <a:srgbClr val="4B2D8A"/>
            </a:solidFill>
            <a:prstDash val="solid"/>
          </a:ln>
        </p:spPr>
      </p:sp>
      <p:sp>
        <p:nvSpPr>
          <p:cNvPr id="18" name="Text 16"/>
          <p:cNvSpPr/>
          <p:nvPr/>
        </p:nvSpPr>
        <p:spPr>
          <a:xfrm>
            <a:off x="6163056" y="987552"/>
            <a:ext cx="2715768" cy="347472"/>
          </a:xfrm>
          <a:prstGeom prst="rect">
            <a:avLst/>
          </a:prstGeom>
          <a:noFill/>
          <a:ln/>
        </p:spPr>
        <p:txBody>
          <a:bodyPr wrap="square" lIns="0" tIns="0" rIns="0" bIns="0" rtlCol="0" anchor="ctr"/>
          <a:lstStyle/>
          <a:p>
            <a:pPr indent="0" marL="0">
              <a:buNone/>
            </a:pPr>
            <a:r>
              <a:rPr lang="en-US" sz="1000" b="1" dirty="0">
                <a:solidFill>
                  <a:srgbClr val="FFFFFF"/>
                </a:solidFill>
                <a:latin typeface="Trebuchet MS" pitchFamily="34" charset="0"/>
                <a:ea typeface="Trebuchet MS" pitchFamily="34" charset="-122"/>
                <a:cs typeface="Trebuchet MS" pitchFamily="34" charset="-120"/>
              </a:rPr>
              <a:t>⇄ COMPARE WITH</a:t>
            </a:r>
            <a:endParaRPr lang="en-US" sz="1000" dirty="0"/>
          </a:p>
        </p:txBody>
      </p:sp>
      <p:sp>
        <p:nvSpPr>
          <p:cNvPr id="19" name="Shape 17"/>
          <p:cNvSpPr/>
          <p:nvPr/>
        </p:nvSpPr>
        <p:spPr>
          <a:xfrm>
            <a:off x="6089904" y="1335024"/>
            <a:ext cx="2834640" cy="3383280"/>
          </a:xfrm>
          <a:prstGeom prst="rect">
            <a:avLst/>
          </a:prstGeom>
          <a:solidFill>
            <a:srgbClr val="EDE8F5"/>
          </a:solidFill>
          <a:ln w="12700">
            <a:solidFill>
              <a:srgbClr val="4B2D8A"/>
            </a:solidFill>
            <a:prstDash val="solid"/>
          </a:ln>
        </p:spPr>
      </p:sp>
      <p:sp>
        <p:nvSpPr>
          <p:cNvPr id="20" name="Text 18"/>
          <p:cNvSpPr/>
          <p:nvPr/>
        </p:nvSpPr>
        <p:spPr>
          <a:xfrm>
            <a:off x="6199632" y="1408176"/>
            <a:ext cx="2624328" cy="3236976"/>
          </a:xfrm>
          <a:prstGeom prst="rect">
            <a:avLst/>
          </a:prstGeom>
          <a:noFill/>
          <a:ln/>
        </p:spPr>
        <p:txBody>
          <a:bodyPr wrap="square" lIns="0" tIns="0" rIns="0" bIns="0" rtlCol="0" anchor="t"/>
          <a:lstStyle/>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2: Delhi Sultanate &amp; Abbasid: both Islamic states, different contexts</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1: Indianization vs. Sinification -- two models of cultural diffusion</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4: Swahili Coast -- both ends of same Indian Ocean trade network</a:t>
            </a:r>
            <a:endParaRPr lang="en-US" sz="1050" dirty="0"/>
          </a:p>
          <a:p>
            <a:pPr marL="342900" indent="-342900">
              <a:buSzPct val="100000"/>
              <a:buChar char="•"/>
            </a:pPr>
            <a:r>
              <a:rPr lang="en-US" sz="1050" dirty="0">
                <a:solidFill>
                  <a:srgbClr val="374151"/>
                </a:solidFill>
                <a:latin typeface="Calibri" pitchFamily="34" charset="0"/>
                <a:ea typeface="Calibri" pitchFamily="34" charset="-122"/>
                <a:cs typeface="Calibri" pitchFamily="34" charset="-120"/>
              </a:rPr>
              <a:t>Ch. 5: SE Asian women's status vs. Aztec/Inca women's roles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South and Southeast Asia (1200-1450)</dc:title>
  <dc:subject>PptxGenJS Presentation</dc:subject>
  <dc:creator>PptxGenJS</dc:creator>
  <cp:lastModifiedBy>PptxGenJS</cp:lastModifiedBy>
  <cp:revision>1</cp:revision>
  <dcterms:created xsi:type="dcterms:W3CDTF">2026-05-10T12:39:28Z</dcterms:created>
  <dcterms:modified xsi:type="dcterms:W3CDTF">2026-05-10T12:39:28Z</dcterms:modified>
</cp:coreProperties>
</file>