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2395728"/>
            <a:ext cx="8979408" cy="5486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4279392"/>
            <a:ext cx="8979408" cy="5486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029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of Exchange  |  c. 1200–1450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470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" y="4334256"/>
            <a:ext cx="2231136" cy="809244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" y="4334256"/>
            <a:ext cx="2084832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Ch7 Silk Roads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14016" y="4334256"/>
            <a:ext cx="2231136" cy="809244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11" name="Text 9"/>
          <p:cNvSpPr/>
          <p:nvPr/>
        </p:nvSpPr>
        <p:spPr>
          <a:xfrm>
            <a:off x="2487168" y="4334256"/>
            <a:ext cx="2084832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Ch8 Mongol Empire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4334256"/>
            <a:ext cx="2231136" cy="80924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4334256"/>
            <a:ext cx="2084832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Ch9 Indian Ocean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12864" y="4334256"/>
            <a:ext cx="2231136" cy="809244"/>
          </a:xfrm>
          <a:prstGeom prst="rect">
            <a:avLst/>
          </a:prstGeom>
          <a:solidFill>
            <a:srgbClr val="3A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6986016" y="4334256"/>
            <a:ext cx="2084832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Ch10 Americas/Africa/EU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4074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1  |  8–10% of AP exam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at a Glance: Four Chapters, One Big Idea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804672"/>
            <a:ext cx="214884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804672"/>
            <a:ext cx="2148840" cy="38404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804672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Roads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1243584"/>
            <a:ext cx="192938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of overland &amp; maritime routes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Pax Mongolica = peak trade window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Silk, porcelain, religion, PLAGUE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Declined when Mongols collapsed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95728" y="804672"/>
            <a:ext cx="214884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95728" y="804672"/>
            <a:ext cx="2148840" cy="384048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804672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 Empire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05456" y="1243584"/>
            <a:ext cx="192938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Greatest paradox: destroyed AND connected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Four khanates — different methods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Yuan (direct) vs. Golden Horde (tributary)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Enabled Black Death transmission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08576" y="804672"/>
            <a:ext cx="214884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804672"/>
            <a:ext cx="21488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681728" y="804672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Ch9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Ocean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18304" y="1243584"/>
            <a:ext cx="192938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Monsoon-driven = resilient to politics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Swahili Coast + Malacca = key hubs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Islam spread via merchant diasporas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Zheng He (1405-33): diplomatic, not commercial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21424" y="804672"/>
            <a:ext cx="214884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21424" y="804672"/>
            <a:ext cx="2148840" cy="384048"/>
          </a:xfrm>
          <a:prstGeom prst="rect">
            <a:avLst/>
          </a:prstGeom>
          <a:solidFill>
            <a:srgbClr val="3A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6894576" y="804672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Americas/Africa/EU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31152" y="1243584"/>
            <a:ext cx="192938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Three SEPARATE regional systems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Mali + Trans-Saharan: gold-salt-Islam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Americas isolated — context for Unit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Europe: Black Death → feudalism weakens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4754880"/>
            <a:ext cx="8686800" cy="32004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IDEA: All four chapters are about CONNECTIVITY — what moved, how it moved, who controlled it, and what happened when it stopped.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Exchange Networks: The AP Exam's Core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804672"/>
            <a:ext cx="8869680" cy="38404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" y="804672"/>
            <a:ext cx="1435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64792" y="804672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ROADS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804672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OCEAN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56248" y="804672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TRANS-SAHARAN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09928" y="804672"/>
            <a:ext cx="2377440" cy="38404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4" name="Text 12"/>
          <p:cNvSpPr/>
          <p:nvPr/>
        </p:nvSpPr>
        <p:spPr>
          <a:xfrm>
            <a:off x="1764792" y="804672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ROADS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05656" y="804672"/>
            <a:ext cx="23774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160520" y="804672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OCEAN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01384" y="804672"/>
            <a:ext cx="2377440" cy="384048"/>
          </a:xfrm>
          <a:prstGeom prst="rect">
            <a:avLst/>
          </a:prstGeom>
          <a:solidFill>
            <a:srgbClr val="3A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556248" y="804672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TRANS-SAHARAN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1207008"/>
            <a:ext cx="88696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" y="1207008"/>
            <a:ext cx="1435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64792" y="1207008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 caravans;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 Mongolica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60520" y="1207008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winds;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dhow ships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56248" y="1207008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 caravans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Sahara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1773936"/>
            <a:ext cx="8869680" cy="530352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25" name="Text 23"/>
          <p:cNvSpPr/>
          <p:nvPr/>
        </p:nvSpPr>
        <p:spPr>
          <a:xfrm>
            <a:off x="237744" y="1773936"/>
            <a:ext cx="1435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dominated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64792" y="1773936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&amp; Chinese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60520" y="1773936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merchant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56248" y="1773936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African 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African traders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" y="2340864"/>
            <a:ext cx="88696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37744" y="2340864"/>
            <a:ext cx="1435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goods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64792" y="2340864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Silk, porcelain,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spices, horses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60520" y="2340864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Spices, textiles,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gold, ivory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56248" y="2340864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(south→north)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(north→south)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" y="2907792"/>
            <a:ext cx="8869680" cy="530352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35" name="Text 33"/>
          <p:cNvSpPr/>
          <p:nvPr/>
        </p:nvSpPr>
        <p:spPr>
          <a:xfrm>
            <a:off x="237744" y="2907792"/>
            <a:ext cx="1435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 spread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764792" y="2907792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Islam, Buddhism,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60520" y="2907792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via diaspora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56248" y="2907792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Islam, Arabic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" y="3474720"/>
            <a:ext cx="88696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237744" y="3474720"/>
            <a:ext cx="1435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period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764792" y="3474720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 era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(c.1250–1340s)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60520" y="3474720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700–1500 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56248" y="3474720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 Empire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(c.1235–1450s)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2880" y="4041648"/>
            <a:ext cx="8869680" cy="530352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45" name="Text 43"/>
          <p:cNvSpPr/>
          <p:nvPr/>
        </p:nvSpPr>
        <p:spPr>
          <a:xfrm>
            <a:off x="237744" y="4041648"/>
            <a:ext cx="1435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764792" y="4041648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needed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 Mongolica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60520" y="4041648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monsoon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political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56248" y="4041648"/>
            <a:ext cx="2304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needed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empires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8600" y="4754880"/>
            <a:ext cx="8686800" cy="32004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EXAM #1 COMPARISON: Indian Ocean (monsoon, resilient, decentralized) vs. Silk Roads (political, fragile, needed Pax Mongolica) — know every row of this table.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Mongol Effect: The Unit 2 Paradox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804672"/>
            <a:ext cx="2907792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804672"/>
            <a:ext cx="2907792" cy="384048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804672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DESTRUCTION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1243584"/>
            <a:ext cx="2688336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1220s–1258: Silk Road cities sacked — Samarkand, Bukhara, Baghdad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Wisdom burned; Abbasid Caliphate ended (1258)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killed; artisans forcibly relocated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 al-Athir: 'They destroyed the foundations of civilization'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804672"/>
            <a:ext cx="2907792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804672"/>
            <a:ext cx="2907792" cy="384048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14" name="Text 12"/>
          <p:cNvSpPr/>
          <p:nvPr/>
        </p:nvSpPr>
        <p:spPr>
          <a:xfrm>
            <a:off x="3227832" y="804672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PAX MONGOLICA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4408" y="1243584"/>
            <a:ext cx="2688336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1250s–1340s: unified Eurasia = safe overland travel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 postal relay; standardized weights &amp; measures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Polo (1271–95); Ibn Battuta (1304–68) travel freely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diffuses: gunpowder, compass, printing move west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804672"/>
            <a:ext cx="2907792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804672"/>
            <a:ext cx="2907792" cy="384048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18" name="Text 16"/>
          <p:cNvSpPr/>
          <p:nvPr/>
        </p:nvSpPr>
        <p:spPr>
          <a:xfrm>
            <a:off x="6199632" y="804672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DEATH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243584"/>
            <a:ext cx="2688336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Central Asian steppe c. 1330s; Yersinia pestis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Traveled Mongol-enabled routes westward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1347–53: killed ~1/3 of Europe (~25M people)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Dynasty collapse 1368 — plague + rebellion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4754880"/>
            <a:ext cx="8686800" cy="32004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COMPLEXITY: The SAME routes that enabled peak trade also transmitted the plague — connectivity is simultaneously a strength and a catastrophic vulnerability.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Ch7: The Silk Roads — Chapter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841248"/>
            <a:ext cx="443484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841248"/>
            <a:ext cx="73152" cy="694944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91440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 Mongolica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16128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~1250s–1340s: Mongol peace enabling safe overland travel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1609344"/>
            <a:ext cx="443484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1609344"/>
            <a:ext cx="73152" cy="694944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68249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Caravanserai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192938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inns every ~20 miles; rest + trade + information nodes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377440"/>
            <a:ext cx="443484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377440"/>
            <a:ext cx="73152" cy="694944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45059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of Exchange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6974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docs replacing coin; early long-distance credit system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3145536"/>
            <a:ext cx="443484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3145536"/>
            <a:ext cx="73152" cy="694944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21868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Diasporic communities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346557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merchant settlements abroad; sustained trust networks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3913632"/>
            <a:ext cx="443484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3913632"/>
            <a:ext cx="73152" cy="694944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98678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Yersinia pestis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23367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Plague bacterium; traveled same routes as silk and spices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84124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TRAVELERS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188720"/>
            <a:ext cx="40690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56048" y="126187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Polo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56048" y="1508760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Venice → China 1271–95; Travels fired European demand for Asia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1993392"/>
            <a:ext cx="4069080" cy="731520"/>
          </a:xfrm>
          <a:prstGeom prst="rect">
            <a:avLst/>
          </a:prstGeom>
          <a:solidFill>
            <a:srgbClr val="EDE4C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56048" y="2066544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 Battuta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56048" y="2313432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75,000 miles 1304–68; Rihla = primary source for Silk Road conditions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798064"/>
            <a:ext cx="40690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56048" y="2871216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merchants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56048" y="3118104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Sogdians; spread Islam via diasporic commercial networks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794760"/>
            <a:ext cx="4069080" cy="896112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9" name="Text 37"/>
          <p:cNvSpPr/>
          <p:nvPr/>
        </p:nvSpPr>
        <p:spPr>
          <a:xfrm>
            <a:off x="4956048" y="3822192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CAUSATION CHAIN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56048" y="4023360"/>
            <a:ext cx="385876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 Mongolica → trade peaks → plague travels routes → Mongol collapse → maritime alternatives sought → Age of Exploration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Ch8: The Mongol Empire — Chapter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804672"/>
            <a:ext cx="4315968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804672"/>
            <a:ext cx="4315968" cy="384048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804672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Dynasty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(China, 1271–1368)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1243584"/>
            <a:ext cx="4096512" cy="1453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Kublai Khan; adopted Chinese bureaucracy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cosmopolitan court; hosted Marco Polo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Collapsed: plague + Red Turban Rebellion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 restoration: Confucian, inward-looking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804672"/>
            <a:ext cx="4315968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804672"/>
            <a:ext cx="4315968" cy="384048"/>
          </a:xfrm>
          <a:prstGeom prst="rect">
            <a:avLst/>
          </a:prstGeom>
          <a:solidFill>
            <a:srgbClr val="6A204A"/>
          </a:solidFill>
          <a:ln/>
        </p:spPr>
      </p:sp>
      <p:sp>
        <p:nvSpPr>
          <p:cNvPr id="14" name="Text 12"/>
          <p:cNvSpPr/>
          <p:nvPr/>
        </p:nvSpPr>
        <p:spPr>
          <a:xfrm>
            <a:off x="4690872" y="804672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Ilkhanate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(Persia, 1256–1335)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27448" y="1243584"/>
            <a:ext cx="4096512" cy="1453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Hulagu Khan; sacked Baghdad 1258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converts to Islam (Ghazan Khan, 1295)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conquerors adopt conquered religion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mid-14th c. — no stable succession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2907792"/>
            <a:ext cx="4315968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907792"/>
            <a:ext cx="4315968" cy="384048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" y="2907792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Horde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(Russia, 1242–1502)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" y="3346704"/>
            <a:ext cx="4096512" cy="1453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Batu Khan; Russia = tributary, not direct rule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Tribute paid 200+ years → Moscow rose collecting 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Russian autocratic political culture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AP: Russia vs. China = most tested comparison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2907792"/>
            <a:ext cx="4315968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907792"/>
            <a:ext cx="4315968" cy="384048"/>
          </a:xfrm>
          <a:prstGeom prst="rect">
            <a:avLst/>
          </a:prstGeom>
          <a:solidFill>
            <a:srgbClr val="6B5A20"/>
          </a:solidFill>
          <a:ln/>
        </p:spPr>
      </p:sp>
      <p:sp>
        <p:nvSpPr>
          <p:cNvPr id="22" name="Text 20"/>
          <p:cNvSpPr/>
          <p:nvPr/>
        </p:nvSpPr>
        <p:spPr>
          <a:xfrm>
            <a:off x="4690872" y="2907792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Chagatai Khanate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(Central Asia)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27448" y="3346704"/>
            <a:ext cx="4096512" cy="1453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of Silk Road; most fragmented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Timur (1370–1405) briefly reunified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Timurid Renaissance: Samarkand as cultural capital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Babur → Mughal Empire (Unit 3 continuity)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4754880"/>
            <a:ext cx="8686800" cy="32004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COMPARISON: China (direct rule, strong Ming recovery) vs. Russia (tributary, shaped autocracy) — the most tested khanate contrast.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Ch9: Indian Ocean Exchange — Chapter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841248"/>
            <a:ext cx="443484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841248"/>
            <a:ext cx="73152" cy="1207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9144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Swahili Coast (E. Africa)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188720"/>
            <a:ext cx="41605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Kilwa = dominant; exported gold, ivory; imported Indian textiles, Chinese porcelain; hybrid Bantu-Arabic-Islamic culture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2139696"/>
            <a:ext cx="443484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139696"/>
            <a:ext cx="73152" cy="1207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2128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Malacca (SE Asia)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487168"/>
            <a:ext cx="41605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Strait of Malacca chokepoint; ruler converted ~1400 for commercial advantage; model for Islam spread via trade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438144"/>
            <a:ext cx="443484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3438144"/>
            <a:ext cx="73152" cy="1207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5112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(Malabar/Gujarat)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785616"/>
            <a:ext cx="41605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textiles, spices; middlemen in both directions; Arab merchants settled in Calicut, Kozhikode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841248"/>
            <a:ext cx="4114800" cy="212140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841248"/>
            <a:ext cx="411480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8412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HE  (1405–1433)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1234440"/>
            <a:ext cx="393192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 voyages; hundreds of ships; 444-ft treasure ships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DIPLOMATIC, not commercial — tribute-seeking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Reached East Africa; brought giraffes to emperor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Discontinued 1433: Confucian court ended voyages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China's withdrawal = vacuum Portuguese exploited 1498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035808"/>
            <a:ext cx="411480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035808"/>
            <a:ext cx="4114800" cy="347472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035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DISTINCTION: Why Indian Ocean Survived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429000"/>
            <a:ext cx="39319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Roads depended on POLITICAL stability (Pax Mongolica).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Ocean depended on MONSOON WINDS — a natural force.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Mongols collapsed in 1368, Indian Ocean trade CONTINUED.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Baghdad sacked 1258 — Indian Ocean trade uninterrupted.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Ch10: Americas, Africa &amp; Europe — Chapter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804672"/>
            <a:ext cx="2907792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804672"/>
            <a:ext cx="2907792" cy="384048"/>
          </a:xfrm>
          <a:prstGeom prst="rect">
            <a:avLst/>
          </a:prstGeom>
          <a:solidFill>
            <a:srgbClr val="3A6B35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804672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AFRICA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 Empire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1243584"/>
            <a:ext cx="2688336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Mansa Musa (r. 1312–37): wealthiest ruler in world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1324 hajj: Cairo gold inflation; Catalan Atlas fame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Trans-Saharan: gold-salt trade; Islam spread north→south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 Battuta visits 1352 — primary AP source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Songhai challenges Mali c. 1400 (decline begins)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804672"/>
            <a:ext cx="2907792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804672"/>
            <a:ext cx="2907792" cy="384048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14" name="Text 12"/>
          <p:cNvSpPr/>
          <p:nvPr/>
        </p:nvSpPr>
        <p:spPr>
          <a:xfrm>
            <a:off x="3227832" y="804672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AMERICAS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Networks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4408" y="1243584"/>
            <a:ext cx="2688336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Aztec: tribute empire; pochteca merchants; markets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Inca: no markets; mit'a labor; redistribution economy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Cahokia (N. America): 25,000 peak; declined c.1200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sophisticated INTERNAL trade, zero Old World contact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context = why Columbian Exchange was catastrophic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804672"/>
            <a:ext cx="2907792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804672"/>
            <a:ext cx="2907792" cy="384048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8" name="Text 16"/>
          <p:cNvSpPr/>
          <p:nvPr/>
        </p:nvSpPr>
        <p:spPr>
          <a:xfrm>
            <a:off x="6199632" y="804672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&amp; Recovery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243584"/>
            <a:ext cx="2688336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1347–53: ~25M dead; 1/3 of Europe's population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shortage → serfs gain bargaining power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Feudalism weakened; Church authority questioned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revival: Italian city-states rise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monarchies (England/France) → fund exploration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4754880"/>
            <a:ext cx="8686800" cy="32004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TRAP: Americas had NO contact with Old World — not 'no trade.' They had sophisticated regional networks but complete isolation from Afro-Eurasian systems.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Islam Spread: Three Routes Across Unit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804672"/>
            <a:ext cx="2907792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804672"/>
            <a:ext cx="2907792" cy="438912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804672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SILK ROADS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(Central Asia)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280160"/>
            <a:ext cx="2724912" cy="749808"/>
          </a:xfrm>
          <a:prstGeom prst="rect">
            <a:avLst/>
          </a:prstGeom>
          <a:solidFill>
            <a:srgbClr val="F5ECD8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3258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15361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merchants replace Sogdians 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middlemen after 7th century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84832"/>
            <a:ext cx="2724912" cy="749808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1305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34086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Asia, Persia, India, China's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quarter communities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89504"/>
            <a:ext cx="2724912" cy="749808"/>
          </a:xfrm>
          <a:prstGeom prst="rect">
            <a:avLst/>
          </a:prstGeom>
          <a:solidFill>
            <a:srgbClr val="F5ECD8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9352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314553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Mosques in Chinese cities; Muslim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codes in Central Asian courts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94176"/>
            <a:ext cx="2724912" cy="749808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73989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link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39502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Diasporic communities in every major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Road city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54680" y="804672"/>
            <a:ext cx="2907792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804672"/>
            <a:ext cx="2907792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3227832" y="804672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INDIAN OCEAN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 Asia &amp; E. Africa)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1280160"/>
            <a:ext cx="2724912" cy="749808"/>
          </a:xfrm>
          <a:prstGeom prst="rect">
            <a:avLst/>
          </a:prstGeom>
          <a:solidFill>
            <a:srgbClr val="F5ECD8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13258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15361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diasporas → rulers convert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commercial advantage (voluntary)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2084832"/>
            <a:ext cx="2724912" cy="749808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30" name="Text 28"/>
          <p:cNvSpPr/>
          <p:nvPr/>
        </p:nvSpPr>
        <p:spPr>
          <a:xfrm>
            <a:off x="3291840" y="21305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0" y="234086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Swahili Coast, Malacca, Java,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Malabar Coast of India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2889504"/>
            <a:ext cx="2724912" cy="749808"/>
          </a:xfrm>
          <a:prstGeom prst="rect">
            <a:avLst/>
          </a:prstGeom>
          <a:solidFill>
            <a:srgbClr val="F5ECD8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29352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0" y="314553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Kilwa mosque; Malacca sultanate;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 Battuta's accounts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46120" y="3694176"/>
            <a:ext cx="2724912" cy="749808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36" name="Text 34"/>
          <p:cNvSpPr/>
          <p:nvPr/>
        </p:nvSpPr>
        <p:spPr>
          <a:xfrm>
            <a:off x="3291840" y="373989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link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91840" y="39502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= commercial incentive,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military conquest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804672"/>
            <a:ext cx="2907792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804672"/>
            <a:ext cx="2907792" cy="438912"/>
          </a:xfrm>
          <a:prstGeom prst="rect">
            <a:avLst/>
          </a:prstGeom>
          <a:solidFill>
            <a:srgbClr val="3A6B35"/>
          </a:solidFill>
          <a:ln/>
        </p:spPr>
      </p:sp>
      <p:sp>
        <p:nvSpPr>
          <p:cNvPr id="40" name="Text 38"/>
          <p:cNvSpPr/>
          <p:nvPr/>
        </p:nvSpPr>
        <p:spPr>
          <a:xfrm>
            <a:off x="6199632" y="804672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TRANS-SAHARAN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(West Africa)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17920" y="1280160"/>
            <a:ext cx="2724912" cy="749808"/>
          </a:xfrm>
          <a:prstGeom prst="rect">
            <a:avLst/>
          </a:prstGeom>
          <a:solidFill>
            <a:srgbClr val="F5ECD8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13258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63640" y="15361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African Arab merchants trade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West African rulers; royal conversion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2084832"/>
            <a:ext cx="2724912" cy="749808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45" name="Text 43"/>
          <p:cNvSpPr/>
          <p:nvPr/>
        </p:nvSpPr>
        <p:spPr>
          <a:xfrm>
            <a:off x="6263640" y="21305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234086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 Empire, Timbuktu, Songhai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West Africa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2889504"/>
            <a:ext cx="2724912" cy="749808"/>
          </a:xfrm>
          <a:prstGeom prst="rect">
            <a:avLst/>
          </a:prstGeom>
          <a:solidFill>
            <a:srgbClr val="F5ECD8"/>
          </a:solidFill>
          <a:ln/>
        </p:spPr>
      </p:sp>
      <p:sp>
        <p:nvSpPr>
          <p:cNvPr id="48" name="Text 46"/>
          <p:cNvSpPr/>
          <p:nvPr/>
        </p:nvSpPr>
        <p:spPr>
          <a:xfrm>
            <a:off x="6263640" y="29352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63640" y="314553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Mansa Musa's hajj; Timbuktu 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learning center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17920" y="3694176"/>
            <a:ext cx="2724912" cy="749808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51" name="Text 49"/>
          <p:cNvSpPr/>
          <p:nvPr/>
        </p:nvSpPr>
        <p:spPr>
          <a:xfrm>
            <a:off x="6263640" y="373989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link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63640" y="39502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as Indian Ocean: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→ ruler converts → spread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4754880"/>
            <a:ext cx="8686800" cy="32004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PATTERN: Islam spread via voluntary merchant-driven conversion in ALL THREE networks — never primarily through military conquest in Unit 2.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Transfer: What Moved and Where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64592" y="804672"/>
            <a:ext cx="8887968" cy="347472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804672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73936" y="804672"/>
            <a:ext cx="950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98064" y="804672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traveled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45152" y="804672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arrived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92240" y="804672"/>
            <a:ext cx="2551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impact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4592" y="1170432"/>
            <a:ext cx="8887968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" y="1170432"/>
            <a:ext cx="14996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Gunpowder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73936" y="1170432"/>
            <a:ext cx="95097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98064" y="1170432"/>
            <a:ext cx="17739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 networks westward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45152" y="1170432"/>
            <a:ext cx="17739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world → Europe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92240" y="1170432"/>
            <a:ext cx="255117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revolution; gunpowder empires (Unit 3)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4592" y="1691640"/>
            <a:ext cx="8887968" cy="484632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21" name="Text 19"/>
          <p:cNvSpPr/>
          <p:nvPr/>
        </p:nvSpPr>
        <p:spPr>
          <a:xfrm>
            <a:off x="201168" y="1691640"/>
            <a:ext cx="14996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compass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73936" y="1691640"/>
            <a:ext cx="95097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98064" y="1691640"/>
            <a:ext cx="17739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Ocean &amp; Silk Roads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45152" y="1691640"/>
            <a:ext cx="17739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navigators → Europe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1691640"/>
            <a:ext cx="255117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oceanic exploration (Unit 3)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4592" y="2212848"/>
            <a:ext cx="8887968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201168" y="2212848"/>
            <a:ext cx="14996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/ moveable type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773936" y="2212848"/>
            <a:ext cx="95097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(1040s)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98064" y="2212848"/>
            <a:ext cx="17739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Roads, Mongol networks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45152" y="2212848"/>
            <a:ext cx="17739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world; Europe ~1450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2212848"/>
            <a:ext cx="255117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Gutenberg's press → Protestant Reformation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64592" y="2734056"/>
            <a:ext cx="8887968" cy="484632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33" name="Text 31"/>
          <p:cNvSpPr/>
          <p:nvPr/>
        </p:nvSpPr>
        <p:spPr>
          <a:xfrm>
            <a:off x="201168" y="2734056"/>
            <a:ext cx="14996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773936" y="2734056"/>
            <a:ext cx="95097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98064" y="2734056"/>
            <a:ext cx="17739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Roads via Muslim merchants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45152" y="2734056"/>
            <a:ext cx="17739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→ Europe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92240" y="2734056"/>
            <a:ext cx="255117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parchment; enabled bureaucracy, literacy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64592" y="3255264"/>
            <a:ext cx="8887968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01168" y="3255264"/>
            <a:ext cx="14996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Lateen sail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773936" y="3255264"/>
            <a:ext cx="95097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Arab/Indian Ocean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98064" y="3255264"/>
            <a:ext cx="17739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exchange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45152" y="3255264"/>
            <a:ext cx="17739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Mediterranean → Atlantic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92240" y="3255264"/>
            <a:ext cx="255117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tacking into wind; critical for exploration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64592" y="3776472"/>
            <a:ext cx="8887968" cy="484632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45" name="Text 43"/>
          <p:cNvSpPr/>
          <p:nvPr/>
        </p:nvSpPr>
        <p:spPr>
          <a:xfrm>
            <a:off x="201168" y="3776472"/>
            <a:ext cx="14996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Astrolabe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773936" y="3776472"/>
            <a:ext cx="95097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scholars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98064" y="3776472"/>
            <a:ext cx="17739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Mediterranean trade networks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645152" y="3776472"/>
            <a:ext cx="17739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via Crusades &amp; trade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92240" y="3776472"/>
            <a:ext cx="255117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accuracy; astronomical observation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64592" y="4297680"/>
            <a:ext cx="8887968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201168" y="4297680"/>
            <a:ext cx="14996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/ Hindu-Arabic numerals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773936" y="4297680"/>
            <a:ext cx="95097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→ Islamic world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798064" y="4297680"/>
            <a:ext cx="17739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merchant networks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645152" y="4297680"/>
            <a:ext cx="17739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via Spain &amp; Sicily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492240" y="4297680"/>
            <a:ext cx="255117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mathematics; scientific revolution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28600" y="4754880"/>
            <a:ext cx="8686800" cy="32004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57" name="Text 55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ESSAY HOOK: Chinese technologies (gunpowder, compass, printing) traveled west via Unit 2 networks → enabled Unit 3's Military Revolution and Age of Exploration.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People &amp; Travelers: Primary Sources for the AP Exam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804672"/>
            <a:ext cx="431596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804672"/>
            <a:ext cx="4315968" cy="38404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804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 Polo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16352" y="85953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1254–1324  |  Venice → Yuan China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" y="1243584"/>
            <a:ext cx="4133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Travels is the AP's primary source for Silk Road conditions under Pax Mongolica. Journey ONLY possible due to Mongol stability.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2221992"/>
            <a:ext cx="431596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221992"/>
            <a:ext cx="4315968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2219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Ibn Battuta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16352" y="227685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1304–c.1368  |  Morocco → Africa → Asia → China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2660904"/>
            <a:ext cx="4133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Rihla (Travels): 75,000 miles over 29 years. Primary source for Islamic civilization's reach, Swahili Coast, Indian Ocean conditions.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3639312"/>
            <a:ext cx="431596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3639312"/>
            <a:ext cx="4315968" cy="384048"/>
          </a:xfrm>
          <a:prstGeom prst="rect">
            <a:avLst/>
          </a:prstGeom>
          <a:solidFill>
            <a:srgbClr val="3A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639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Mansa Musa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16352" y="36941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1312–37  |  Mali Empire, West Africa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4320" y="4078224"/>
            <a:ext cx="4133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1324 hajj: distributed gold → Cairo inflation. Appears in Catalan Atlas 1375. Primary source for Trans-Saharan wealth and Islamic faith.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45152" y="804672"/>
            <a:ext cx="431596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45152" y="804672"/>
            <a:ext cx="4315968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804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Zheng He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78624" y="85953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1371–c.1433  |  China → SE Asia → India → E. Africa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36592" y="1243584"/>
            <a:ext cx="4133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voyages 1405–33. DIPLOMATIC (tributary), not commercial. Discontinuation created vacuum Portuguese exploited. AP tests: Why did China stop?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45152" y="2221992"/>
            <a:ext cx="431596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45152" y="2221992"/>
            <a:ext cx="4315968" cy="384048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30" name="Text 28"/>
          <p:cNvSpPr/>
          <p:nvPr/>
        </p:nvSpPr>
        <p:spPr>
          <a:xfrm>
            <a:off x="4736592" y="22219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Genghis Khan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78624" y="227685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1162–1227  |  Mongolia → Eurasia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36592" y="2660904"/>
            <a:ext cx="4133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Mongols 1206; meritocracy + decimal system + psychological warfare. His conquests = both greatest destruction AND connectivity in pre-modern Eurasia.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45152" y="3639312"/>
            <a:ext cx="431596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45152" y="3639312"/>
            <a:ext cx="4315968" cy="384048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5" name="Text 33"/>
          <p:cNvSpPr/>
          <p:nvPr/>
        </p:nvSpPr>
        <p:spPr>
          <a:xfrm>
            <a:off x="4736592" y="3639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Ibn al-Athir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78624" y="36941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1160–1233  |  Islamic scholar, Syria/Iraq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36592" y="4078224"/>
            <a:ext cx="4133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 for Mongol destruction: 'They destroyed the foundations of civilization.' AP uses this as a DBQ document to show devastation perspective.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08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Death: Cause, Spread &amp; Consequences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2907792" cy="3858768"/>
          </a:xfrm>
          <a:prstGeom prst="rect">
            <a:avLst/>
          </a:prstGeom>
          <a:solidFill>
            <a:srgbClr val="20080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04672"/>
            <a:ext cx="2907792" cy="384048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804672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&amp; SPREAD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" y="1243584"/>
            <a:ext cx="2688336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Origin: Central Asian rodent populations; Yersinia pestis c. 1330s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Traveled Mongol-enabled Silk Roads westward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Siege of Caffa 1346: Mongols may have catapulted plague victims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Genoese ships → Sicily 1347 → Europe ignites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Spread via the SAME routes that moved silk and spices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804672"/>
            <a:ext cx="2907792" cy="3858768"/>
          </a:xfrm>
          <a:prstGeom prst="rect">
            <a:avLst/>
          </a:prstGeom>
          <a:solidFill>
            <a:srgbClr val="20080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04672"/>
            <a:ext cx="2907792" cy="384048"/>
          </a:xfrm>
          <a:prstGeom prst="rect">
            <a:avLst/>
          </a:prstGeom>
          <a:solidFill>
            <a:srgbClr val="5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3227832" y="804672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CONSEQUENCES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1243584"/>
            <a:ext cx="2688336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Europe: ~25M dead; 1/3 of population (1347–53)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China: Yuan Dynasty weakened; collapse 1368 (plague + rebellion)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Middle East: Mamluk Egypt hit hard; Islamic cities devastated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Labor shortage → serfs demand rights → feudalism weakens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Church questioned: if God couldn't stop this, why obey the Church?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804672"/>
            <a:ext cx="2907792" cy="3858768"/>
          </a:xfrm>
          <a:prstGeom prst="rect">
            <a:avLst/>
          </a:prstGeom>
          <a:solidFill>
            <a:srgbClr val="20080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04672"/>
            <a:ext cx="2907792" cy="384048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17" name="Text 15"/>
          <p:cNvSpPr/>
          <p:nvPr/>
        </p:nvSpPr>
        <p:spPr>
          <a:xfrm>
            <a:off x="6199632" y="804672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IRONY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1243584"/>
            <a:ext cx="2688336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Pax Mongolica = greatest trade enabler in pre-modern Eurasia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Pax Mongolica = enabled greatest pandemic in pre-modern Eurasia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Connectivity is simultaneously strength and catastrophic vulnerability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Yuan collapse → Silk Road loses eastern anchor → maritime alternatives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Black Death → European labor shortage → commercial revival → exploration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" y="4754880"/>
            <a:ext cx="8778240" cy="32004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47548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IRONY ANSWER: The very infrastructure that built wealth (Pax Mongolica) also transmitted catastrophe — both were UNINTENDED consequences of connectivity.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Exam Comparison Framework: Unit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804672"/>
            <a:ext cx="886968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804672"/>
            <a:ext cx="8723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Ocean Trade  vs.  Overland Silk Roads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" y="1188720"/>
            <a:ext cx="8869680" cy="29260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" y="1188720"/>
            <a:ext cx="1453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46504" y="1188720"/>
            <a:ext cx="3191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OCEAN TRADE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10912" y="1188720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OVERLAND SILK ROADS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1499616"/>
            <a:ext cx="8869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" y="1499616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46504" y="1499616"/>
            <a:ext cx="3191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winds (natural)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10912" y="1499616"/>
            <a:ext cx="3282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 Mongolica (political)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1883664"/>
            <a:ext cx="8869680" cy="347472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19" name="Text 17"/>
          <p:cNvSpPr/>
          <p:nvPr/>
        </p:nvSpPr>
        <p:spPr>
          <a:xfrm>
            <a:off x="219456" y="1883664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46504" y="1883664"/>
            <a:ext cx="3191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survived Mongol collapse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10912" y="1883664"/>
            <a:ext cx="3282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declined when Mongols fell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2267712"/>
            <a:ext cx="8869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19456" y="2267712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agents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46504" y="2267712"/>
            <a:ext cx="3191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merchant diasporas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10912" y="2267712"/>
            <a:ext cx="3282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Sogdian → Muslim merchants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" y="2651760"/>
            <a:ext cx="8869680" cy="347472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27" name="Text 25"/>
          <p:cNvSpPr/>
          <p:nvPr/>
        </p:nvSpPr>
        <p:spPr>
          <a:xfrm>
            <a:off x="219456" y="2651760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46504" y="2651760"/>
            <a:ext cx="3191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Spices, textiles, gold, ivory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10912" y="2651760"/>
            <a:ext cx="3282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Silk, porcelain, horses, paper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2880" y="3035808"/>
            <a:ext cx="8869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19456" y="3035808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 spread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46504" y="3035808"/>
            <a:ext cx="3191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(primary)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10912" y="3035808"/>
            <a:ext cx="3282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Islam, Buddhism, Christianity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" y="2999232"/>
            <a:ext cx="8869680" cy="384048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35" name="Text 33"/>
          <p:cNvSpPr/>
          <p:nvPr/>
        </p:nvSpPr>
        <p:spPr>
          <a:xfrm>
            <a:off x="256032" y="2999232"/>
            <a:ext cx="8723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Dynasty (China)  vs.  Golden Horde (Russia)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82880" y="3383280"/>
            <a:ext cx="8869680" cy="29260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7" name="Text 35"/>
          <p:cNvSpPr/>
          <p:nvPr/>
        </p:nvSpPr>
        <p:spPr>
          <a:xfrm>
            <a:off x="219456" y="3383280"/>
            <a:ext cx="1453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746504" y="3383280"/>
            <a:ext cx="3191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DYNASTY (CHINA)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10912" y="3383280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HORDE (RUSSIA)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" y="3694176"/>
            <a:ext cx="8869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219456" y="3694176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3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type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746504" y="3694176"/>
            <a:ext cx="3191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— adopted Chinese admin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10912" y="3694176"/>
            <a:ext cx="3282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Tributary — no direct governance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2880" y="4078224"/>
            <a:ext cx="8869680" cy="347472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45" name="Text 43"/>
          <p:cNvSpPr/>
          <p:nvPr/>
        </p:nvSpPr>
        <p:spPr>
          <a:xfrm>
            <a:off x="219456" y="4078224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3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impact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746504" y="4078224"/>
            <a:ext cx="3191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Mongols became Chinese; expelled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10912" y="4078224"/>
            <a:ext cx="3282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rose collecting tribute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82880" y="4462272"/>
            <a:ext cx="8869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219456" y="4462272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3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746504" y="4462272"/>
            <a:ext cx="3191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Ming restoration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10912" y="4462272"/>
            <a:ext cx="3282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autocracy reinforced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82880" y="4846320"/>
            <a:ext cx="8869680" cy="347472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53" name="Text 51"/>
          <p:cNvSpPr/>
          <p:nvPr/>
        </p:nvSpPr>
        <p:spPr>
          <a:xfrm>
            <a:off x="219456" y="4846320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3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746504" y="4846320"/>
            <a:ext cx="3191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Kublai Khan tolerant of all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10912" y="4846320"/>
            <a:ext cx="3282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Horde converts to Islam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82880" y="5230368"/>
            <a:ext cx="8869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219456" y="5230368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3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point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746504" y="5230368"/>
            <a:ext cx="3191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Confucian continuity survived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010912" y="5230368"/>
            <a:ext cx="3282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Russia for centuries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CCOT Framework: Continuity &amp; Change Across Unit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804672"/>
            <a:ext cx="4315968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804672"/>
            <a:ext cx="4315968" cy="384048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804672"/>
            <a:ext cx="4169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CONTINUITIES  (what stayed the same)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1243584"/>
            <a:ext cx="4133088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Muslim merchant dominance of Indian Ocean trade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Trans-Saharan gold-salt trade as foundation of West African power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Islam's continued spread via commercial networks (not conquest)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China's Confucian bureaucracy &amp; civil service exams (Song → Ming)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Patriarchal social structures across nearly all regions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Americas' complete isolation from Old World exchange networks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Camel caravans as primary overland transport technology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Diasporic merchant communities as trust networks across cultures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5152" y="804672"/>
            <a:ext cx="4315968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804672"/>
            <a:ext cx="4315968" cy="384048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718304" y="804672"/>
            <a:ext cx="4169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 (what transformed)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6592" y="1243584"/>
            <a:ext cx="4133088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1258: Mongols end Abbasid Caliphate → Islamic world fragmented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1279–1368: Yuan Dynasty rules China (Mongol interlude)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1347–53: Black Death kills 1/3 of Europe; feudalism weakens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1368: Ming Dynasty expels Mongols; China turns inward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1405–33: Zheng He voyages (brief Chinese maritime power)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~1433: China withdraws; Indian Ocean vacuum created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c.1400: Malacca converts to Islam; SE Asian hub shifts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c.1400+: European feudalism weakens; commercial revival begins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4754880"/>
            <a:ext cx="8686800" cy="32004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COMPLEXITY: Pax Mongolica = greatest CHANGE in Unit 2 — yet Confucian bureaucracy, Muslim trade dominance, and patriarchy all CONTINUE. Always mention both sides.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Timeline: Pivotal Dates for AP Exam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2157984"/>
            <a:ext cx="8778240" cy="54864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" y="2066544"/>
            <a:ext cx="146304" cy="146304"/>
          </a:xfrm>
          <a:prstGeom prst="ellipse">
            <a:avLst/>
          </a:prstGeom>
          <a:solidFill>
            <a:srgbClr val="4A3070"/>
          </a:solidFill>
          <a:ln/>
        </p:spPr>
      </p:sp>
      <p:sp>
        <p:nvSpPr>
          <p:cNvPr id="10" name="Text 8"/>
          <p:cNvSpPr/>
          <p:nvPr/>
        </p:nvSpPr>
        <p:spPr>
          <a:xfrm>
            <a:off x="-182880" y="15179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-320040" y="9144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Genghis Khan unifies Mongols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85088" y="2066544"/>
            <a:ext cx="146304" cy="146304"/>
          </a:xfrm>
          <a:prstGeom prst="ellipse">
            <a:avLst/>
          </a:prstGeom>
          <a:solidFill>
            <a:srgbClr val="4A3070"/>
          </a:solidFill>
          <a:ln/>
        </p:spPr>
      </p:sp>
      <p:sp>
        <p:nvSpPr>
          <p:cNvPr id="13" name="Text 11"/>
          <p:cNvSpPr/>
          <p:nvPr/>
        </p:nvSpPr>
        <p:spPr>
          <a:xfrm>
            <a:off x="792480" y="22677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5320" y="25603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Baghdad sacked; Caliphate ends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060448" y="2066544"/>
            <a:ext cx="146304" cy="146304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16" name="Text 14"/>
          <p:cNvSpPr/>
          <p:nvPr/>
        </p:nvSpPr>
        <p:spPr>
          <a:xfrm>
            <a:off x="1767840" y="15179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30680" y="9144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Polo to China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035808" y="2066544"/>
            <a:ext cx="146304" cy="146304"/>
          </a:xfrm>
          <a:prstGeom prst="ellipse">
            <a:avLst/>
          </a:prstGeom>
          <a:solidFill>
            <a:srgbClr val="3A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22677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06040" y="25603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Mansa Musa reigns (Mali peak)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011168" y="2066544"/>
            <a:ext cx="146304" cy="146304"/>
          </a:xfrm>
          <a:prstGeom prst="ellipse">
            <a:avLst/>
          </a:prstGeom>
          <a:solidFill>
            <a:srgbClr val="3A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3718560" y="15179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81400" y="9144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Mansa Musa's hajj; Cairo gold inflation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986528" y="2066544"/>
            <a:ext cx="146304" cy="146304"/>
          </a:xfrm>
          <a:prstGeom prst="ellipse">
            <a:avLst/>
          </a:prstGeom>
          <a:solidFill>
            <a:srgbClr val="8B2020"/>
          </a:solidFill>
          <a:ln/>
        </p:spPr>
      </p:sp>
      <p:sp>
        <p:nvSpPr>
          <p:cNvPr id="25" name="Text 23"/>
          <p:cNvSpPr/>
          <p:nvPr/>
        </p:nvSpPr>
        <p:spPr>
          <a:xfrm>
            <a:off x="4693920" y="22677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56760" y="25603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arrives in Europe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961888" y="2066544"/>
            <a:ext cx="146304" cy="146304"/>
          </a:xfrm>
          <a:prstGeom prst="ellipse">
            <a:avLst/>
          </a:prstGeom>
          <a:solidFill>
            <a:srgbClr val="4A3070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15179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32120" y="9144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collapses; Ming founded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937248" y="2066544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644640" y="22677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07480" y="25603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He voyages begin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912608" y="2066544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7620000" y="15179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82840" y="9144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He voyages END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887968" y="2066544"/>
            <a:ext cx="146304" cy="146304"/>
          </a:xfrm>
          <a:prstGeom prst="ellipse">
            <a:avLst/>
          </a:prstGeom>
          <a:solidFill>
            <a:srgbClr val="3A2080"/>
          </a:solidFill>
          <a:ln/>
        </p:spPr>
      </p:sp>
      <p:sp>
        <p:nvSpPr>
          <p:cNvPr id="37" name="Text 35"/>
          <p:cNvSpPr/>
          <p:nvPr/>
        </p:nvSpPr>
        <p:spPr>
          <a:xfrm>
            <a:off x="8595360" y="22677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58200" y="25603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Columbus; Americas contacted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82880" y="3310128"/>
            <a:ext cx="8778240" cy="32004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0" name="Text 38"/>
          <p:cNvSpPr/>
          <p:nvPr/>
        </p:nvSpPr>
        <p:spPr>
          <a:xfrm>
            <a:off x="256032" y="3310128"/>
            <a:ext cx="8631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TURNING POINTS FOR AP ESSAYS: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2880" y="3675888"/>
            <a:ext cx="2907792" cy="1371600"/>
          </a:xfrm>
          <a:prstGeom prst="rect">
            <a:avLst/>
          </a:prstGeom>
          <a:solidFill>
            <a:srgbClr val="1B23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4320" y="371246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1258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274320" y="4151376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Mongols sack Baghdad → Abbasid ends → Islamic world fragmented; Pax Mongolica begins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154680" y="3675888"/>
            <a:ext cx="2907792" cy="1371600"/>
          </a:xfrm>
          <a:prstGeom prst="rect">
            <a:avLst/>
          </a:prstGeom>
          <a:solidFill>
            <a:srgbClr val="1B23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246120" y="371246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1368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3246120" y="4151376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collapse → Silk Road loses eastern anchor → maritime routes become necessity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26480" y="3675888"/>
            <a:ext cx="2907792" cy="1371600"/>
          </a:xfrm>
          <a:prstGeom prst="rect">
            <a:avLst/>
          </a:prstGeom>
          <a:solidFill>
            <a:srgbClr val="1B23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17920" y="371246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1433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217920" y="4151376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He voyages END → China turns inward → vacuum Portuguese exploited 1498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Causation Chains: Unit 2's Big Arrows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804672"/>
            <a:ext cx="4315968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804672"/>
            <a:ext cx="4315968" cy="329184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804672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 MONGOLICA CHAIN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188720"/>
            <a:ext cx="4133088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Genghis Khan unifies 1206  →  Silk Road cities rebuilt + secured  →  Marco Polo &amp; Ibn Battuta travel freely  →  Trade volume peaks; technologies diffuse  →  Black Death travels same routes  →  Mongol states weaken + collapse  →  Silk Road declines → maritime demand rises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3017520"/>
            <a:ext cx="4315968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3017520"/>
            <a:ext cx="4315968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" y="3017520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SPREAD CHAIN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401568"/>
            <a:ext cx="4133088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merchants establish diaspora communities  →  Commercial law creates cross-cultural trust  →  Rulers see economic advantage in converting  →  Rulers convert; mosques + madrasas built  →  Populations follow → Islam embeds in culture  →  Malacca model: voluntary, not conquest  →  Islam dominant from W. Africa to SE Asia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45152" y="804672"/>
            <a:ext cx="4315968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804672"/>
            <a:ext cx="4315968" cy="329184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8" name="Text 16"/>
          <p:cNvSpPr/>
          <p:nvPr/>
        </p:nvSpPr>
        <p:spPr>
          <a:xfrm>
            <a:off x="4718304" y="804672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CHAIN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6592" y="1188720"/>
            <a:ext cx="4133088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Yersinia pestis in Central Asian rodents c.1330s  →  Travels Mongol routes westward  →  Caffa siege 1346; Sicily 1347  →  1/3 of Europe dead; Yuan weakened  →  Labor shortage → serfs gain power  →  Feudalism weakens; Church doubted  →  Commercial revival → funds exploration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45152" y="3017520"/>
            <a:ext cx="4315968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5152" y="3017520"/>
            <a:ext cx="4315968" cy="329184"/>
          </a:xfrm>
          <a:prstGeom prst="rect">
            <a:avLst/>
          </a:prstGeom>
          <a:solidFill>
            <a:srgbClr val="3A5A7A"/>
          </a:solidFill>
          <a:ln/>
        </p:spPr>
      </p:sp>
      <p:sp>
        <p:nvSpPr>
          <p:cNvPr id="22" name="Text 20"/>
          <p:cNvSpPr/>
          <p:nvPr/>
        </p:nvSpPr>
        <p:spPr>
          <a:xfrm>
            <a:off x="4718304" y="3017520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 COLLAPSE CHAIN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3401568"/>
            <a:ext cx="4133088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collapse 1368 (plague + rebellion)  →  Ilkhanate collapses mid-14th century  →  Silk Road loses political anchor  →  European demand for Asian goods continues  →  Ottoman Turks take Constantinople 1453  →  Overland route blocked/taxed heavily  →  Portuguese seek maritime route → 1498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AP Exam Traps — Unit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804672"/>
            <a:ext cx="43159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804672"/>
            <a:ext cx="475488" cy="1298448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" y="804672"/>
            <a:ext cx="4023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896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TRAP: Mongols 'spread' the Black Death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1188720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plague spread as an UNINTENDED CONSEQUENCE of Mongol-enabled connectivity — they did not spread it intentionally or even knowingly.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2194560"/>
            <a:ext cx="43159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194560"/>
            <a:ext cx="475488" cy="1298448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" y="2194560"/>
            <a:ext cx="4023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TRAP: Indian Ocean trade 'ended' when Mongols fell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2578608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Ocean depended on MONSOON WINDS, not Mongol power. When Yuan Dynasty collapsed 1368, Indian Ocean trade continued uninterrupted.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3584448"/>
            <a:ext cx="43159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3584448"/>
            <a:ext cx="475488" cy="1298448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20" name="Text 18"/>
          <p:cNvSpPr/>
          <p:nvPr/>
        </p:nvSpPr>
        <p:spPr>
          <a:xfrm>
            <a:off x="219456" y="3584448"/>
            <a:ext cx="4023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675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TRAP: Zheng He's voyages = trade mission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3968496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voyages were DIPLOMATIC — tribute-seeking and prestige-building. Private Muslim merchants, not the Ming state, ran actual Indian Ocean commerce.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45152" y="804672"/>
            <a:ext cx="43159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45152" y="804672"/>
            <a:ext cx="475488" cy="1298448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25" name="Text 23"/>
          <p:cNvSpPr/>
          <p:nvPr/>
        </p:nvSpPr>
        <p:spPr>
          <a:xfrm>
            <a:off x="4681728" y="804672"/>
            <a:ext cx="4023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93792" y="896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TRAP: Islam spread via military conquest in Unit 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93792" y="1188720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Unit 2, Islam spread via MERCHANT DIASPORAS and voluntary ruler conversion for commercial advantage — NOT primarily through military force.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45152" y="2194560"/>
            <a:ext cx="43159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45152" y="2194560"/>
            <a:ext cx="475488" cy="1298448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0" name="Text 28"/>
          <p:cNvSpPr/>
          <p:nvPr/>
        </p:nvSpPr>
        <p:spPr>
          <a:xfrm>
            <a:off x="4681728" y="2194560"/>
            <a:ext cx="4023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93792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TRAP: Americas had 'no' trade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93792" y="2578608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Americas had sophisticated INTERNAL trade networks (Aztec markets, Inca redistribution, Mississippian exchange). They had zero contact with the OLD WORLD — that's the key point.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45152" y="3584448"/>
            <a:ext cx="431596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45152" y="3584448"/>
            <a:ext cx="475488" cy="1298448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5" name="Text 33"/>
          <p:cNvSpPr/>
          <p:nvPr/>
        </p:nvSpPr>
        <p:spPr>
          <a:xfrm>
            <a:off x="4681728" y="3584448"/>
            <a:ext cx="4023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93792" y="3675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TRAP: Mongols = only destruction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93792" y="3968496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Mongols ALSO built: the Pax Mongolica, the Yam postal system, and enabled the greatest technology diffusion in pre-modern Eurasia. Both sides required for full credit.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 &amp; DBQ Practice Prompts — Unit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804672"/>
            <a:ext cx="886968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804672"/>
            <a:ext cx="8723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 QUESTIONS (SAQ)  — Answer all three parts (a, b, c)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188720"/>
            <a:ext cx="8723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 1: Indian Ocean Trade Network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481328"/>
            <a:ext cx="8485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Briefly describe ONE factor that explains the resilience of Indian Ocean trade c. 1200–1450.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828800"/>
            <a:ext cx="8485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Briefly explain ONE way Islam spread via the Indian Ocean network in this period.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2176272"/>
            <a:ext cx="8485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Briefly explain ONE way the Zheng He voyages were different from private Indian Ocean trade.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" y="2670048"/>
            <a:ext cx="8723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 2: The Mongol Empire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2962656"/>
            <a:ext cx="8485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Briefly describe ONE way the Mongols disrupted exchange networks c. 1200–1350.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3310128"/>
            <a:ext cx="8485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Briefly describe ONE way the Mongols facilitated exchange networks in the same period.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3657600"/>
            <a:ext cx="8485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Briefly explain ONE long-term consequence of Mongol rule for either China OR Russia.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4206240"/>
            <a:ext cx="8869680" cy="329184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" y="4206240"/>
            <a:ext cx="8723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DBQ OUTLINE PROMPT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" y="4572000"/>
            <a:ext cx="8723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A3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extent to which the Mongol Empire transformed exchange networks in Eurasia c. 1200–1400.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" y="4773168"/>
            <a:ext cx="8723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Top-score answer must: argue a specific extent (not just 'a lot'); address BOTH destruction AND integration; use Black Death as unintended consequence complexity point; compare at least 2 regions; acknowledge continuity (Indian Ocean survived).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Comparison Quick Reference — Unit 2 Essay Bank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097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REVIEW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804672"/>
            <a:ext cx="8869680" cy="329184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804672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01568" y="804672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ANALYSIS POINT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152144"/>
            <a:ext cx="8869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" y="1152144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Ocean vs. Silk Roads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01568" y="115214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(natural) vs. Pax Mongolica (political); Indian Ocean survived Mongol collapse; Silk Roads did not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1545336"/>
            <a:ext cx="8869680" cy="365760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" y="1545336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Dynasty vs. Golden Horde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01568" y="154533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rule (China adopted admin) vs. tributary (Russia ruled itself, paid tribute); different long-term outcomes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1938528"/>
            <a:ext cx="8869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" y="1938528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He vs. Portuguese exploration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01568" y="193852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State/diplomatic/ended 1433 vs. merchant/profit/began 1492; China withdrew, Europe advanced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2331720"/>
            <a:ext cx="8869680" cy="365760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" y="2331720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Mansa Musa vs. Kublai Khan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01568" y="2331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projected state wealth internationally; one via pilgrimage, one via court; both attracted foreign visitors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2724912"/>
            <a:ext cx="8869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" y="2724912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Malacca's conversion vs. Mali's conversion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01568" y="272491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converted to Islam for commercial advantage; both via trade, not conquest; identical mechanism, different regions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" y="3118104"/>
            <a:ext cx="8869680" cy="365760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" y="3118104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in Europe vs. China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01568" y="311810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devastating; Europe: feudalism weakens, serfs gain power; China: Yuan Dynasty collapses, Ming restoration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" y="3511296"/>
            <a:ext cx="8869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" y="3511296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Trans-Saharan vs. Indian Ocean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01568" y="351129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spread Islam via merchants; overland (camel/gold-salt) vs. maritime (monsoon/spices); similar mechanism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2880" y="3904488"/>
            <a:ext cx="8869680" cy="365760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33" name="Text 31"/>
          <p:cNvSpPr/>
          <p:nvPr/>
        </p:nvSpPr>
        <p:spPr>
          <a:xfrm>
            <a:off x="256032" y="3904488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 tribute system vs. Inca mit'a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01568" y="390448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extractive; Aztec = coercion + goods + captives (market economy); Inca = labor service (no markets)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2880" y="4297680"/>
            <a:ext cx="8869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56032" y="4297680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Polo vs. Ibn Battuta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01568" y="42976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primary sources for Silk Roads; Christian European vs. Muslim; Polo sponsored by court, Battuta traveled as scholar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82880" y="4690872"/>
            <a:ext cx="8869680" cy="365760"/>
          </a:xfrm>
          <a:prstGeom prst="rect">
            <a:avLst/>
          </a:prstGeom>
          <a:solidFill>
            <a:srgbClr val="EDE4CC"/>
          </a:solidFill>
          <a:ln/>
        </p:spPr>
      </p:sp>
      <p:sp>
        <p:nvSpPr>
          <p:cNvPr id="39" name="Text 37"/>
          <p:cNvSpPr/>
          <p:nvPr/>
        </p:nvSpPr>
        <p:spPr>
          <a:xfrm>
            <a:off x="256032" y="4690872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 destruction vs. Mongol integration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01568" y="469087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empire, two phases; destruction enabled integration; integration enabled plague — all connected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20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COMPLETE — LOOKING AHEAD TO UNIT 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4315968" cy="4224528"/>
          </a:xfrm>
          <a:prstGeom prst="rect">
            <a:avLst/>
          </a:prstGeom>
          <a:solidFill>
            <a:srgbClr val="222850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804672"/>
            <a:ext cx="4315968" cy="38404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804672"/>
            <a:ext cx="4169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PLANTED IN UNIT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243584"/>
            <a:ext cx="4133088" cy="3712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Chinese tech (gunpowder, compass) moved west via Silk Roads → Military Revolution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1433: China turns inward → vacuum Portuguese exploited after 1498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Black Death + commercial revival → European prosperity to fund exploration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Americas isolation established → Columbian Exchange catastrophe explained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Ottoman Turks rising (will take Constantinople 1453) → block overland route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Malacca model: conversion for commerce → pattern repeats in Unit 3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European feudalism weakening → centralized monarchies will fund exploration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45152" y="804672"/>
            <a:ext cx="4315968" cy="42245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804672"/>
            <a:ext cx="4315968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718304" y="804672"/>
            <a:ext cx="4169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PREVIEW  (c. 1450–1750)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36592" y="1243584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Exploration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6592" y="1481328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Vasco da Gama 1498; enters Indian Ocean Unit 2 built; Muslim monopoly disrupted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36592" y="1865376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Columbian Exchange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36592" y="2103120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1492 contact; Old World diseases kill ~90% of Americas; Unit 2 isolation = Unit 3 catastrophe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36592" y="2487168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Gunpowder Empires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36592" y="2724912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Ottoman, Mughal, Safavid — all use Unit 2 tech (gunpowder) diffused via Mongol routes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36592" y="3108960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Atlantic Slave Trade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6592" y="3346704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exchange network; partially replaces Trans-Saharan; connects to Unit 2's African gold networks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36592" y="3730752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Protestant Reformation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3968496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Gutenberg's press (Unit 2 Chinese tech via Silk Roads) enables Luther 1517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36592" y="4352544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Europe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4590288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1750, Europe reverses its Unit 2 weakness; Unit 2 set every condition for this shift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" y="4919472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|  Unit 2: Networks of Exchange  |  c. 1200–1450  |  Good luck on the exam!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 Review: Networks of Exchange</dc:title>
  <dc:subject>PptxGenJS Presentation</dc:subject>
  <dc:creator>AP World History Study</dc:creator>
  <cp:lastModifiedBy>AP World History Study</cp:lastModifiedBy>
  <cp:revision>1</cp:revision>
  <dcterms:created xsi:type="dcterms:W3CDTF">2026-05-11T15:22:06Z</dcterms:created>
  <dcterms:modified xsi:type="dcterms:W3CDTF">2026-05-11T15:22:06Z</dcterms:modified>
</cp:coreProperties>
</file>