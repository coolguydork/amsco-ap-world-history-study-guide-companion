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C8853A"/>
          </a:solidFill>
          <a:ln w="12700">
            <a:solidFill>
              <a:srgbClr val="C8853A"/>
            </a:solidFill>
            <a:prstDash val="solid"/>
          </a:ln>
        </p:spPr>
      </p:sp>
      <p:sp>
        <p:nvSpPr>
          <p:cNvPr id="3" name="Shape 1"/>
          <p:cNvSpPr/>
          <p:nvPr/>
        </p:nvSpPr>
        <p:spPr>
          <a:xfrm>
            <a:off x="502920" y="0"/>
            <a:ext cx="73152" cy="5143500"/>
          </a:xfrm>
          <a:prstGeom prst="rect">
            <a:avLst/>
          </a:prstGeom>
          <a:solidFill>
            <a:srgbClr val="E8C97A"/>
          </a:solidFill>
          <a:ln w="12700">
            <a:solidFill>
              <a:srgbClr val="E8C97A"/>
            </a:solidFill>
            <a:prstDash val="solid"/>
          </a:ln>
        </p:spPr>
      </p:sp>
      <p:sp>
        <p:nvSpPr>
          <p:cNvPr id="4" name="Shape 2"/>
          <p:cNvSpPr/>
          <p:nvPr/>
        </p:nvSpPr>
        <p:spPr>
          <a:xfrm>
            <a:off x="6400800" y="-1371600"/>
            <a:ext cx="4572000" cy="4572000"/>
          </a:xfrm>
          <a:prstGeom prst="ellipse">
            <a:avLst/>
          </a:prstGeom>
          <a:solidFill>
            <a:srgbClr val="3D2410"/>
          </a:solidFill>
          <a:ln w="12700">
            <a:solidFill>
              <a:srgbClr val="3D2410"/>
            </a:solidFill>
            <a:prstDash val="solid"/>
          </a:ln>
        </p:spPr>
      </p:sp>
      <p:sp>
        <p:nvSpPr>
          <p:cNvPr id="5" name="Shape 3"/>
          <p:cNvSpPr/>
          <p:nvPr/>
        </p:nvSpPr>
        <p:spPr>
          <a:xfrm>
            <a:off x="7132320" y="3200400"/>
            <a:ext cx="3200400" cy="3200400"/>
          </a:xfrm>
          <a:prstGeom prst="ellipse">
            <a:avLst/>
          </a:prstGeom>
          <a:solidFill>
            <a:srgbClr val="1E0E06"/>
          </a:solidFill>
          <a:ln w="12700">
            <a:solidFill>
              <a:srgbClr val="1E0E06"/>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E8C97A"/>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E8C97A"/>
                </a:solidFill>
                <a:latin typeface="Trebuchet MS" pitchFamily="34" charset="0"/>
                <a:ea typeface="Trebuchet MS" pitchFamily="34" charset="-122"/>
                <a:cs typeface="Trebuchet MS" pitchFamily="34" charset="-120"/>
              </a:rPr>
              <a:t>CHAPTER 2</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Developments in</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Dar al-Islam</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500" i="1" dirty="0">
                <a:solidFill>
                  <a:srgbClr val="E8C97A"/>
                </a:solidFill>
                <a:latin typeface="Calibri" pitchFamily="34" charset="0"/>
                <a:ea typeface="Calibri" pitchFamily="34" charset="-122"/>
                <a:cs typeface="Calibri" pitchFamily="34" charset="-120"/>
              </a:rPr>
              <a:t>1200-1450  |  Abbasid Caliphate · Mamluks · Sufism · Trade</a:t>
            </a:r>
            <a:endParaRPr lang="en-US" sz="1500" dirty="0"/>
          </a:p>
        </p:txBody>
      </p:sp>
      <p:sp>
        <p:nvSpPr>
          <p:cNvPr id="10" name="Shape 8"/>
          <p:cNvSpPr/>
          <p:nvPr/>
        </p:nvSpPr>
        <p:spPr>
          <a:xfrm>
            <a:off x="777240" y="3703320"/>
            <a:ext cx="7315200" cy="0"/>
          </a:xfrm>
          <a:prstGeom prst="line">
            <a:avLst/>
          </a:prstGeom>
          <a:noFill/>
          <a:ln w="19050">
            <a:solidFill>
              <a:srgbClr val="C8853A"/>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A88060"/>
                </a:solidFill>
                <a:latin typeface="Calibri" pitchFamily="34" charset="0"/>
                <a:ea typeface="Calibri" pitchFamily="34" charset="-122"/>
                <a:cs typeface="Calibri" pitchFamily="34" charset="-120"/>
              </a:rPr>
              <a:t>UNIT 1: THE GLOBAL TAPESTRY  ·  Middle East · N. Africa · Central Asia · Spain · India</a:t>
            </a:r>
            <a:endParaRPr lang="en-US" sz="1100" dirty="0"/>
          </a:p>
        </p:txBody>
      </p:sp>
      <p:sp>
        <p:nvSpPr>
          <p:cNvPr id="12" name="Shape 10"/>
          <p:cNvSpPr/>
          <p:nvPr/>
        </p:nvSpPr>
        <p:spPr>
          <a:xfrm>
            <a:off x="777240" y="4187952"/>
            <a:ext cx="1463040" cy="347472"/>
          </a:xfrm>
          <a:prstGeom prst="rect">
            <a:avLst/>
          </a:prstGeom>
          <a:solidFill>
            <a:srgbClr val="3D2410"/>
          </a:solidFill>
          <a:ln w="12700">
            <a:solidFill>
              <a:srgbClr val="C8853A"/>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Dar al-Islam</a:t>
            </a:r>
            <a:endParaRPr lang="en-US" sz="850" dirty="0"/>
          </a:p>
        </p:txBody>
      </p:sp>
      <p:sp>
        <p:nvSpPr>
          <p:cNvPr id="14" name="Shape 12"/>
          <p:cNvSpPr/>
          <p:nvPr/>
        </p:nvSpPr>
        <p:spPr>
          <a:xfrm>
            <a:off x="2359152" y="4187952"/>
            <a:ext cx="1463040" cy="347472"/>
          </a:xfrm>
          <a:prstGeom prst="rect">
            <a:avLst/>
          </a:prstGeom>
          <a:solidFill>
            <a:srgbClr val="3D2410"/>
          </a:solidFill>
          <a:ln w="12700">
            <a:solidFill>
              <a:srgbClr val="C8853A"/>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Abbasid Caliphate</a:t>
            </a:r>
            <a:endParaRPr lang="en-US" sz="850" dirty="0"/>
          </a:p>
        </p:txBody>
      </p:sp>
      <p:sp>
        <p:nvSpPr>
          <p:cNvPr id="16" name="Shape 14"/>
          <p:cNvSpPr/>
          <p:nvPr/>
        </p:nvSpPr>
        <p:spPr>
          <a:xfrm>
            <a:off x="3941064" y="4187952"/>
            <a:ext cx="1463040" cy="347472"/>
          </a:xfrm>
          <a:prstGeom prst="rect">
            <a:avLst/>
          </a:prstGeom>
          <a:solidFill>
            <a:srgbClr val="3D2410"/>
          </a:solidFill>
          <a:ln w="12700">
            <a:solidFill>
              <a:srgbClr val="C8853A"/>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Sufism</a:t>
            </a:r>
            <a:endParaRPr lang="en-US" sz="850" dirty="0"/>
          </a:p>
        </p:txBody>
      </p:sp>
      <p:sp>
        <p:nvSpPr>
          <p:cNvPr id="18" name="Shape 16"/>
          <p:cNvSpPr/>
          <p:nvPr/>
        </p:nvSpPr>
        <p:spPr>
          <a:xfrm>
            <a:off x="5522976" y="4187952"/>
            <a:ext cx="1463040" cy="347472"/>
          </a:xfrm>
          <a:prstGeom prst="rect">
            <a:avLst/>
          </a:prstGeom>
          <a:solidFill>
            <a:srgbClr val="3D2410"/>
          </a:solidFill>
          <a:ln w="12700">
            <a:solidFill>
              <a:srgbClr val="C8853A"/>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Trade Networks</a:t>
            </a:r>
            <a:endParaRPr lang="en-US" sz="850" dirty="0"/>
          </a:p>
        </p:txBody>
      </p:sp>
      <p:sp>
        <p:nvSpPr>
          <p:cNvPr id="20" name="Shape 18"/>
          <p:cNvSpPr/>
          <p:nvPr/>
        </p:nvSpPr>
        <p:spPr>
          <a:xfrm>
            <a:off x="7104888" y="4187952"/>
            <a:ext cx="1463040" cy="347472"/>
          </a:xfrm>
          <a:prstGeom prst="rect">
            <a:avLst/>
          </a:prstGeom>
          <a:solidFill>
            <a:srgbClr val="3D2410"/>
          </a:solidFill>
          <a:ln w="12700">
            <a:solidFill>
              <a:srgbClr val="C8853A"/>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Islamic Learning</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B5432A"/>
          </a:solidFill>
          <a:ln w="12700">
            <a:solidFill>
              <a:srgbClr val="B5432A"/>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By 1200 Islam had spread from Spain to Southeast Asia, unified by shared religion, Arabic scholarship, trade law, and networks -- not by a single government. The Mongol sack of Baghdad (1258) destroyed the Abbasid Caliphate but could not destroy Islamic civilization. New states (Mamluks, Delhi Sultanate, later Ottomans) rose in its place. Sufi missionaries spread Islam to Africa and Southeast Asia via trade routes, not conquest.</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how and why Islamic states developed, expanded, and declined 1200-1450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role of trade and cultural exchange in spreading Islam across regions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how Sufism contributed to the spread of Islam</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Evaluate the impact of the Mongol conquests on Islamic civilization</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Islam's expansion reshaped political authority across Afro-Eurasia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KC-1.3.II -- Indian Ocean, Silk Road, trans-Saharan networks integrated the Islamic world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KC-2.1.II -- Mongol conquests disrupted then reconnected Eurasian networks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KC-1.2.III -- Sufism spread Islam through missionary activity and cultural adaptation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What United the Dar al-Islam Despite Political Fragmentation?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No single ruler -- yet a coherent civilization. This is a KEY AP concept.</a:t>
            </a:r>
            <a:endParaRPr lang="en-US" sz="1000" dirty="0"/>
          </a:p>
        </p:txBody>
      </p:sp>
      <p:sp>
        <p:nvSpPr>
          <p:cNvPr id="9" name="Shape 7"/>
          <p:cNvSpPr/>
          <p:nvPr/>
        </p:nvSpPr>
        <p:spPr>
          <a:xfrm>
            <a:off x="182880" y="1024128"/>
            <a:ext cx="2834640" cy="475488"/>
          </a:xfrm>
          <a:prstGeom prst="rect">
            <a:avLst/>
          </a:prstGeom>
          <a:solidFill>
            <a:srgbClr val="B5432A"/>
          </a:solidFill>
          <a:ln w="12700">
            <a:solidFill>
              <a:srgbClr val="B5432A"/>
            </a:solidFill>
            <a:prstDash val="solid"/>
          </a:ln>
        </p:spPr>
      </p:sp>
      <p:sp>
        <p:nvSpPr>
          <p:cNvPr id="10" name="Text 8"/>
          <p:cNvSpPr/>
          <p:nvPr/>
        </p:nvSpPr>
        <p:spPr>
          <a:xfrm>
            <a:off x="2286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RELIGION &amp; LAW</a:t>
            </a:r>
            <a:endParaRPr lang="en-US" sz="1100" dirty="0"/>
          </a:p>
        </p:txBody>
      </p:sp>
      <p:sp>
        <p:nvSpPr>
          <p:cNvPr id="11" name="Shape 9"/>
          <p:cNvSpPr/>
          <p:nvPr/>
        </p:nvSpPr>
        <p:spPr>
          <a:xfrm>
            <a:off x="182880" y="1499616"/>
            <a:ext cx="2834640" cy="3218688"/>
          </a:xfrm>
          <a:prstGeom prst="rect">
            <a:avLst/>
          </a:prstGeom>
          <a:solidFill>
            <a:srgbClr val="FAE8E4"/>
          </a:solidFill>
          <a:ln w="12700">
            <a:solidFill>
              <a:srgbClr val="B5432A"/>
            </a:solidFill>
            <a:prstDash val="solid"/>
          </a:ln>
        </p:spPr>
      </p:sp>
      <p:sp>
        <p:nvSpPr>
          <p:cNvPr id="12" name="Text 10"/>
          <p:cNvSpPr/>
          <p:nvPr/>
        </p:nvSpPr>
        <p:spPr>
          <a:xfrm>
            <a:off x="2926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Five Pillars provided universal religious obligations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Sharia (Islamic law) governed commerce, family, and governance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Ulama (scholars) maintained legal and religious continuity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Madrasas created standardized Islamic education from Spain to Southeast 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The hajj pilgrimage physically connected Muslims across vast distances</a:t>
            </a:r>
            <a:endParaRPr lang="en-US" sz="1000" dirty="0"/>
          </a:p>
        </p:txBody>
      </p:sp>
      <p:sp>
        <p:nvSpPr>
          <p:cNvPr id="13" name="Shape 11"/>
          <p:cNvSpPr/>
          <p:nvPr/>
        </p:nvSpPr>
        <p:spPr>
          <a:xfrm>
            <a:off x="3154680" y="1024128"/>
            <a:ext cx="2834640" cy="475488"/>
          </a:xfrm>
          <a:prstGeom prst="rect">
            <a:avLst/>
          </a:prstGeom>
          <a:solidFill>
            <a:srgbClr val="2A5298"/>
          </a:solidFill>
          <a:ln w="12700">
            <a:solidFill>
              <a:srgbClr val="2A5298"/>
            </a:solidFill>
            <a:prstDash val="solid"/>
          </a:ln>
        </p:spPr>
      </p:sp>
      <p:sp>
        <p:nvSpPr>
          <p:cNvPr id="14" name="Text 12"/>
          <p:cNvSpPr/>
          <p:nvPr/>
        </p:nvSpPr>
        <p:spPr>
          <a:xfrm>
            <a:off x="32004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TRADE NETWORKS</a:t>
            </a:r>
            <a:endParaRPr lang="en-US" sz="1100" dirty="0"/>
          </a:p>
        </p:txBody>
      </p:sp>
      <p:sp>
        <p:nvSpPr>
          <p:cNvPr id="15" name="Shape 13"/>
          <p:cNvSpPr/>
          <p:nvPr/>
        </p:nvSpPr>
        <p:spPr>
          <a:xfrm>
            <a:off x="3154680" y="1499616"/>
            <a:ext cx="2834640" cy="3218688"/>
          </a:xfrm>
          <a:prstGeom prst="rect">
            <a:avLst/>
          </a:prstGeom>
          <a:solidFill>
            <a:srgbClr val="E3F0FF"/>
          </a:solidFill>
          <a:ln w="12700">
            <a:solidFill>
              <a:srgbClr val="2A5298"/>
            </a:solidFill>
            <a:prstDash val="solid"/>
          </a:ln>
        </p:spPr>
      </p:sp>
      <p:sp>
        <p:nvSpPr>
          <p:cNvPr id="16" name="Text 14"/>
          <p:cNvSpPr/>
          <p:nvPr/>
        </p:nvSpPr>
        <p:spPr>
          <a:xfrm>
            <a:off x="32644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Muslim merchants dominated Indian Ocean, Silk Road, and trans-Saharan routes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Hawala (letter of credit) enabled trust-based long-distance commerce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Arabic as the shared language of scholarship and contract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West African gold financed Mediterranean economies via Islamic intermediaries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Shared commercial practices made Muslim traders welcome in any port</a:t>
            </a:r>
            <a:endParaRPr lang="en-US" sz="1000" dirty="0"/>
          </a:p>
        </p:txBody>
      </p:sp>
      <p:sp>
        <p:nvSpPr>
          <p:cNvPr id="17" name="Shape 15"/>
          <p:cNvSpPr/>
          <p:nvPr/>
        </p:nvSpPr>
        <p:spPr>
          <a:xfrm>
            <a:off x="6126480" y="1024128"/>
            <a:ext cx="2834640" cy="475488"/>
          </a:xfrm>
          <a:prstGeom prst="rect">
            <a:avLst/>
          </a:prstGeom>
          <a:solidFill>
            <a:srgbClr val="1B5E3B"/>
          </a:solidFill>
          <a:ln w="12700">
            <a:solidFill>
              <a:srgbClr val="1B5E3B"/>
            </a:solidFill>
            <a:prstDash val="solid"/>
          </a:ln>
        </p:spPr>
      </p:sp>
      <p:sp>
        <p:nvSpPr>
          <p:cNvPr id="18" name="Text 16"/>
          <p:cNvSpPr/>
          <p:nvPr/>
        </p:nvSpPr>
        <p:spPr>
          <a:xfrm>
            <a:off x="61722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CULTURAL SYNTHESIS</a:t>
            </a:r>
            <a:endParaRPr lang="en-US" sz="1100" dirty="0"/>
          </a:p>
        </p:txBody>
      </p:sp>
      <p:sp>
        <p:nvSpPr>
          <p:cNvPr id="19" name="Shape 17"/>
          <p:cNvSpPr/>
          <p:nvPr/>
        </p:nvSpPr>
        <p:spPr>
          <a:xfrm>
            <a:off x="6126480" y="1499616"/>
            <a:ext cx="2834640" cy="3218688"/>
          </a:xfrm>
          <a:prstGeom prst="rect">
            <a:avLst/>
          </a:prstGeom>
          <a:solidFill>
            <a:srgbClr val="E8F5EE"/>
          </a:solidFill>
          <a:ln w="12700">
            <a:solidFill>
              <a:srgbClr val="1B5E3B"/>
            </a:solidFill>
            <a:prstDash val="solid"/>
          </a:ln>
        </p:spPr>
      </p:sp>
      <p:sp>
        <p:nvSpPr>
          <p:cNvPr id="20" name="Text 18"/>
          <p:cNvSpPr/>
          <p:nvPr/>
        </p:nvSpPr>
        <p:spPr>
          <a:xfrm>
            <a:off x="62362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House of Wisdom (Baghdad) preserved Greek, Persian, and Indian knowledge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Islamic scholars advanced algebra, astronomy, and medicine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Persian emerged as a second Islamic literary language (Rumi, Hafiz)</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Arabesque geometric art unified Islamic visual culture across regions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After 1258, Mongol rulers converted to Islam and became Islamic patrons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Political &amp; Religious Institutions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definition AND AP significance -- especially how these institutions survived 1258</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B5432A"/>
          </a:solidFill>
          <a:ln w="12700">
            <a:solidFill>
              <a:srgbClr val="B5432A"/>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Dar al-Islam</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Arabic for 'House of Islam'; regions where Islamic law and practice prevailed. Not a state, but a shared civilization.</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how Islam could be unified culturally without political unity -- key AP framing concept.</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B5432A"/>
          </a:solidFill>
          <a:ln w="12700">
            <a:solidFill>
              <a:srgbClr val="B5432A"/>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Abbasid Caliphate</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empire (750-1258) centered in Baghdad; the political AND cultural heart of the Islamic world at its peak.</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Mongols sacked Baghdad in 1258, killing the last caliph. Know what was lost and what survived.</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B5432A"/>
          </a:solidFill>
          <a:ln w="12700">
            <a:solidFill>
              <a:srgbClr val="B5432A"/>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Sharia</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law derived from the Quran and Hadith; governs religious practice, family law, and commerce.</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Provided legal and moral continuity across the fragmented Islamic world even after 1258.</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B5432A"/>
          </a:solidFill>
          <a:ln w="12700">
            <a:solidFill>
              <a:srgbClr val="B5432A"/>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Ulama</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religious scholars who interpret sharia and administer religious law; the Islamic 'learned class.'</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Like the Chinese scholar-gentry, they maintained cultural continuity when political structures collapsed.</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B5432A"/>
          </a:solidFill>
          <a:ln w="12700">
            <a:solidFill>
              <a:srgbClr val="B5432A"/>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Mamluk Sultanate</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Muslim state (1250-1517) in Egypt ruled by formerly enslaved Turkic soldiers who overthrew their masters.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Defeated the Mongols at Ain Jalut (1260) -- the first major Mongol defeat, halting westward expansion.</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B5432A"/>
          </a:solidFill>
          <a:ln w="12700">
            <a:solidFill>
              <a:srgbClr val="B5432A"/>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Ilkhanate</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Mongol khanate controlling Persia/Middle East (1256-1335), founded after the sack of Baghdad.</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Ilkhanate rulers converted to Islam within generations -- conquered culture absorbed the conquerors.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How Islam Spread -- Trade, Sufism &amp; Scholarship</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Three mechanisms of Islamic spread: trade, Sufi missionaries, and military conquest -- know all three</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2A5298"/>
          </a:solidFill>
          <a:ln w="12700">
            <a:solidFill>
              <a:srgbClr val="2A5298"/>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Sufism</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Mystical Islamic tradition emphasizing direct personal experience of God through prayer, music, and poetry.</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Primary agents of Islam's spread to West Africa, Southeast Asia, Central Asia -- by adapting to local cultures.</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2A5298"/>
          </a:solidFill>
          <a:ln w="12700">
            <a:solidFill>
              <a:srgbClr val="2A5298"/>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Trans-Saharan Trade</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Long-distance commerce crossing the Sahara, primarily exchanging West African gold/salt for North African goods.</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Islam spread along these routes to Mali and West Africa; gold from this trade financed Mediterranean economies.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2A5298"/>
          </a:solidFill>
          <a:ln w="12700">
            <a:solidFill>
              <a:srgbClr val="2A5298"/>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Ibn Battuta</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Moroccan Muslim traveler (1304-1368) who journeyed 75,000+ miles across the Islamic world from Mali to China.</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His Rihla is the best primary source for 14th-century Islamic connectivity. Know his route and observations.</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2A5298"/>
          </a:solidFill>
          <a:ln w="12700">
            <a:solidFill>
              <a:srgbClr val="2A5298"/>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House of Wisdom</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Translation and research center in Abbasid Baghdad that preserved Greek, Persian, and Indian knowledge.</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Islamic scholars preserved classical texts that fueled the European Renaissance; advanced math, medicine, astronomy.</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2A5298"/>
          </a:solidFill>
          <a:ln w="12700">
            <a:solidFill>
              <a:srgbClr val="2A5298"/>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Hajj</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pilgrimage to Mecca -- one of the Five Pillars of Islam; required of all Muslims who are able.</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The hajj physically connected Muslims globally, spread ideas and goods, reinforced unity. See: Mansa Musa.</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2A5298"/>
          </a:solidFill>
          <a:ln w="12700">
            <a:solidFill>
              <a:srgbClr val="2A5298"/>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Madrasas</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schools attached to mosques providing education in religious law, and often medicine and mathematics.</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Created standardized Islamic intellectual culture across all regions; produced the ulama who maintained continuity.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who they were, when they lived, and why they matter for the AP exam</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B5432A"/>
          </a:solidFill>
          <a:ln w="12700">
            <a:solidFill>
              <a:srgbClr val="B5432A"/>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Hulagu Khan &amp; the Mongols</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1217-1265 | Ilkhanate, Middle East</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Grandson of Genghis Khan; led the Mongol sack of Baghdad in 1258</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Executed the last Abbasid caliph -- a traumatic turning point for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Founded the Ilkhanate in Persia; initially hostile to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Later Ilkhanate rulers converted to Islam (classic 'conquerors absorbed' pattern)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invasion forced Islamic scholars to flee, spreading Islamic culture</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Mamluks</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1250-1517 | Egypt and Syria</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Enslaved Turkic soldiers who overthrew their Ayyubid rulers in Egypt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Defeated the Mongols at Battle of Ain Jalut (1260) -- FIRST major Mongol defeat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Halted Mongol westward expansion into Africa; preserved Islamic Middle East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Became protectors of the Abbasid caliphate in exile in Cairo</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One of AP exam's favorite 'limits of Mongol expansion' examples</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Ibn Battuta</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1304-c.1368 | Morocco / Global Islam</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Moroccan Muslim scholar who traveled 75,000+ miles in 29 years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Visited: Morocco, Mali, East Africa, Middle East, Persia, India, SE Asia, China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Rihla documents Islamic governance, trade, and society across three continents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Demonstrates the extraordinary connectivity of the 14th-century Islamic world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 Muslim traveler could find familiar institutions from West Africa to China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The Islamic World 750-1450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especially the events around 1258 -- they define this entire chapter</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377440"/>
                <a:gridCol w="1097280"/>
                <a:gridCol w="438912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750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Abbasid Caliphate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Baghdad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Height of Islamic civilization; House of Wisdom flourishes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1206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Delhi Sultanate founded in 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South Asia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First major Islamic state in South Asia; precursor to Mughal Empire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1250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Mamluks seize power in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Enslaved soldiers overthrow rulers; unusual but durable governance model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1258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Mongols sack Baghdad; caliph killed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Iraq</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End of Abbasid Caliphate -- most traumatic event in medieval Islamic history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1260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Battle of Ain Jalut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Palestine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Mamluks defeat the Mongols -- FIRST major Mongol defeat; westward expansion halted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Ilkhanate rulers convert to Islam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Persia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Conquered culture absorbs conquerors; Islam's resilience demonstrated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1324-25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Musa's hajj to Mecca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 /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Demonstrates Mali's wealth; gold distribution disrupts Egyptian economy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c.1330s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Ibn Battuta begins travels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Global Islam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Best primary source for 14th-c. Islamic world connectivity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Ottoman Empire rising in Anatolia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Anatolia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New Islamic power emerging; will conquer Constantinople in 1453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 AP exam tests your ability to use thematic lenses -- practice these cause-and-effect chains</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Abbasid collapse (1258) ended unified Islamic political authority. Successor states (Mamluks, Delhi Sultanate, later Ottomans) each used a sultan + ulama model: temporal rulers legitimized by Islamic scholars. The Mamluk paradox -- enslaved soldiers governing free civilians -- shows how Islamic governance adapted to extraordinary circumstances.</a:t>
            </a:r>
            <a:endParaRPr lang="en-US" sz="950" dirty="0"/>
          </a:p>
        </p:txBody>
      </p:sp>
      <p:sp>
        <p:nvSpPr>
          <p:cNvPr id="13" name="Shape 11"/>
          <p:cNvSpPr/>
          <p:nvPr/>
        </p:nvSpPr>
        <p:spPr>
          <a:xfrm>
            <a:off x="182880" y="2816352"/>
            <a:ext cx="4297680" cy="1691640"/>
          </a:xfrm>
          <a:prstGeom prst="rect">
            <a:avLst/>
          </a:prstGeom>
          <a:solidFill>
            <a:srgbClr val="FAE8E4"/>
          </a:solidFill>
          <a:ln w="12700">
            <a:solidFill>
              <a:srgbClr val="B5432A"/>
            </a:solidFill>
            <a:prstDash val="solid"/>
          </a:ln>
        </p:spPr>
      </p:sp>
      <p:sp>
        <p:nvSpPr>
          <p:cNvPr id="14" name="Shape 12"/>
          <p:cNvSpPr/>
          <p:nvPr/>
        </p:nvSpPr>
        <p:spPr>
          <a:xfrm>
            <a:off x="182880" y="2816352"/>
            <a:ext cx="4297680" cy="310896"/>
          </a:xfrm>
          <a:prstGeom prst="rect">
            <a:avLst/>
          </a:prstGeom>
          <a:solidFill>
            <a:srgbClr val="B5432A"/>
          </a:solidFill>
          <a:ln w="12700">
            <a:solidFill>
              <a:srgbClr val="B5432A"/>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Muslim merchants dominated all major Eurasian trade routes. The hawala credit system enabled trust-based long-distance commerce. West African gold (via trans-Saharan trade) financed Mediterranean economies. The Pax Mongolica temporarily boosted Silk Road commerce, benefiting Muslim merchants who could operate across khanate borders.</a:t>
            </a:r>
            <a:endParaRPr lang="en-US" sz="950" dirty="0"/>
          </a:p>
        </p:txBody>
      </p:sp>
      <p:sp>
        <p:nvSpPr>
          <p:cNvPr id="17" name="Shape 15"/>
          <p:cNvSpPr/>
          <p:nvPr/>
        </p:nvSpPr>
        <p:spPr>
          <a:xfrm>
            <a:off x="4663440" y="1005840"/>
            <a:ext cx="4297680" cy="1691640"/>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10896"/>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CULTURAL DEVELOPMENTS</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scholars preserved and advanced Greek, Persian, and Indian knowledge. After the Mongol sack of Baghdad, scholars fled to Cairo, Anatolia, and India -- spreading Islamic culture even as its political center collapsed. Mongol rulers eventually converted to Islam, creating a Mongol-Islamic cultural synthesis in Persia and Central Asia.</a:t>
            </a:r>
            <a:endParaRPr lang="en-US" sz="950" dirty="0"/>
          </a:p>
        </p:txBody>
      </p:sp>
      <p:sp>
        <p:nvSpPr>
          <p:cNvPr id="21" name="Shape 19"/>
          <p:cNvSpPr/>
          <p:nvPr/>
        </p:nvSpPr>
        <p:spPr>
          <a:xfrm>
            <a:off x="4663440" y="2816352"/>
            <a:ext cx="4297680" cy="1691640"/>
          </a:xfrm>
          <a:prstGeom prst="rect">
            <a:avLst/>
          </a:prstGeom>
          <a:solidFill>
            <a:srgbClr val="EDE8F5"/>
          </a:solidFill>
          <a:ln w="12700">
            <a:solidFill>
              <a:srgbClr val="4B2D8A"/>
            </a:solidFill>
            <a:prstDash val="solid"/>
          </a:ln>
        </p:spPr>
      </p:sp>
      <p:sp>
        <p:nvSpPr>
          <p:cNvPr id="22" name="Shape 20"/>
          <p:cNvSpPr/>
          <p:nvPr/>
        </p:nvSpPr>
        <p:spPr>
          <a:xfrm>
            <a:off x="4663440" y="2816352"/>
            <a:ext cx="4297680" cy="310896"/>
          </a:xfrm>
          <a:prstGeom prst="rect">
            <a:avLst/>
          </a:prstGeom>
          <a:solidFill>
            <a:srgbClr val="4B2D8A"/>
          </a:solidFill>
          <a:ln w="12700">
            <a:solidFill>
              <a:srgbClr val="4B2D8A"/>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HOW ISLAM SPREAD</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Three mechanisms: (1) Military conquest -- established Islamic rule in new regions. (2) Trade networks -- merchants brought Islam to port cities and trading towns. (3) Sufi missionaries -- adapted Islamic practice to local cultures, making conversion accessible in West Africa, Southeast Asia, and Central Asia. Exam tip: region determines mechanism.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Chapter 2 is tested heavily -- especially the mechanisms of Islamic spread and the impact of 1258</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THREE VECTORS of Islamic spread: trade networks, Sufi missionaries, military conquest -- different regions used different mechanisms. Exam questions love this distinction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1258 (Mongol sack of Baghdad): Know WHAT was lost (Abbasid Caliphate, House of Wisdom) vs. WHAT survived (sharia, ulama, trade networks, Islamic culture)</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Battle of Ain Jalut (1260): First major Mongol defeat -- the Mamluks halted westward expansion. A top AP 'limits of Mongol power' example</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Mongol rulers converting to Islam = conquered culture absorbs conquerors. Also seen with Yuan China rulers adopting Chinese practices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Ibn Battuta's travels demonstrate Islamic world connectivity -- a Muslim could find familiar legal and commercial institutions from Mali to China</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Islamic Ulama vs. Chinese Scholar-Gentry</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are educated elites maintaining cultural continuity when political structures collapse. Different sources of authority: religious vs. Confucian.</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Sufi Islam vs. Catholic Missionaries</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adapted belief to local cultures to facilitate conversion. Sufis emphasized personal devotion and music; friars used Latin education. Compare effectiveness.</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Abbasid Collapse vs. Western Roman Collapse</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great empires fell to outside invaders, yet their cultures survived and shaped successor states. Islam proved MORE resilient than Rome.</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Mongol Impact: China vs. Islamic World</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China: Yuan Dynasty = foreign rule, trade opened. Islam: Abbasid destroyed, but Mamluks halted further conquest. Different outcomes, same invaders.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Highlighted = correct answer. Study the reasoning -- AP tests WHY, not just WHAT.</a:t>
            </a:r>
            <a:endParaRPr lang="en-US" sz="1000" dirty="0"/>
          </a:p>
        </p:txBody>
      </p:sp>
      <p:sp>
        <p:nvSpPr>
          <p:cNvPr id="9" name="Shape 7"/>
          <p:cNvSpPr/>
          <p:nvPr/>
        </p:nvSpPr>
        <p:spPr>
          <a:xfrm>
            <a:off x="182880" y="987552"/>
            <a:ext cx="8778240" cy="1874520"/>
          </a:xfrm>
          <a:prstGeom prst="rect">
            <a:avLst/>
          </a:prstGeom>
          <a:solidFill>
            <a:srgbClr val="E3F0FF"/>
          </a:solidFill>
          <a:ln w="12700">
            <a:solidFill>
              <a:srgbClr val="C0D4F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"Despite the destruction of the Abbasid Caliphate in 1258, Islamic civilization continued to flourish in the centuries that followed, as new states emerged and Islamic culture spread to new regions."</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Which of the following best explains how Islamic civilization survived the Mongol destruction of the Abbasid Caliphate?</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Islamic political unity was maintained through the continued authority of the Ottoman sultan.</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ulama and sharia provided cultural and legal continuity independent of any single political state.</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Mongols preserved all Abbasid institutions and transferred power peacefully to a new caliph.</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European Crusaders helped protect Islamic cities from the worst of the Mongol devastation.</a:t>
            </a:r>
            <a:endParaRPr lang="en-US" sz="950" dirty="0"/>
          </a:p>
        </p:txBody>
      </p:sp>
      <p:sp>
        <p:nvSpPr>
          <p:cNvPr id="20" name="Shape 18"/>
          <p:cNvSpPr/>
          <p:nvPr/>
        </p:nvSpPr>
        <p:spPr>
          <a:xfrm>
            <a:off x="182880" y="2926080"/>
            <a:ext cx="8778240" cy="1847088"/>
          </a:xfrm>
          <a:prstGeom prst="rect">
            <a:avLst/>
          </a:prstGeom>
          <a:solidFill>
            <a:srgbClr val="FAE8E4"/>
          </a:solidFill>
          <a:ln w="12700">
            <a:solidFill>
              <a:srgbClr val="F5D6A8"/>
            </a:solidFill>
            <a:prstDash val="solid"/>
          </a:ln>
        </p:spPr>
      </p:sp>
      <p:sp>
        <p:nvSpPr>
          <p:cNvPr id="21" name="Text 19"/>
          <p:cNvSpPr/>
          <p:nvPr/>
        </p:nvSpPr>
        <p:spPr>
          <a:xfrm>
            <a:off x="320040" y="2971800"/>
            <a:ext cx="8485632" cy="402336"/>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"Sufi missionaries traveled to sub-Saharan Africa, Central Asia, and Southeast Asia, often learning local languages and incorporating local customs into their Islamic practice."</a:t>
            </a:r>
            <a:endParaRPr lang="en-US" sz="950" dirty="0"/>
          </a:p>
        </p:txBody>
      </p:sp>
      <p:sp>
        <p:nvSpPr>
          <p:cNvPr id="22" name="Text 20"/>
          <p:cNvSpPr/>
          <p:nvPr/>
        </p:nvSpPr>
        <p:spPr>
          <a:xfrm>
            <a:off x="320040" y="3401568"/>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activities described in the passage most directly contributed to which of the following?</a:t>
            </a:r>
            <a:endParaRPr lang="en-US" sz="1000" dirty="0"/>
          </a:p>
        </p:txBody>
      </p:sp>
      <p:sp>
        <p:nvSpPr>
          <p:cNvPr id="23" name="Shape 21"/>
          <p:cNvSpPr/>
          <p:nvPr/>
        </p:nvSpPr>
        <p:spPr>
          <a:xfrm>
            <a:off x="320040" y="3694176"/>
            <a:ext cx="219456" cy="210312"/>
          </a:xfrm>
          <a:prstGeom prst="rect">
            <a:avLst/>
          </a:prstGeom>
          <a:solidFill>
            <a:srgbClr val="D1D5DB"/>
          </a:solidFill>
          <a:ln w="12700">
            <a:solidFill>
              <a:srgbClr val="D1D5DB"/>
            </a:solidFill>
            <a:prstDash val="solid"/>
          </a:ln>
        </p:spPr>
      </p:sp>
      <p:sp>
        <p:nvSpPr>
          <p:cNvPr id="24" name="Text 22"/>
          <p:cNvSpPr/>
          <p:nvPr/>
        </p:nvSpPr>
        <p:spPr>
          <a:xfrm>
            <a:off x="594360" y="3703320"/>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The military conquest of sub-Saharan Africa by Muslim armies from the north.</a:t>
            </a:r>
            <a:endParaRPr lang="en-US" sz="950" dirty="0"/>
          </a:p>
        </p:txBody>
      </p:sp>
      <p:sp>
        <p:nvSpPr>
          <p:cNvPr id="25" name="Shape 23"/>
          <p:cNvSpPr/>
          <p:nvPr/>
        </p:nvSpPr>
        <p:spPr>
          <a:xfrm>
            <a:off x="320040" y="3941064"/>
            <a:ext cx="219456" cy="210312"/>
          </a:xfrm>
          <a:prstGeom prst="rect">
            <a:avLst/>
          </a:prstGeom>
          <a:solidFill>
            <a:srgbClr val="1B5E3B"/>
          </a:solidFill>
          <a:ln w="12700">
            <a:solidFill>
              <a:srgbClr val="1B5E3B"/>
            </a:solidFill>
            <a:prstDash val="solid"/>
          </a:ln>
        </p:spPr>
      </p:sp>
      <p:sp>
        <p:nvSpPr>
          <p:cNvPr id="26" name="Text 24"/>
          <p:cNvSpPr/>
          <p:nvPr/>
        </p:nvSpPr>
        <p:spPr>
          <a:xfrm>
            <a:off x="594360" y="3950208"/>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gradual spread of Islam to regions outside the original heartland of Islamic political power.</a:t>
            </a:r>
            <a:endParaRPr lang="en-US" sz="950" dirty="0"/>
          </a:p>
        </p:txBody>
      </p:sp>
      <p:sp>
        <p:nvSpPr>
          <p:cNvPr id="27" name="Shape 25"/>
          <p:cNvSpPr/>
          <p:nvPr/>
        </p:nvSpPr>
        <p:spPr>
          <a:xfrm>
            <a:off x="320040" y="4187952"/>
            <a:ext cx="219456" cy="210312"/>
          </a:xfrm>
          <a:prstGeom prst="rect">
            <a:avLst/>
          </a:prstGeom>
          <a:solidFill>
            <a:srgbClr val="D1D5DB"/>
          </a:solidFill>
          <a:ln w="12700">
            <a:solidFill>
              <a:srgbClr val="D1D5DB"/>
            </a:solidFill>
            <a:prstDash val="solid"/>
          </a:ln>
        </p:spPr>
      </p:sp>
      <p:sp>
        <p:nvSpPr>
          <p:cNvPr id="28" name="Text 26"/>
          <p:cNvSpPr/>
          <p:nvPr/>
        </p:nvSpPr>
        <p:spPr>
          <a:xfrm>
            <a:off x="594360" y="419709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forced conversion of local populations to orthodox Sunni Islamic practice.</a:t>
            </a:r>
            <a:endParaRPr lang="en-US" sz="950" dirty="0"/>
          </a:p>
        </p:txBody>
      </p:sp>
      <p:sp>
        <p:nvSpPr>
          <p:cNvPr id="29" name="Shape 27"/>
          <p:cNvSpPr/>
          <p:nvPr/>
        </p:nvSpPr>
        <p:spPr>
          <a:xfrm>
            <a:off x="320040" y="4434840"/>
            <a:ext cx="219456" cy="210312"/>
          </a:xfrm>
          <a:prstGeom prst="rect">
            <a:avLst/>
          </a:prstGeom>
          <a:solidFill>
            <a:srgbClr val="D1D5DB"/>
          </a:solidFill>
          <a:ln w="12700">
            <a:solidFill>
              <a:srgbClr val="D1D5DB"/>
            </a:solidFill>
            <a:prstDash val="solid"/>
          </a:ln>
        </p:spPr>
      </p:sp>
      <p:sp>
        <p:nvSpPr>
          <p:cNvPr id="30" name="Text 28"/>
          <p:cNvSpPr/>
          <p:nvPr/>
        </p:nvSpPr>
        <p:spPr>
          <a:xfrm>
            <a:off x="594360" y="444398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replacement of local cultural traditions with standardized Arabic customs.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3-5 sentences per part. No thesis. Back every claim with specific historical evidence.</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to answer parts A, B, and C: "The period 1200-1450 demonstrates both the fragility and the resilience of Islamic civilization, as political structures collapsed under the Mongol invasions but Islamic culture, trade, and religion endured and even expanded."</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B5432A"/>
          </a:solidFill>
          <a:ln w="12700">
            <a:solidFill>
              <a:srgbClr val="B5432A"/>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the Mongol invasions DAMAGED Islamic civilization in the period 1200-1450.</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B5432A"/>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Mongol sack of Baghdad (1258) / execution of last caliph / destruction of House of Wisdom / devastation of Mesopotamian irrigation systems / trauma to Islamic political authority</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2A5298"/>
          </a:solidFill>
          <a:ln w="12700">
            <a:solidFill>
              <a:srgbClr val="2A5298"/>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Islamic civilization demonstrated RESILIENCE following the Mongol invasions.</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Mamluks defeated Mongols at Ain Jalut (1260) / Ilkhanate rulers converted to Islam / ulama maintained sharia continuity / new states (Delhi Sultanate, Mamluks) rose / Islamic trade networks continued</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1B5E3B"/>
          </a:solidFill>
          <a:ln w="12700">
            <a:solidFill>
              <a:srgbClr val="1B5E3B"/>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Islam SPREAD to new regions during the period 1200-1450.</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Sufi missionaries in West Africa / trans-Saharan trade routes to Mali / Indian Ocean trade to Southeast Asia / Malacca's ruler converted c.1414 / Ibn Battuta's account shows Islamic reach from Mali to China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2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better comparative and continuity-and-change essays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Classical Islamic civilization under the Abbasid golden age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Muhammad's founding of Islam and the early expansion (7th c.)</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Arab conquest of Persia and North Africa established Islamic heartland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Pre-Islamic trade routes (Indian Ocean, Silk Road) that Islam later dominated</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Ottoman Empire conquers Constantinople (1453) --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Mughal Empire in India builds on Delhi Sultanate foundations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Islamic merchants dominate Indian Ocean trade into the 16th century</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Mansa Musa's hajj puts West Africa on European maps -- sets up African chapter</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Both Abbasid Caliphate and Yuan Dynasty fell to the Mongols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3: Delhi Sultanate = Islamic rule over Hindu majority (same period)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4: Mali Empire adopted Islam through trade, not conquest</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Islamic ulama vs. Chinese scholar-gentry -- both maintain cultural continuity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Developments in Dar al-Islam (1200-1450)</dc:title>
  <dc:subject>PptxGenJS Presentation</dc:subject>
  <dc:creator>PptxGenJS</dc:creator>
  <cp:lastModifiedBy>PptxGenJS</cp:lastModifiedBy>
  <cp:revision>1</cp:revision>
  <dcterms:created xsi:type="dcterms:W3CDTF">2026-05-10T12:31:03Z</dcterms:created>
  <dcterms:modified xsi:type="dcterms:W3CDTF">2026-05-10T12:31:03Z</dcterms:modified>
</cp:coreProperties>
</file>