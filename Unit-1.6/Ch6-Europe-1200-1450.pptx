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spc="3000" kern="0" dirty="0">
                <a:solidFill>
                  <a:srgbClr val="1E3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EUROPA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 ·  CHAPTER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Developments in Europe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1200 – 1450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Period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Picture: Medieval Europe in AP World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03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(1200–1450) was politically fragmented yet culturally unified by the Catholic Church. This era ends with the Black Death shattering the medieval order — setting up the Renaissance, the Reformation, and the Age of Exploration.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260604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23317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 fragmentation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Carta (1215)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 Roman Empire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 Years' War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37360"/>
            <a:ext cx="2606040" cy="43891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37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231136"/>
            <a:ext cx="23317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Church dominates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Crusades (1095–1291)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Schism (1378)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Aquinas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37360"/>
            <a:ext cx="2606040" cy="438912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737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231136"/>
            <a:ext cx="23317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Manorial system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Revival of trade &amp; towns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Hanseatic League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disruption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 TIP  The Black Death is the central pivot of this chapter — know how it changed feudalism, the Church, and economics.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Feudal Society: The Three Estates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868680"/>
            <a:ext cx="2560320" cy="80467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868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ESTATE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2710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Clergy — Pope, Bishops, Priests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457200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8288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ESTATE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2311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Nobility — Kings, Lords, Knights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7315200" cy="80467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88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 ESTATE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19125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Commoners — Peasants, Serfs, Merchants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26700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49040"/>
            <a:ext cx="54864" cy="53035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776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~1%  First Estate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40142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education, tithes &amp; spiritual authority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72968" y="3749040"/>
            <a:ext cx="26700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3749040"/>
            <a:ext cx="54864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776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~5–10%  Second Estate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40142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land, military power &amp; local governance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5896" y="3749040"/>
            <a:ext cx="26700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3749040"/>
            <a:ext cx="54864" cy="530352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3776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7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~85–90%  Third Estate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40142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the land; owed labor, taxes &amp; military 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The three-estate system was ideologically rigid but economically fragile. The Black Death broke it open by creating massive labor shortages.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Catholic Church: Europe's Most Powerful Institution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153619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 Authority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075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Pope could excommunicate kings, cutting them off from salvation. No ruler could ignore this threat.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517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64008" cy="153619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960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Power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3075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collected tithes (10% tax) from all Christians and owned enormous tracts of land across Europe.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868680"/>
            <a:ext cx="26517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868680"/>
            <a:ext cx="64008" cy="153619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960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&amp; Literacy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53912" y="13075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Monasteries preserved ancient manuscripts. Universities (Bologna, Paris, Oxford) operated under Church authority.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32888"/>
            <a:ext cx="26517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32888"/>
            <a:ext cx="64008" cy="153619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624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Leverage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29718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Investiture Controversy: Pope Gregory VII humiliated Emperor Henry IV (1077) — proof Church &gt; kings at this moment.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532888"/>
            <a:ext cx="26517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532888"/>
            <a:ext cx="64008" cy="153619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624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Production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29718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Gothic cathedrals, illuminated manuscripts, and liturgical music were the art and architecture of the 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532888"/>
            <a:ext cx="26517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532888"/>
            <a:ext cx="64008" cy="153619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2624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 Movements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Franciscans &amp; Dominicans spread Church reach into cities. Dominicans ran the Inquisition against heresy.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 Church authority erodes after the Black Death &amp; Western Schism — contrast this peak power with its later decline.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Crusades (1095–1291): Holy War &amp; Cultural Encounter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3840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 Urban II (1095) called Christians to recapture Jerusalem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196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Byzantine Emperor asked for aid against Seljuk Turks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devotion + promise of indulgences (remission of sins)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8986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motives: access to lucrative Eastern trade routes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43814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Political: gave restless European nobility an outlet for violence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83480" y="804672"/>
            <a:ext cx="3840480" cy="384048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804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1280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trade with Islamic world — spices, textiles, ideas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18196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of Islamic science, math, &amp; philosophy to Europe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3591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Intensified antisemitism &amp; persecution of Jews in Europe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28986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Crusade (1204) sacked Constantinople — deepened rift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343814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militarily — last Crusader state fell in 1291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07408" y="804672"/>
            <a:ext cx="329184" cy="3566160"/>
          </a:xfrm>
          <a:prstGeom prst="rect">
            <a:avLst/>
          </a:prstGeom>
          <a:solidFill>
            <a:srgbClr val="CBD5E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2194560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 TIP  The Crusades = military failure but cultural success. The knowledge transfer to Europe is more historically significant than any battle.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Universities &amp; Scholasticism: Faith Meets Reason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RISE OF UNIVERSITIES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16152"/>
          <a:ext cx="3931920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Bologna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1150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Oxford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1167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Philosophy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Salamanca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2296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822960"/>
            <a:ext cx="3977640" cy="64008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941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SCHOLASTICISM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13167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attempt to reconcile Christian theology with classical Greek philosophy (especially Aristotle).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96596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Aquinas (1225–1274)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23500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Theologica: faith + reason are compatible, not in conflict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46320" y="2834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Aristotelian logic to defend Christian doctrine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46320" y="33192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Laid groundwork for later scientific inquiry within the Church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LINK  Islamic scholars preserved Aristotle's works → Crusades bring them to Europe → Aquinas synthesizes them with Christianity.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3091"/>
            <a:ext cx="9144000" cy="64008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1400" kern="0" dirty="0">
                <a:solidFill>
                  <a:srgbClr val="DDD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C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DEATH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0B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1347 – 1353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218688"/>
            <a:ext cx="3657600" cy="36576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point of medieval Europe — one-third of the population dead in five years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Death: Causes, Spread &amp; Immediate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SPREAD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in Central Asia; spread via Mongol trade routes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72821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in Sicily via Genoese trading ships (1347)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Traveled through Italy, France, England, N. Europe by 1353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807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an estimated 25-30 million Europeans — one-third of the population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34670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Recurred in waves through the 15th century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IMPACTS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22529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chaos: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1344" y="1225296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abandoned sick; priests fled; social bonds broke 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01368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801368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183794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crisis: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183794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did not stop it — growing doubt in Church's power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14016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14016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245059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Scapegoating: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245059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communities massacred across Europe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026664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026664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0632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collapse: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30632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rotted; entire villages disappeared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639312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639312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3675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death: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81344" y="36758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regions lost 50-60% of their population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 The same trade routes that made Europe wealthier brought the plague. Connectivity = vulnerability.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Death: Long-Term Social &amp; Economic Transformation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67004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70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261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Shortage -&gt; Peasant Power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workers could demand wages. Serfdom collapsed in W. Europe as lords competed for labor. Statute of Laborers (1351) — FAILED.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267004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68680"/>
            <a:ext cx="2670048" cy="34747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8686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261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 Weakens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82696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Prayers failed. Priests died or fled. Flagellant movements bypassed Church hierarchy. Western Schism (1378) deepened distrust.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68680"/>
            <a:ext cx="267004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868680"/>
            <a:ext cx="2670048" cy="347472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8686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5624" y="1261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Peasant Uprisings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35624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Peasants' Revolt (1381), French Jacquerie (1358). Lower classes demanded rights. Suppressed but signaled new pressures.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267004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60320"/>
            <a:ext cx="2670048" cy="347472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603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2953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Capitalism Rises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31012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scarcity raised wages. Landowners shifted to wool/trade over farming. Italian bankers expanded. Proto-capitalism emerges.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2560320"/>
            <a:ext cx="267004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560320"/>
            <a:ext cx="2670048" cy="347472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25603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82696" y="2953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Growth Accelerates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82696" y="331012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migrated to towns seeking opportunity. Growing cities demanded goods, laws, and services — undermining manorialism.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25896" y="2560320"/>
            <a:ext cx="267004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560320"/>
            <a:ext cx="2670048" cy="347472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25603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35624" y="2953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Seeds of Renaissance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35624" y="331012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Church authority + recovered classical texts + Italian merchant wealth -&gt; Italian Renaissance by 1400s.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CHAIN  Labor shortage -&gt; peasant power -&gt; weakened feudalism -&gt; merchant capitalism -&gt; motivation for Atlantic exploration.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Governance: From Feudalism to Representative Institutions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397764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97764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MAGNA CARTA (1215)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John forced to sign by rebellious barons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Established: even the king is subject to law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rights of freemen from arbitrary arrest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to Parliament &amp; constitutional government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the U.S. Constitution, 500 years later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22960"/>
            <a:ext cx="64008" cy="100584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Carta (1215) → Parliament → trajectory toward constitutional monarchy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929384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29384"/>
            <a:ext cx="64008" cy="1005840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75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2951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 Years' War forces centralization; Estates-General rarely summoned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35808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35808"/>
            <a:ext cx="64008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HOLY ROMAN EMPIRE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015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 resist central authority → Germany stays fragmented until 1871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 European feudal fragmentation vs. Song China's centralized bureaucracy — a classic AP comparison question.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Hundred Years' War (1337–1453): Forging Nation-States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960120"/>
            <a:ext cx="7680960" cy="7315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905256"/>
            <a:ext cx="182880" cy="182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begins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French throne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64608" y="905256"/>
            <a:ext cx="182880" cy="182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1155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1688" y="1389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Agincourt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victory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47181" y="905256"/>
            <a:ext cx="182880" cy="182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2861" y="11155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44261" y="1389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of Arc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tide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905256"/>
            <a:ext cx="182880" cy="182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1155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1389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wins;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ends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93392"/>
            <a:ext cx="4023360" cy="365760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241401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monarchy strengthened under Charles VII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2889504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national identity crystallized through shared enemy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36499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of Arc became enduring symbol of religious nationalism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84048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Nobility weakened; crown gained direct tax authority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93392"/>
            <a:ext cx="40233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ENGLAND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64608" y="241401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French territories forced inward focus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889504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 gained power as kings needed war funding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336499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Longbow gave tactical edge — professional armies replace knights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84048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into Wars of the Roses (1455) — more dynastic instability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  Long wars require national armies, taxes, and administration — shifting power from feudal lords to centralized monarchs.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Decline of Medieval Institutions (1300s–1450s)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417320" cy="57607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1309–1377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052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Avignon Papacy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41648" y="88696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Popes move to France, seen as pawns of the French king. Undermines claim to universal spiritual authority.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527048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27048"/>
            <a:ext cx="1417320" cy="576072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1347–1353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15636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Death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41648" y="154533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could not explain or stop it. Priests fled. Faith in institutional religion shaken across Europe.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85416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85416"/>
            <a:ext cx="1417320" cy="576072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85416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1378–1417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2221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Western Schism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41648" y="220370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 simultaneously claim the papacy. Church councils (Conciliarism) attempt a fix — exposing papal limits.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43784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43784"/>
            <a:ext cx="1417320" cy="576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43784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20240" y="28803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Peasants' Revolt (England)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41648" y="28620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classes challenge the social order. Though crushed, it signals the feudal contract is breaking down.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502152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02152"/>
            <a:ext cx="1417320" cy="5760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02152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20240" y="35387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of Constantinople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41648" y="352044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Byzantine Empire. Greek scholars flee to Italy fueling the Renaissance. Ottomans control E. Mediterranean.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TO CHANGE  From peak Church power (1200) to crisis of authority (1378 Schism) to Reformation (1517) — a 300-year arc.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 Causation Chain: 1200 -&gt; 1450 -&gt; Beyond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1252728" cy="1389888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353312"/>
            <a:ext cx="1252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3-field 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fuels surplus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99616" y="1837944"/>
            <a:ext cx="219456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188720"/>
            <a:ext cx="1252728" cy="1389888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353312"/>
            <a:ext cx="1252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Revival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37360" y="202996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grow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rise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08376" y="1837944"/>
            <a:ext cx="219456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1252728" cy="1389888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1353312"/>
            <a:ext cx="1252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Death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202996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Silk Roads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17136" y="1837944"/>
            <a:ext cx="219456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1252728" cy="1389888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353312"/>
            <a:ext cx="1252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Feudalism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Weakens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202996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shortage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Peasant power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25896" y="1837944"/>
            <a:ext cx="219456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188720"/>
            <a:ext cx="1252728" cy="1389888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1353312"/>
            <a:ext cx="1252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202996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Schism &amp; doubt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pressure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34656" y="1837944"/>
            <a:ext cx="219456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188720"/>
            <a:ext cx="1252728" cy="1389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0" y="1353312"/>
            <a:ext cx="1252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Monarchy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0" y="2029968"/>
            <a:ext cx="1252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 force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743200"/>
            <a:ext cx="850392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32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 -&gt;  Age of Exploration (1450s+)  |  Italian Renaissance  |  Protestant Reformation (1517)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35753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Chain Matters for the AP Exam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3858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Death didn't destroy Europe — it restructured it. Peasants gained power, the merchant class grew, monarchies centralized, and the Church lost moral authority. These changes made European expansion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Comparisons for the AP Exam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3401568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Elsewhere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Contrast / 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Feudalism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Japanese Feudalism (daimyo/samurai)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SIMILAR: decentralized, warrior-noble 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DIFFERENT: Japan's lasted until 1868; Europe's collapsed after the Black Death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Catholic Church (Pope)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Islamic Caliphates (ulama)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blend religion + politics; Islam had no single pope-equivalent — more decentralized religious 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Death in Europe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Plague impact in Yuan China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devastating; China's recovery led to Ming nativism; Europe's led to merchant capitalism &amp; exploration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Magna Carta / Parliament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 kurultai / Aztec councils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show elite consultation limiting one-man rule — different scope, legality, and durability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Crusades (failed)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Reconquista (succeeded, 1492)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religion-driven military expansion; Reconquista freed Iberian monarchies to fund overseas exploration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FFF8E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434340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 TIP  Know at least one specific comparison for your essays — Japanese feudalism vs. European feudalism is a go-to for Period 1 LEQ prompts.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TIPS &amp;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6: Developments in Europe  |  c. 1200-1450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151376" cy="1124712"/>
          </a:xfrm>
          <a:prstGeom prst="rect">
            <a:avLst/>
          </a:prstGeom>
          <a:solidFill>
            <a:srgbClr val="1E3460"/>
          </a:solidFill>
          <a:ln w="635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15568"/>
            <a:ext cx="475488" cy="1124712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475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207008"/>
            <a:ext cx="3474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= #1 tested topic. Cause: trade routes. Effect: labor shortage -&gt; weakened feudalism -&gt; merchant capitalism.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15568"/>
            <a:ext cx="4151376" cy="1124712"/>
          </a:xfrm>
          <a:prstGeom prst="rect">
            <a:avLst/>
          </a:prstGeom>
          <a:solidFill>
            <a:srgbClr val="1E3460"/>
          </a:solidFill>
          <a:ln w="635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15568"/>
            <a:ext cx="475488" cy="1124712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15568"/>
            <a:ext cx="475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207008"/>
            <a:ext cx="3474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chain: population growth -&gt; trade revival -&gt; plague -&gt; feudalism weakens -&gt; monarchy rises -&gt; exploration.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350008"/>
            <a:ext cx="4151376" cy="1124712"/>
          </a:xfrm>
          <a:prstGeom prst="rect">
            <a:avLst/>
          </a:prstGeom>
          <a:solidFill>
            <a:srgbClr val="1E3460"/>
          </a:solidFill>
          <a:ln w="635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350008"/>
            <a:ext cx="475488" cy="1124712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50008"/>
            <a:ext cx="475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441448"/>
            <a:ext cx="3474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Comparisons: Europe feudalism vs. Japan; Catholic Church vs. Islamic ulama; Magna Carta vs. Mongol kurultai.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350008"/>
            <a:ext cx="4151376" cy="1124712"/>
          </a:xfrm>
          <a:prstGeom prst="rect">
            <a:avLst/>
          </a:prstGeom>
          <a:solidFill>
            <a:srgbClr val="1E3460"/>
          </a:solidFill>
          <a:ln w="635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350008"/>
            <a:ext cx="475488" cy="1124712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50008"/>
            <a:ext cx="475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3248" y="2441448"/>
            <a:ext cx="3474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arc: feudal fragmentation -&gt; Magna Carta (1215) -&gt; Parliament -&gt; centralized monarchies post-Hundred Years' War.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584448"/>
            <a:ext cx="4151376" cy="1124712"/>
          </a:xfrm>
          <a:prstGeom prst="rect">
            <a:avLst/>
          </a:prstGeom>
          <a:solidFill>
            <a:srgbClr val="1E3460"/>
          </a:solidFill>
          <a:ln w="635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584448"/>
            <a:ext cx="475488" cy="1124712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584448"/>
            <a:ext cx="475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675888"/>
            <a:ext cx="3474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trajectory: PEAK power (Innocent III, 1200s) -&gt; erosion via Black Death + Western Schism -&gt; seeds of Reformation (1517).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84448"/>
            <a:ext cx="4151376" cy="1124712"/>
          </a:xfrm>
          <a:prstGeom prst="rect">
            <a:avLst/>
          </a:prstGeom>
          <a:solidFill>
            <a:srgbClr val="1E3460"/>
          </a:solidFill>
          <a:ln w="6350">
            <a:solidFill>
              <a:srgbClr val="2A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584448"/>
            <a:ext cx="475488" cy="11247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84448"/>
            <a:ext cx="4754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3248" y="3675888"/>
            <a:ext cx="34747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to know: 1215 (Magna Carta), 1347 (Black Death), 1378 (Western Schism), 1453 (Constantinople falls to Ottomans).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6: Developments in Europe (c. 1200–1450)</dc:title>
  <dc:subject>PptxGenJS Presentation</dc:subject>
  <dc:creator>AP World History Study</dc:creator>
  <cp:lastModifiedBy>AP World History Study</cp:lastModifiedBy>
  <cp:revision>1</cp:revision>
  <dcterms:created xsi:type="dcterms:W3CDTF">2026-05-10T13:29:54Z</dcterms:created>
  <dcterms:modified xsi:type="dcterms:W3CDTF">2026-05-10T13:29:54Z</dcterms:modified>
</cp:coreProperties>
</file>