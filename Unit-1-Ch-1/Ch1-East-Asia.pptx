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C8853A"/>
          </a:solidFill>
          <a:ln w="12700">
            <a:solidFill>
              <a:srgbClr val="C8853A"/>
            </a:solidFill>
            <a:prstDash val="solid"/>
          </a:ln>
        </p:spPr>
      </p:sp>
      <p:sp>
        <p:nvSpPr>
          <p:cNvPr id="3" name="Shape 1"/>
          <p:cNvSpPr/>
          <p:nvPr/>
        </p:nvSpPr>
        <p:spPr>
          <a:xfrm>
            <a:off x="502920" y="0"/>
            <a:ext cx="73152" cy="5143500"/>
          </a:xfrm>
          <a:prstGeom prst="rect">
            <a:avLst/>
          </a:prstGeom>
          <a:solidFill>
            <a:srgbClr val="E8C97A"/>
          </a:solidFill>
          <a:ln w="12700">
            <a:solidFill>
              <a:srgbClr val="E8C97A"/>
            </a:solidFill>
            <a:prstDash val="solid"/>
          </a:ln>
        </p:spPr>
      </p:sp>
      <p:sp>
        <p:nvSpPr>
          <p:cNvPr id="4" name="Shape 2"/>
          <p:cNvSpPr/>
          <p:nvPr/>
        </p:nvSpPr>
        <p:spPr>
          <a:xfrm>
            <a:off x="6583680" y="-1097280"/>
            <a:ext cx="4114800" cy="4114800"/>
          </a:xfrm>
          <a:prstGeom prst="ellipse">
            <a:avLst/>
          </a:prstGeom>
          <a:solidFill>
            <a:srgbClr val="243B6E"/>
          </a:solidFill>
          <a:ln w="12700">
            <a:solidFill>
              <a:srgbClr val="243B6E"/>
            </a:solidFill>
            <a:prstDash val="solid"/>
          </a:ln>
        </p:spPr>
      </p:sp>
      <p:sp>
        <p:nvSpPr>
          <p:cNvPr id="5" name="Shape 3"/>
          <p:cNvSpPr/>
          <p:nvPr/>
        </p:nvSpPr>
        <p:spPr>
          <a:xfrm>
            <a:off x="7315200" y="2926080"/>
            <a:ext cx="2743200" cy="2743200"/>
          </a:xfrm>
          <a:prstGeom prst="ellipse">
            <a:avLst/>
          </a:prstGeom>
          <a:solidFill>
            <a:srgbClr val="162E58"/>
          </a:solidFill>
          <a:ln w="12700">
            <a:solidFill>
              <a:srgbClr val="162E58"/>
            </a:solidFill>
            <a:prstDash val="solid"/>
          </a:ln>
        </p:spPr>
      </p:sp>
      <p:sp>
        <p:nvSpPr>
          <p:cNvPr id="6" name="Text 4"/>
          <p:cNvSpPr/>
          <p:nvPr/>
        </p:nvSpPr>
        <p:spPr>
          <a:xfrm>
            <a:off x="777240" y="822960"/>
            <a:ext cx="8046720" cy="292608"/>
          </a:xfrm>
          <a:prstGeom prst="rect">
            <a:avLst/>
          </a:prstGeom>
          <a:noFill/>
          <a:ln/>
        </p:spPr>
        <p:txBody>
          <a:bodyPr wrap="square" lIns="0" tIns="0" rIns="0" bIns="0" rtlCol="0" anchor="ctr"/>
          <a:lstStyle/>
          <a:p>
            <a:pPr indent="0" marL="0">
              <a:buNone/>
            </a:pPr>
            <a:r>
              <a:rPr lang="en-US" sz="1000" spc="200" kern="0" dirty="0">
                <a:solidFill>
                  <a:srgbClr val="E8C97A"/>
                </a:solidFill>
                <a:latin typeface="Trebuchet MS" pitchFamily="34" charset="0"/>
                <a:ea typeface="Trebuchet MS" pitchFamily="34" charset="-122"/>
                <a:cs typeface="Trebuchet MS" pitchFamily="34" charset="-120"/>
              </a:rPr>
              <a:t>AP WORLD HISTORY: MODERN  ·  UNIT 1  ·  PERIOD 1</a:t>
            </a:r>
            <a:endParaRPr lang="en-US" sz="1000" dirty="0"/>
          </a:p>
        </p:txBody>
      </p:sp>
      <p:sp>
        <p:nvSpPr>
          <p:cNvPr id="7" name="Text 5"/>
          <p:cNvSpPr/>
          <p:nvPr/>
        </p:nvSpPr>
        <p:spPr>
          <a:xfrm>
            <a:off x="777240" y="1161288"/>
            <a:ext cx="7315200" cy="365760"/>
          </a:xfrm>
          <a:prstGeom prst="rect">
            <a:avLst/>
          </a:prstGeom>
          <a:noFill/>
          <a:ln/>
        </p:spPr>
        <p:txBody>
          <a:bodyPr wrap="square" lIns="0" tIns="0" rIns="0" bIns="0" rtlCol="0" anchor="ctr"/>
          <a:lstStyle/>
          <a:p>
            <a:pPr indent="0" marL="0">
              <a:buNone/>
            </a:pPr>
            <a:r>
              <a:rPr lang="en-US" sz="1300" b="1" spc="400" kern="0" dirty="0">
                <a:solidFill>
                  <a:srgbClr val="E8C97A"/>
                </a:solidFill>
                <a:latin typeface="Trebuchet MS" pitchFamily="34" charset="0"/>
                <a:ea typeface="Trebuchet MS" pitchFamily="34" charset="-122"/>
                <a:cs typeface="Trebuchet MS" pitchFamily="34" charset="-120"/>
              </a:rPr>
              <a:t>CHAPTER 1</a:t>
            </a:r>
            <a:endParaRPr lang="en-US" sz="1300" dirty="0"/>
          </a:p>
        </p:txBody>
      </p:sp>
      <p:sp>
        <p:nvSpPr>
          <p:cNvPr id="8" name="Text 6"/>
          <p:cNvSpPr/>
          <p:nvPr/>
        </p:nvSpPr>
        <p:spPr>
          <a:xfrm>
            <a:off x="777240" y="1572768"/>
            <a:ext cx="5943600" cy="16002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Developments in</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East Asia</a:t>
            </a:r>
            <a:endParaRPr lang="en-US" sz="4000" dirty="0"/>
          </a:p>
        </p:txBody>
      </p:sp>
      <p:sp>
        <p:nvSpPr>
          <p:cNvPr id="9" name="Text 7"/>
          <p:cNvSpPr/>
          <p:nvPr/>
        </p:nvSpPr>
        <p:spPr>
          <a:xfrm>
            <a:off x="777240" y="3246120"/>
            <a:ext cx="7772400" cy="365760"/>
          </a:xfrm>
          <a:prstGeom prst="rect">
            <a:avLst/>
          </a:prstGeom>
          <a:noFill/>
          <a:ln/>
        </p:spPr>
        <p:txBody>
          <a:bodyPr wrap="square" lIns="0" tIns="0" rIns="0" bIns="0" rtlCol="0" anchor="ctr"/>
          <a:lstStyle/>
          <a:p>
            <a:pPr indent="0" marL="0">
              <a:buNone/>
            </a:pPr>
            <a:r>
              <a:rPr lang="en-US" sz="1600" i="1" dirty="0">
                <a:solidFill>
                  <a:srgbClr val="E8C97A"/>
                </a:solidFill>
                <a:latin typeface="Calibri" pitchFamily="34" charset="0"/>
                <a:ea typeface="Calibri" pitchFamily="34" charset="-122"/>
                <a:cs typeface="Calibri" pitchFamily="34" charset="-120"/>
              </a:rPr>
              <a:t>1200-1450  |  Song · Yuan · Ming Dynasties</a:t>
            </a:r>
            <a:endParaRPr lang="en-US" sz="1600" dirty="0"/>
          </a:p>
        </p:txBody>
      </p:sp>
      <p:sp>
        <p:nvSpPr>
          <p:cNvPr id="10" name="Shape 8"/>
          <p:cNvSpPr/>
          <p:nvPr/>
        </p:nvSpPr>
        <p:spPr>
          <a:xfrm>
            <a:off x="777240" y="3703320"/>
            <a:ext cx="7315200" cy="0"/>
          </a:xfrm>
          <a:prstGeom prst="line">
            <a:avLst/>
          </a:prstGeom>
          <a:noFill/>
          <a:ln w="19050">
            <a:solidFill>
              <a:srgbClr val="C8853A"/>
            </a:solidFill>
            <a:prstDash val="solid"/>
          </a:ln>
        </p:spPr>
      </p:sp>
      <p:sp>
        <p:nvSpPr>
          <p:cNvPr id="11" name="Text 9"/>
          <p:cNvSpPr/>
          <p:nvPr/>
        </p:nvSpPr>
        <p:spPr>
          <a:xfrm>
            <a:off x="777240" y="3822192"/>
            <a:ext cx="8046720" cy="274320"/>
          </a:xfrm>
          <a:prstGeom prst="rect">
            <a:avLst/>
          </a:prstGeom>
          <a:noFill/>
          <a:ln/>
        </p:spPr>
        <p:txBody>
          <a:bodyPr wrap="square" lIns="0" tIns="0" rIns="0" bIns="0" rtlCol="0" anchor="ctr"/>
          <a:lstStyle/>
          <a:p>
            <a:pPr indent="0" marL="0">
              <a:buNone/>
            </a:pPr>
            <a:r>
              <a:rPr lang="en-US" sz="1100" i="1" dirty="0">
                <a:solidFill>
                  <a:srgbClr val="8FA3CC"/>
                </a:solidFill>
                <a:latin typeface="Calibri" pitchFamily="34" charset="0"/>
                <a:ea typeface="Calibri" pitchFamily="34" charset="-122"/>
                <a:cs typeface="Calibri" pitchFamily="34" charset="-120"/>
              </a:rPr>
              <a:t>UNIT 1: THE GLOBAL TAPESTRY  ·  China · Korea · Japan · Vietnam</a:t>
            </a:r>
            <a:endParaRPr lang="en-US" sz="1100" dirty="0"/>
          </a:p>
        </p:txBody>
      </p:sp>
      <p:sp>
        <p:nvSpPr>
          <p:cNvPr id="12" name="Shape 10"/>
          <p:cNvSpPr/>
          <p:nvPr/>
        </p:nvSpPr>
        <p:spPr>
          <a:xfrm>
            <a:off x="777240" y="4187952"/>
            <a:ext cx="1463040" cy="347472"/>
          </a:xfrm>
          <a:prstGeom prst="rect">
            <a:avLst/>
          </a:prstGeom>
          <a:solidFill>
            <a:srgbClr val="1E3264"/>
          </a:solidFill>
          <a:ln w="12700">
            <a:solidFill>
              <a:srgbClr val="C8853A"/>
            </a:solidFill>
            <a:prstDash val="solid"/>
          </a:ln>
        </p:spPr>
      </p:sp>
      <p:sp>
        <p:nvSpPr>
          <p:cNvPr id="13" name="Text 11"/>
          <p:cNvSpPr/>
          <p:nvPr/>
        </p:nvSpPr>
        <p:spPr>
          <a:xfrm>
            <a:off x="777240"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Chinese Dynasties</a:t>
            </a:r>
            <a:endParaRPr lang="en-US" sz="850" dirty="0"/>
          </a:p>
        </p:txBody>
      </p:sp>
      <p:sp>
        <p:nvSpPr>
          <p:cNvPr id="14" name="Shape 12"/>
          <p:cNvSpPr/>
          <p:nvPr/>
        </p:nvSpPr>
        <p:spPr>
          <a:xfrm>
            <a:off x="2359152" y="4187952"/>
            <a:ext cx="1463040" cy="347472"/>
          </a:xfrm>
          <a:prstGeom prst="rect">
            <a:avLst/>
          </a:prstGeom>
          <a:solidFill>
            <a:srgbClr val="1E3264"/>
          </a:solidFill>
          <a:ln w="12700">
            <a:solidFill>
              <a:srgbClr val="C8853A"/>
            </a:solidFill>
            <a:prstDash val="solid"/>
          </a:ln>
        </p:spPr>
      </p:sp>
      <p:sp>
        <p:nvSpPr>
          <p:cNvPr id="15" name="Text 13"/>
          <p:cNvSpPr/>
          <p:nvPr/>
        </p:nvSpPr>
        <p:spPr>
          <a:xfrm>
            <a:off x="2359152"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Confucianism</a:t>
            </a:r>
            <a:endParaRPr lang="en-US" sz="850" dirty="0"/>
          </a:p>
        </p:txBody>
      </p:sp>
      <p:sp>
        <p:nvSpPr>
          <p:cNvPr id="16" name="Shape 14"/>
          <p:cNvSpPr/>
          <p:nvPr/>
        </p:nvSpPr>
        <p:spPr>
          <a:xfrm>
            <a:off x="3941064" y="4187952"/>
            <a:ext cx="1463040" cy="347472"/>
          </a:xfrm>
          <a:prstGeom prst="rect">
            <a:avLst/>
          </a:prstGeom>
          <a:solidFill>
            <a:srgbClr val="1E3264"/>
          </a:solidFill>
          <a:ln w="12700">
            <a:solidFill>
              <a:srgbClr val="C8853A"/>
            </a:solidFill>
            <a:prstDash val="solid"/>
          </a:ln>
        </p:spPr>
      </p:sp>
      <p:sp>
        <p:nvSpPr>
          <p:cNvPr id="17" name="Text 15"/>
          <p:cNvSpPr/>
          <p:nvPr/>
        </p:nvSpPr>
        <p:spPr>
          <a:xfrm>
            <a:off x="3941064"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Mongol Rule</a:t>
            </a:r>
            <a:endParaRPr lang="en-US" sz="850" dirty="0"/>
          </a:p>
        </p:txBody>
      </p:sp>
      <p:sp>
        <p:nvSpPr>
          <p:cNvPr id="18" name="Shape 16"/>
          <p:cNvSpPr/>
          <p:nvPr/>
        </p:nvSpPr>
        <p:spPr>
          <a:xfrm>
            <a:off x="5522976" y="4187952"/>
            <a:ext cx="1463040" cy="347472"/>
          </a:xfrm>
          <a:prstGeom prst="rect">
            <a:avLst/>
          </a:prstGeom>
          <a:solidFill>
            <a:srgbClr val="1E3264"/>
          </a:solidFill>
          <a:ln w="12700">
            <a:solidFill>
              <a:srgbClr val="C8853A"/>
            </a:solidFill>
            <a:prstDash val="solid"/>
          </a:ln>
        </p:spPr>
      </p:sp>
      <p:sp>
        <p:nvSpPr>
          <p:cNvPr id="19" name="Text 17"/>
          <p:cNvSpPr/>
          <p:nvPr/>
        </p:nvSpPr>
        <p:spPr>
          <a:xfrm>
            <a:off x="5522976"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Maritime Trade</a:t>
            </a:r>
            <a:endParaRPr lang="en-US" sz="850" dirty="0"/>
          </a:p>
        </p:txBody>
      </p:sp>
      <p:sp>
        <p:nvSpPr>
          <p:cNvPr id="20" name="Shape 18"/>
          <p:cNvSpPr/>
          <p:nvPr/>
        </p:nvSpPr>
        <p:spPr>
          <a:xfrm>
            <a:off x="7104888" y="4187952"/>
            <a:ext cx="1463040" cy="347472"/>
          </a:xfrm>
          <a:prstGeom prst="rect">
            <a:avLst/>
          </a:prstGeom>
          <a:solidFill>
            <a:srgbClr val="1E3264"/>
          </a:solidFill>
          <a:ln w="12700">
            <a:solidFill>
              <a:srgbClr val="C8853A"/>
            </a:solidFill>
            <a:prstDash val="solid"/>
          </a:ln>
        </p:spPr>
      </p:sp>
      <p:sp>
        <p:nvSpPr>
          <p:cNvPr id="21" name="Text 19"/>
          <p:cNvSpPr/>
          <p:nvPr/>
        </p:nvSpPr>
        <p:spPr>
          <a:xfrm>
            <a:off x="7104888"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Technology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Big Picture &amp; Learning Objectives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Shape 6"/>
          <p:cNvSpPr/>
          <p:nvPr/>
        </p:nvSpPr>
        <p:spPr>
          <a:xfrm>
            <a:off x="182880" y="749808"/>
            <a:ext cx="8778240" cy="1188720"/>
          </a:xfrm>
          <a:prstGeom prst="rect">
            <a:avLst/>
          </a:prstGeom>
          <a:solidFill>
            <a:srgbClr val="2A5298"/>
          </a:solidFill>
          <a:ln w="12700">
            <a:solidFill>
              <a:srgbClr val="2A5298"/>
            </a:solidFill>
            <a:prstDash val="solid"/>
          </a:ln>
        </p:spPr>
      </p:sp>
      <p:sp>
        <p:nvSpPr>
          <p:cNvPr id="9" name="Text 7"/>
          <p:cNvSpPr/>
          <p:nvPr/>
        </p:nvSpPr>
        <p:spPr>
          <a:xfrm>
            <a:off x="347472" y="795528"/>
            <a:ext cx="1828800" cy="256032"/>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BIG PICTURE</a:t>
            </a:r>
            <a:endParaRPr lang="en-US" sz="900" dirty="0"/>
          </a:p>
        </p:txBody>
      </p:sp>
      <p:sp>
        <p:nvSpPr>
          <p:cNvPr id="10" name="Text 8"/>
          <p:cNvSpPr/>
          <p:nvPr/>
        </p:nvSpPr>
        <p:spPr>
          <a:xfrm>
            <a:off x="347472" y="1051560"/>
            <a:ext cx="8412480" cy="8046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Chapter 1 establishes East Asia as the world's most powerful and innovative civilization in 1200. The Song, Yuan (Mongol), and Ming dynasties demonstrate both continuity (Confucian bureaucracy) and dramatic change (foreign conquest, maritime expansion then withdrawal). Chinese inventions -- gunpowder, movable type, the compass, paper money -- spread westward along trade routes and eventually transformed the entire world.</a:t>
            </a:r>
            <a:endParaRPr lang="en-US" sz="1050" dirty="0"/>
          </a:p>
        </p:txBody>
      </p:sp>
      <p:sp>
        <p:nvSpPr>
          <p:cNvPr id="11" name="Text 9"/>
          <p:cNvSpPr/>
          <p:nvPr/>
        </p:nvSpPr>
        <p:spPr>
          <a:xfrm>
            <a:off x="182880" y="2075688"/>
            <a:ext cx="43891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LEARNING OBJECTIVES</a:t>
            </a:r>
            <a:endParaRPr lang="en-US" sz="1000" dirty="0"/>
          </a:p>
        </p:txBody>
      </p:sp>
      <p:sp>
        <p:nvSpPr>
          <p:cNvPr id="12" name="Text 10"/>
          <p:cNvSpPr/>
          <p:nvPr/>
        </p:nvSpPr>
        <p:spPr>
          <a:xfrm>
            <a:off x="182880" y="2395728"/>
            <a:ext cx="5074920" cy="2304288"/>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how and why states in East Asia developed and changed over time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effects of innovation and exchange on East Asian state development</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how the Mongol conquests affected Eurasian trade and state building</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Analyze continuity and change in Chinese governance: Song → Yuan → Ming</a:t>
            </a:r>
            <a:endParaRPr lang="en-US" sz="1050" dirty="0"/>
          </a:p>
        </p:txBody>
      </p:sp>
      <p:sp>
        <p:nvSpPr>
          <p:cNvPr id="13" name="Shape 11"/>
          <p:cNvSpPr/>
          <p:nvPr/>
        </p:nvSpPr>
        <p:spPr>
          <a:xfrm>
            <a:off x="5394960" y="2075688"/>
            <a:ext cx="0" cy="2624328"/>
          </a:xfrm>
          <a:prstGeom prst="line">
            <a:avLst/>
          </a:prstGeom>
          <a:noFill/>
          <a:ln w="12700">
            <a:solidFill>
              <a:srgbClr val="CCCCCC"/>
            </a:solidFill>
            <a:prstDash val="solid"/>
          </a:ln>
        </p:spPr>
      </p:sp>
      <p:sp>
        <p:nvSpPr>
          <p:cNvPr id="14" name="Text 12"/>
          <p:cNvSpPr/>
          <p:nvPr/>
        </p:nvSpPr>
        <p:spPr>
          <a:xfrm>
            <a:off x="5532120" y="2075688"/>
            <a:ext cx="34747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AP KEY CONCEPTS</a:t>
            </a:r>
            <a:endParaRPr lang="en-US" sz="1000" dirty="0"/>
          </a:p>
        </p:txBody>
      </p:sp>
      <p:sp>
        <p:nvSpPr>
          <p:cNvPr id="15" name="Text 13"/>
          <p:cNvSpPr/>
          <p:nvPr/>
        </p:nvSpPr>
        <p:spPr>
          <a:xfrm>
            <a:off x="5532120" y="2395728"/>
            <a:ext cx="3429000" cy="2304288"/>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 -- Neo-Confucianism shaped political authority and cultural identity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KC-1.3.I -- Interregional trade connected distant societies across Eurasia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KC-2.1.II -- Mongol Empire facilitated trade and cultural exchange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KC-2.2.IV -- Chinese technological innovations spread globally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Three Dynasties: Continuity &amp; Change in China (960-1450)</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 AP exam loves to ask you to compare these three dynasties -- know each one's key features</a:t>
            </a:r>
            <a:endParaRPr lang="en-US" sz="1000" dirty="0"/>
          </a:p>
        </p:txBody>
      </p:sp>
      <p:sp>
        <p:nvSpPr>
          <p:cNvPr id="9" name="Shape 7"/>
          <p:cNvSpPr/>
          <p:nvPr/>
        </p:nvSpPr>
        <p:spPr>
          <a:xfrm>
            <a:off x="182880" y="1024128"/>
            <a:ext cx="2834640" cy="475488"/>
          </a:xfrm>
          <a:prstGeom prst="rect">
            <a:avLst/>
          </a:prstGeom>
          <a:solidFill>
            <a:srgbClr val="2A5298"/>
          </a:solidFill>
          <a:ln w="12700">
            <a:solidFill>
              <a:srgbClr val="2A5298"/>
            </a:solidFill>
            <a:prstDash val="solid"/>
          </a:ln>
        </p:spPr>
      </p:sp>
      <p:sp>
        <p:nvSpPr>
          <p:cNvPr id="10" name="Text 8"/>
          <p:cNvSpPr/>
          <p:nvPr/>
        </p:nvSpPr>
        <p:spPr>
          <a:xfrm>
            <a:off x="2286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SONG DYNASTY</a:t>
            </a:r>
            <a:endParaRPr lang="en-US" sz="1100" dirty="0"/>
          </a:p>
        </p:txBody>
      </p:sp>
      <p:sp>
        <p:nvSpPr>
          <p:cNvPr id="11" name="Text 9"/>
          <p:cNvSpPr/>
          <p:nvPr/>
        </p:nvSpPr>
        <p:spPr>
          <a:xfrm>
            <a:off x="228600" y="1298448"/>
            <a:ext cx="2743200" cy="182880"/>
          </a:xfrm>
          <a:prstGeom prst="rect">
            <a:avLst/>
          </a:prstGeom>
          <a:noFill/>
          <a:ln/>
        </p:spPr>
        <p:txBody>
          <a:bodyPr wrap="square" lIns="0" tIns="0" rIns="0" bIns="0" rtlCol="0" anchor="ctr"/>
          <a:lstStyle/>
          <a:p>
            <a:pPr algn="ctr" indent="0" marL="0">
              <a:buNone/>
            </a:pPr>
            <a:r>
              <a:rPr lang="en-US" sz="900" dirty="0">
                <a:solidFill>
                  <a:srgbClr val="E8C97A"/>
                </a:solidFill>
                <a:latin typeface="Calibri" pitchFamily="34" charset="0"/>
                <a:ea typeface="Calibri" pitchFamily="34" charset="-122"/>
                <a:cs typeface="Calibri" pitchFamily="34" charset="-120"/>
              </a:rPr>
              <a:t>960-1279</a:t>
            </a:r>
            <a:endParaRPr lang="en-US" sz="900" dirty="0"/>
          </a:p>
        </p:txBody>
      </p:sp>
      <p:sp>
        <p:nvSpPr>
          <p:cNvPr id="12" name="Shape 10"/>
          <p:cNvSpPr/>
          <p:nvPr/>
        </p:nvSpPr>
        <p:spPr>
          <a:xfrm>
            <a:off x="182880" y="1499616"/>
            <a:ext cx="2834640" cy="3218688"/>
          </a:xfrm>
          <a:prstGeom prst="rect">
            <a:avLst/>
          </a:prstGeom>
          <a:solidFill>
            <a:srgbClr val="E3F0FF"/>
          </a:solidFill>
          <a:ln w="12700">
            <a:solidFill>
              <a:srgbClr val="2A5298"/>
            </a:solidFill>
            <a:prstDash val="solid"/>
          </a:ln>
        </p:spPr>
      </p:sp>
      <p:sp>
        <p:nvSpPr>
          <p:cNvPr id="13" name="Text 11"/>
          <p:cNvSpPr/>
          <p:nvPr/>
        </p:nvSpPr>
        <p:spPr>
          <a:xfrm>
            <a:off x="2926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Most sophisticated economy in the world by 1200</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Expanded civil service exam → scholar-gentry class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Inventions: gunpowder, movable type, paper money, champa rice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Neo-Confucianism becomes dominant state ideology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Conquered by Mongols (Kublai Khan) in 1279</a:t>
            </a:r>
            <a:endParaRPr lang="en-US" sz="1000" dirty="0"/>
          </a:p>
        </p:txBody>
      </p:sp>
      <p:sp>
        <p:nvSpPr>
          <p:cNvPr id="14" name="Shape 12"/>
          <p:cNvSpPr/>
          <p:nvPr/>
        </p:nvSpPr>
        <p:spPr>
          <a:xfrm>
            <a:off x="3154680" y="1024128"/>
            <a:ext cx="2834640" cy="475488"/>
          </a:xfrm>
          <a:prstGeom prst="rect">
            <a:avLst/>
          </a:prstGeom>
          <a:solidFill>
            <a:srgbClr val="B5432A"/>
          </a:solidFill>
          <a:ln w="12700">
            <a:solidFill>
              <a:srgbClr val="B5432A"/>
            </a:solidFill>
            <a:prstDash val="solid"/>
          </a:ln>
        </p:spPr>
      </p:sp>
      <p:sp>
        <p:nvSpPr>
          <p:cNvPr id="15" name="Text 13"/>
          <p:cNvSpPr/>
          <p:nvPr/>
        </p:nvSpPr>
        <p:spPr>
          <a:xfrm>
            <a:off x="32004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YUAN DYNASTY</a:t>
            </a:r>
            <a:endParaRPr lang="en-US" sz="1100" dirty="0"/>
          </a:p>
        </p:txBody>
      </p:sp>
      <p:sp>
        <p:nvSpPr>
          <p:cNvPr id="16" name="Text 14"/>
          <p:cNvSpPr/>
          <p:nvPr/>
        </p:nvSpPr>
        <p:spPr>
          <a:xfrm>
            <a:off x="3200400" y="1298448"/>
            <a:ext cx="2743200" cy="182880"/>
          </a:xfrm>
          <a:prstGeom prst="rect">
            <a:avLst/>
          </a:prstGeom>
          <a:noFill/>
          <a:ln/>
        </p:spPr>
        <p:txBody>
          <a:bodyPr wrap="square" lIns="0" tIns="0" rIns="0" bIns="0" rtlCol="0" anchor="ctr"/>
          <a:lstStyle/>
          <a:p>
            <a:pPr algn="ctr" indent="0" marL="0">
              <a:buNone/>
            </a:pPr>
            <a:r>
              <a:rPr lang="en-US" sz="900" dirty="0">
                <a:solidFill>
                  <a:srgbClr val="E8C97A"/>
                </a:solidFill>
                <a:latin typeface="Calibri" pitchFamily="34" charset="0"/>
                <a:ea typeface="Calibri" pitchFamily="34" charset="-122"/>
                <a:cs typeface="Calibri" pitchFamily="34" charset="-120"/>
              </a:rPr>
              <a:t>1271-1368</a:t>
            </a:r>
            <a:endParaRPr lang="en-US" sz="900" dirty="0"/>
          </a:p>
        </p:txBody>
      </p:sp>
      <p:sp>
        <p:nvSpPr>
          <p:cNvPr id="17" name="Shape 15"/>
          <p:cNvSpPr/>
          <p:nvPr/>
        </p:nvSpPr>
        <p:spPr>
          <a:xfrm>
            <a:off x="3154680" y="1499616"/>
            <a:ext cx="2834640" cy="3218688"/>
          </a:xfrm>
          <a:prstGeom prst="rect">
            <a:avLst/>
          </a:prstGeom>
          <a:solidFill>
            <a:srgbClr val="FAE8E4"/>
          </a:solidFill>
          <a:ln w="12700">
            <a:solidFill>
              <a:srgbClr val="B5432A"/>
            </a:solidFill>
            <a:prstDash val="solid"/>
          </a:ln>
        </p:spPr>
      </p:sp>
      <p:sp>
        <p:nvSpPr>
          <p:cNvPr id="18" name="Text 16"/>
          <p:cNvSpPr/>
          <p:nvPr/>
        </p:nvSpPr>
        <p:spPr>
          <a:xfrm>
            <a:off x="32644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Mongol rule -- first foreign dynasty over all of China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Founded by Kublai Khan, grandson of Genghis Khan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Integrated China into the Pax Mongolica trade network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Marco Polo visited; East-West cultural exchange flourished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Overthrown by peasant rebellion -- Ming Dynasty rises</a:t>
            </a:r>
            <a:endParaRPr lang="en-US" sz="1000" dirty="0"/>
          </a:p>
        </p:txBody>
      </p:sp>
      <p:sp>
        <p:nvSpPr>
          <p:cNvPr id="19" name="Shape 17"/>
          <p:cNvSpPr/>
          <p:nvPr/>
        </p:nvSpPr>
        <p:spPr>
          <a:xfrm>
            <a:off x="6126480" y="1024128"/>
            <a:ext cx="2834640" cy="475488"/>
          </a:xfrm>
          <a:prstGeom prst="rect">
            <a:avLst/>
          </a:prstGeom>
          <a:solidFill>
            <a:srgbClr val="1B5E3B"/>
          </a:solidFill>
          <a:ln w="12700">
            <a:solidFill>
              <a:srgbClr val="1B5E3B"/>
            </a:solidFill>
            <a:prstDash val="solid"/>
          </a:ln>
        </p:spPr>
      </p:sp>
      <p:sp>
        <p:nvSpPr>
          <p:cNvPr id="20" name="Text 18"/>
          <p:cNvSpPr/>
          <p:nvPr/>
        </p:nvSpPr>
        <p:spPr>
          <a:xfrm>
            <a:off x="61722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MING DYNASTY</a:t>
            </a:r>
            <a:endParaRPr lang="en-US" sz="1100" dirty="0"/>
          </a:p>
        </p:txBody>
      </p:sp>
      <p:sp>
        <p:nvSpPr>
          <p:cNvPr id="21" name="Text 19"/>
          <p:cNvSpPr/>
          <p:nvPr/>
        </p:nvSpPr>
        <p:spPr>
          <a:xfrm>
            <a:off x="6172200" y="1298448"/>
            <a:ext cx="2743200" cy="182880"/>
          </a:xfrm>
          <a:prstGeom prst="rect">
            <a:avLst/>
          </a:prstGeom>
          <a:noFill/>
          <a:ln/>
        </p:spPr>
        <p:txBody>
          <a:bodyPr wrap="square" lIns="0" tIns="0" rIns="0" bIns="0" rtlCol="0" anchor="ctr"/>
          <a:lstStyle/>
          <a:p>
            <a:pPr algn="ctr" indent="0" marL="0">
              <a:buNone/>
            </a:pPr>
            <a:r>
              <a:rPr lang="en-US" sz="900" dirty="0">
                <a:solidFill>
                  <a:srgbClr val="E8C97A"/>
                </a:solidFill>
                <a:latin typeface="Calibri" pitchFamily="34" charset="0"/>
                <a:ea typeface="Calibri" pitchFamily="34" charset="-122"/>
                <a:cs typeface="Calibri" pitchFamily="34" charset="-120"/>
              </a:rPr>
              <a:t>1368-1644</a:t>
            </a:r>
            <a:endParaRPr lang="en-US" sz="900" dirty="0"/>
          </a:p>
        </p:txBody>
      </p:sp>
      <p:sp>
        <p:nvSpPr>
          <p:cNvPr id="22" name="Shape 20"/>
          <p:cNvSpPr/>
          <p:nvPr/>
        </p:nvSpPr>
        <p:spPr>
          <a:xfrm>
            <a:off x="6126480" y="1499616"/>
            <a:ext cx="2834640" cy="3218688"/>
          </a:xfrm>
          <a:prstGeom prst="rect">
            <a:avLst/>
          </a:prstGeom>
          <a:solidFill>
            <a:srgbClr val="E8F5EE"/>
          </a:solidFill>
          <a:ln w="12700">
            <a:solidFill>
              <a:srgbClr val="1B5E3B"/>
            </a:solidFill>
            <a:prstDash val="solid"/>
          </a:ln>
        </p:spPr>
      </p:sp>
      <p:sp>
        <p:nvSpPr>
          <p:cNvPr id="23" name="Text 21"/>
          <p:cNvSpPr/>
          <p:nvPr/>
        </p:nvSpPr>
        <p:spPr>
          <a:xfrm>
            <a:off x="62362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Reasserted Han Chinese rule and Confucian values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Restored civil service exams; abolished prime minister role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Built the Great Wall in its present form</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Sponsored Zheng He's 7 voyages (1405-1433) then STOPPED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Turned inward -- key turning point in world history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Governance &amp; Society</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both the definition AND the AP significance of each term</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2A5298"/>
          </a:solidFill>
          <a:ln w="12700">
            <a:solidFill>
              <a:srgbClr val="2A5298"/>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Neo-Confucianism</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Blends classical Confucianism with Buddhist and Daoist ideas; emphasizes moral self-cultivation and social hierarchy.</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Became dominant ideology in China, Korea, Vietnam, and Japan; reinforced patriarchal social structures.</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2A5298"/>
          </a:solidFill>
          <a:ln w="12700">
            <a:solidFill>
              <a:srgbClr val="2A5298"/>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Civil Service Examination</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Merit-based government recruitment requiring mastery of Confucian classics; produced the scholar-gentry class.</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Created a literate bureaucracy loyal to the emperor; in theory meritocratic, in practice favored elites.</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2A5298"/>
          </a:solidFill>
          <a:ln w="12700">
            <a:solidFill>
              <a:srgbClr val="2A5298"/>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Scholar-Gentry</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educated elite who passed civil service exams and held administrative posts at all levels of government.</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Their dominance explains Chinese cultural continuity -- and resistance to maritime expansion under the Ming.</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2A5298"/>
          </a:solidFill>
          <a:ln w="12700">
            <a:solidFill>
              <a:srgbClr val="2A5298"/>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Tribute System</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Neighboring states send gifts and acknowledge Chinese superiority in exchange for trading rights and protection.</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Organized East Asian diplomacy; compare with European mercantilism -- very different models of empire.</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2A5298"/>
          </a:solidFill>
          <a:ln w="12700">
            <a:solidFill>
              <a:srgbClr val="2A5298"/>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Sinification</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Process by which neighboring peoples adopted Chinese cultural practices, language, writing, and governance systems.</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Explains Chinese cultural influence over Korea, Japan, Vietnam WITHOUT military conquest.</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2A5298"/>
          </a:solidFill>
          <a:ln w="12700">
            <a:solidFill>
              <a:srgbClr val="2A5298"/>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Foot Binding</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Binding young girls' feet to keep them small; considered a mark of beauty and high status in Song China.</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Demonstrates intensification of patriarchal control during Song; spread down social classes over time.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Technology &amp; Innovation -- China's Global Impact</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These inventions spread across Eurasia and transformed world history -- know them cold for the AP exam</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B5432A"/>
          </a:solidFill>
          <a:ln w="12700">
            <a:solidFill>
              <a:srgbClr val="B5432A"/>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Gunpowder</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Chinese invention used first in fireworks, then in bombs, fire arrows, and firearms; spread via Silk Road trade.</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One of history's most consequential technologies; transformed warfare across Eurasia and enabled European expansion.</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B5432A"/>
          </a:solidFill>
          <a:ln w="12700">
            <a:solidFill>
              <a:srgbClr val="B5432A"/>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Movable Type</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Individual reusable printing characters refined in Song China (~1040 CE); dramatically accelerated text reproduction.</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Spread literacy, Neo-Confucianism, and Buddhist texts across East Asia -- centuries before Gutenberg's printing press.</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B5432A"/>
          </a:solidFill>
          <a:ln w="12700">
            <a:solidFill>
              <a:srgbClr val="B5432A"/>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Paper Money (Jiaozi)</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Government-issued currency first used in Song China to facilitate large-scale commercial transactions.</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Indicates the sophistication of China's market economy; precursor to modern banking and monetary systems.</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B5432A"/>
          </a:solidFill>
          <a:ln w="12700">
            <a:solidFill>
              <a:srgbClr val="B5432A"/>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Champa Rice</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Fast-ripening, drought-resistant rice variety imported from Vietnam during the Song Dynasty.</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Doubled agricultural yields → population boom → surplus labor for craft production and urban markets.</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B5432A"/>
          </a:solidFill>
          <a:ln w="12700">
            <a:solidFill>
              <a:srgbClr val="B5432A"/>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Magnetic Compass</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Chinese navigational tool enabling sailors to determine direction in any weather; spread along trade routes.</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Reached the Islamic world and then Europe via trade -- essential technology for the later Age of Exploration.</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B5432A"/>
          </a:solidFill>
          <a:ln w="12700">
            <a:solidFill>
              <a:srgbClr val="B5432A"/>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Zheng He's Voyages</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Seven state-sponsored naval expeditions (1405-1433) reaching Southeast Asia, India, Arabia, and East Africa.</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Demonstrates Ming naval capability. CRITICAL: Know WHY the voyages ended -- Confucian scholar opposition and cost.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People &amp; Groups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who they were, when they lived, and why they matter for the AP exam</a:t>
            </a:r>
            <a:endParaRPr lang="en-US" sz="1000" dirty="0"/>
          </a:p>
        </p:txBody>
      </p:sp>
      <p:sp>
        <p:nvSpPr>
          <p:cNvPr id="9" name="Shape 7"/>
          <p:cNvSpPr/>
          <p:nvPr/>
        </p:nvSpPr>
        <p:spPr>
          <a:xfrm>
            <a:off x="1828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24128"/>
            <a:ext cx="2834640" cy="475488"/>
          </a:xfrm>
          <a:prstGeom prst="rect">
            <a:avLst/>
          </a:prstGeom>
          <a:solidFill>
            <a:srgbClr val="B5432A"/>
          </a:solidFill>
          <a:ln w="12700">
            <a:solidFill>
              <a:srgbClr val="B5432A"/>
            </a:solidFill>
            <a:prstDash val="solid"/>
          </a:ln>
        </p:spPr>
      </p:sp>
      <p:sp>
        <p:nvSpPr>
          <p:cNvPr id="11" name="Text 9"/>
          <p:cNvSpPr/>
          <p:nvPr/>
        </p:nvSpPr>
        <p:spPr>
          <a:xfrm>
            <a:off x="2743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Kublai Khan</a:t>
            </a:r>
            <a:endParaRPr lang="en-US" sz="1200" dirty="0"/>
          </a:p>
        </p:txBody>
      </p:sp>
      <p:sp>
        <p:nvSpPr>
          <p:cNvPr id="12" name="Text 10"/>
          <p:cNvSpPr/>
          <p:nvPr/>
        </p:nvSpPr>
        <p:spPr>
          <a:xfrm>
            <a:off x="2743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1260-1294 | Yuan Dynasty, China</a:t>
            </a:r>
            <a:endParaRPr lang="en-US" sz="850" dirty="0"/>
          </a:p>
        </p:txBody>
      </p:sp>
      <p:sp>
        <p:nvSpPr>
          <p:cNvPr id="13" name="Text 11"/>
          <p:cNvSpPr/>
          <p:nvPr/>
        </p:nvSpPr>
        <p:spPr>
          <a:xfrm>
            <a:off x="2926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Grandson of Genghis Khan; founded the Yuan Dynasty (1271)</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Completed Mongol conquest of the Song Dynasty in 1279</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Integrated China into the Pax Mongolica -- Silk Road trade flourished</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Welcomed Marco Polo; his court was cosmopolitan and multicultural</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Failed invasions of Japan (1274, 1281) and Java -- limits of Mongol power</a:t>
            </a:r>
            <a:endParaRPr lang="en-US" sz="950" dirty="0"/>
          </a:p>
        </p:txBody>
      </p:sp>
      <p:sp>
        <p:nvSpPr>
          <p:cNvPr id="14" name="Shape 12"/>
          <p:cNvSpPr/>
          <p:nvPr/>
        </p:nvSpPr>
        <p:spPr>
          <a:xfrm>
            <a:off x="31546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5" name="Shape 13"/>
          <p:cNvSpPr/>
          <p:nvPr/>
        </p:nvSpPr>
        <p:spPr>
          <a:xfrm>
            <a:off x="3154680" y="1024128"/>
            <a:ext cx="2834640" cy="475488"/>
          </a:xfrm>
          <a:prstGeom prst="rect">
            <a:avLst/>
          </a:prstGeom>
          <a:solidFill>
            <a:srgbClr val="2A5298"/>
          </a:solidFill>
          <a:ln w="12700">
            <a:solidFill>
              <a:srgbClr val="2A5298"/>
            </a:solidFill>
            <a:prstDash val="solid"/>
          </a:ln>
        </p:spPr>
      </p:sp>
      <p:sp>
        <p:nvSpPr>
          <p:cNvPr id="16" name="Text 14"/>
          <p:cNvSpPr/>
          <p:nvPr/>
        </p:nvSpPr>
        <p:spPr>
          <a:xfrm>
            <a:off x="32461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Zheng He</a:t>
            </a:r>
            <a:endParaRPr lang="en-US" sz="1200" dirty="0"/>
          </a:p>
        </p:txBody>
      </p:sp>
      <p:sp>
        <p:nvSpPr>
          <p:cNvPr id="17" name="Text 15"/>
          <p:cNvSpPr/>
          <p:nvPr/>
        </p:nvSpPr>
        <p:spPr>
          <a:xfrm>
            <a:off x="32461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1371-1433 | Ming Dynasty Admiral</a:t>
            </a:r>
            <a:endParaRPr lang="en-US" sz="850" dirty="0"/>
          </a:p>
        </p:txBody>
      </p:sp>
      <p:sp>
        <p:nvSpPr>
          <p:cNvPr id="18" name="Text 16"/>
          <p:cNvSpPr/>
          <p:nvPr/>
        </p:nvSpPr>
        <p:spPr>
          <a:xfrm>
            <a:off x="32644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Muslim Chinese admiral -- commanded 7 massive naval expeditions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"treasure ships" (~400 ft) dwarfed any contemporary European vessel</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Reached Southeast Asia, India, Arabia, and East Africa (Swahili Coast)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Voyages ended after his death: Confucian bureaucrats halted expansion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This decision is a PIVOTAL turning point -- contrast with European exploration</a:t>
            </a:r>
            <a:endParaRPr lang="en-US" sz="950" dirty="0"/>
          </a:p>
        </p:txBody>
      </p:sp>
      <p:sp>
        <p:nvSpPr>
          <p:cNvPr id="19" name="Shape 17"/>
          <p:cNvSpPr/>
          <p:nvPr/>
        </p:nvSpPr>
        <p:spPr>
          <a:xfrm>
            <a:off x="61264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0" name="Shape 18"/>
          <p:cNvSpPr/>
          <p:nvPr/>
        </p:nvSpPr>
        <p:spPr>
          <a:xfrm>
            <a:off x="6126480" y="1024128"/>
            <a:ext cx="2834640" cy="475488"/>
          </a:xfrm>
          <a:prstGeom prst="rect">
            <a:avLst/>
          </a:prstGeom>
          <a:solidFill>
            <a:srgbClr val="1B5E3B"/>
          </a:solidFill>
          <a:ln w="12700">
            <a:solidFill>
              <a:srgbClr val="1B5E3B"/>
            </a:solidFill>
            <a:prstDash val="solid"/>
          </a:ln>
        </p:spPr>
      </p:sp>
      <p:sp>
        <p:nvSpPr>
          <p:cNvPr id="21" name="Text 19"/>
          <p:cNvSpPr/>
          <p:nvPr/>
        </p:nvSpPr>
        <p:spPr>
          <a:xfrm>
            <a:off x="62179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Zhu Yuanzhang (Hongwu Emperor)</a:t>
            </a:r>
            <a:endParaRPr lang="en-US" sz="1200" dirty="0"/>
          </a:p>
        </p:txBody>
      </p:sp>
      <p:sp>
        <p:nvSpPr>
          <p:cNvPr id="22" name="Text 20"/>
          <p:cNvSpPr/>
          <p:nvPr/>
        </p:nvSpPr>
        <p:spPr>
          <a:xfrm>
            <a:off x="62179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1368-1398 | Ming Dynasty Founder</a:t>
            </a:r>
            <a:endParaRPr lang="en-US" sz="850" dirty="0"/>
          </a:p>
        </p:txBody>
      </p:sp>
      <p:sp>
        <p:nvSpPr>
          <p:cNvPr id="23" name="Text 21"/>
          <p:cNvSpPr/>
          <p:nvPr/>
        </p:nvSpPr>
        <p:spPr>
          <a:xfrm>
            <a:off x="62362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Peasant-born rebel who overthrew the Yuan Dynasty in 1368</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Founded the Ming Dynasty; restored civil service exams and Confucian values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Abolished the prime minister position -- concentrated imperial power</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Rebuilt agrarian China devastated by Mongol rule and the Black Death</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conservatism set the tone for the Ming's inward-looking policies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Timeline: East Asia 960-1450</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Key dates for DBQs and multiple choice -- focus especially on TURNING POINTS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767328"/>
        </p:xfrm>
        <a:graphic>
          <a:graphicData uri="http://schemas.openxmlformats.org/drawingml/2006/table">
            <a:tbl>
              <a:tblPr/>
              <a:tblGrid>
                <a:gridCol w="914400"/>
                <a:gridCol w="2194560"/>
                <a:gridCol w="1188720"/>
                <a:gridCol w="4480560"/>
              </a:tblGrid>
              <a:tr h="376733">
                <a:tc>
                  <a:txBody>
                    <a:bodyP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Date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Event</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Region</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AP Significance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960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Song Dynasty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Commercial revolution; Neo-Confucianism rises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c.1040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Bi Sheng invents movable type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Accelerates spread of literacy and Buddhist texts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1206</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Genghis Khan proclaimed Great Khan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Mongolia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Mongol Empire begins expansion across Eurasia</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1271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Yuan Dynasty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Kublai Khan; first foreign dynasty over all China</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1274, 1281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Mongol invasions of Japan fail</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Japan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Typhoons (kamikaze) halt expansion; limits of Mongol power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1279</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Song Dynasty falls to Mongols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Complete Mongol conquest; China integrated into trade network</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1368</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Ming Dynasty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Zhu Yuanzhang restores Han Chinese rule and Confucian order</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1405-1433</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Zheng He's seven voyages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Indian Ocean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Peak of Ming naval power; then abruptly ended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c.1421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Beijing becomes Ming capital</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China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Forbidden City built; demonstrates Ming's wealth and ambition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Themes &amp; Causation: AP World History Lenses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Practice explaining cause-and-effect using these thematic frames -- essential for LEQs and DBQs</a:t>
            </a:r>
            <a:endParaRPr lang="en-US" sz="1000" dirty="0"/>
          </a:p>
        </p:txBody>
      </p:sp>
      <p:sp>
        <p:nvSpPr>
          <p:cNvPr id="9" name="Shape 7"/>
          <p:cNvSpPr/>
          <p:nvPr/>
        </p:nvSpPr>
        <p:spPr>
          <a:xfrm>
            <a:off x="182880" y="1005840"/>
            <a:ext cx="4297680" cy="1691640"/>
          </a:xfrm>
          <a:prstGeom prst="rect">
            <a:avLst/>
          </a:prstGeom>
          <a:solidFill>
            <a:srgbClr val="E3F0FF"/>
          </a:solidFill>
          <a:ln w="12700">
            <a:solidFill>
              <a:srgbClr val="2A5298"/>
            </a:solidFill>
            <a:prstDash val="solid"/>
          </a:ln>
        </p:spPr>
      </p:sp>
      <p:sp>
        <p:nvSpPr>
          <p:cNvPr id="10" name="Shape 8"/>
          <p:cNvSpPr/>
          <p:nvPr/>
        </p:nvSpPr>
        <p:spPr>
          <a:xfrm>
            <a:off x="182880" y="1005840"/>
            <a:ext cx="4297680" cy="310896"/>
          </a:xfrm>
          <a:prstGeom prst="rect">
            <a:avLst/>
          </a:prstGeom>
          <a:solidFill>
            <a:srgbClr val="2A5298"/>
          </a:solidFill>
          <a:ln w="12700">
            <a:solidFill>
              <a:srgbClr val="2A5298"/>
            </a:solidFill>
            <a:prstDash val="solid"/>
          </a:ln>
        </p:spPr>
      </p:sp>
      <p:sp>
        <p:nvSpPr>
          <p:cNvPr id="11" name="Text 9"/>
          <p:cNvSpPr/>
          <p:nvPr/>
        </p:nvSpPr>
        <p:spPr>
          <a:xfrm>
            <a:off x="27432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GOVERNANCE</a:t>
            </a:r>
            <a:endParaRPr lang="en-US" sz="1000" dirty="0"/>
          </a:p>
        </p:txBody>
      </p:sp>
      <p:sp>
        <p:nvSpPr>
          <p:cNvPr id="12" name="Text 10"/>
          <p:cNvSpPr/>
          <p:nvPr/>
        </p:nvSpPr>
        <p:spPr>
          <a:xfrm>
            <a:off x="27432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Confucian civil service examination created a bureaucracy that endured across the Song, Yuan, and Ming dynasties. The Yuan imposed Mongol ethnic hierarchy over Chinese institutions; the Ming abolished the prime minister to concentrate power. Each dynasty change reshaped WHO held power while the underlying Confucian framework proved remarkably durable.</a:t>
            </a:r>
            <a:endParaRPr lang="en-US" sz="950" dirty="0"/>
          </a:p>
        </p:txBody>
      </p:sp>
      <p:sp>
        <p:nvSpPr>
          <p:cNvPr id="13" name="Shape 11"/>
          <p:cNvSpPr/>
          <p:nvPr/>
        </p:nvSpPr>
        <p:spPr>
          <a:xfrm>
            <a:off x="182880" y="2816352"/>
            <a:ext cx="4297680" cy="1691640"/>
          </a:xfrm>
          <a:prstGeom prst="rect">
            <a:avLst/>
          </a:prstGeom>
          <a:solidFill>
            <a:srgbClr val="FAE8E4"/>
          </a:solidFill>
          <a:ln w="12700">
            <a:solidFill>
              <a:srgbClr val="B5432A"/>
            </a:solidFill>
            <a:prstDash val="solid"/>
          </a:ln>
        </p:spPr>
      </p:sp>
      <p:sp>
        <p:nvSpPr>
          <p:cNvPr id="14" name="Shape 12"/>
          <p:cNvSpPr/>
          <p:nvPr/>
        </p:nvSpPr>
        <p:spPr>
          <a:xfrm>
            <a:off x="182880" y="2816352"/>
            <a:ext cx="4297680" cy="310896"/>
          </a:xfrm>
          <a:prstGeom prst="rect">
            <a:avLst/>
          </a:prstGeom>
          <a:solidFill>
            <a:srgbClr val="B5432A"/>
          </a:solidFill>
          <a:ln w="12700">
            <a:solidFill>
              <a:srgbClr val="B5432A"/>
            </a:solidFill>
            <a:prstDash val="solid"/>
          </a:ln>
        </p:spPr>
      </p:sp>
      <p:sp>
        <p:nvSpPr>
          <p:cNvPr id="15" name="Text 13"/>
          <p:cNvSpPr/>
          <p:nvPr/>
        </p:nvSpPr>
        <p:spPr>
          <a:xfrm>
            <a:off x="27432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ECONOMIC SYSTEMS</a:t>
            </a:r>
            <a:endParaRPr lang="en-US" sz="1000" dirty="0"/>
          </a:p>
        </p:txBody>
      </p:sp>
      <p:sp>
        <p:nvSpPr>
          <p:cNvPr id="16" name="Text 14"/>
          <p:cNvSpPr/>
          <p:nvPr/>
        </p:nvSpPr>
        <p:spPr>
          <a:xfrm>
            <a:off x="27432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Song 'commercial revolution' -- champa rice, paper money, urban markets -- created the world's most sophisticated economy. The Mongol Yuan reopened Silk Road networks (Pax Mongolica). The Ming's haijin (maritime trade restriction) and later Zheng He's voyages show the state's ambivalent relationship with commerce.</a:t>
            </a:r>
            <a:endParaRPr lang="en-US" sz="950" dirty="0"/>
          </a:p>
        </p:txBody>
      </p:sp>
      <p:sp>
        <p:nvSpPr>
          <p:cNvPr id="17" name="Shape 15"/>
          <p:cNvSpPr/>
          <p:nvPr/>
        </p:nvSpPr>
        <p:spPr>
          <a:xfrm>
            <a:off x="4663440" y="1005840"/>
            <a:ext cx="4297680" cy="1691640"/>
          </a:xfrm>
          <a:prstGeom prst="rect">
            <a:avLst/>
          </a:prstGeom>
          <a:solidFill>
            <a:srgbClr val="E8F5EE"/>
          </a:solidFill>
          <a:ln w="12700">
            <a:solidFill>
              <a:srgbClr val="1B5E3B"/>
            </a:solidFill>
            <a:prstDash val="solid"/>
          </a:ln>
        </p:spPr>
      </p:sp>
      <p:sp>
        <p:nvSpPr>
          <p:cNvPr id="18" name="Shape 16"/>
          <p:cNvSpPr/>
          <p:nvPr/>
        </p:nvSpPr>
        <p:spPr>
          <a:xfrm>
            <a:off x="4663440" y="1005840"/>
            <a:ext cx="4297680" cy="310896"/>
          </a:xfrm>
          <a:prstGeom prst="rect">
            <a:avLst/>
          </a:prstGeom>
          <a:solidFill>
            <a:srgbClr val="1B5E3B"/>
          </a:solidFill>
          <a:ln w="12700">
            <a:solidFill>
              <a:srgbClr val="1B5E3B"/>
            </a:solidFill>
            <a:prstDash val="solid"/>
          </a:ln>
        </p:spPr>
      </p:sp>
      <p:sp>
        <p:nvSpPr>
          <p:cNvPr id="19" name="Text 17"/>
          <p:cNvSpPr/>
          <p:nvPr/>
        </p:nvSpPr>
        <p:spPr>
          <a:xfrm>
            <a:off x="475488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TECHNOLOGY &amp; INNOVATION</a:t>
            </a:r>
            <a:endParaRPr lang="en-US" sz="1000" dirty="0"/>
          </a:p>
        </p:txBody>
      </p:sp>
      <p:sp>
        <p:nvSpPr>
          <p:cNvPr id="20" name="Text 18"/>
          <p:cNvSpPr/>
          <p:nvPr/>
        </p:nvSpPr>
        <p:spPr>
          <a:xfrm>
            <a:off x="475488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China's four great inventions (gunpowder, printing, compass, paper) spread westward via trade routes to the Islamic world and then Europe. Champa rice transformed Chinese agriculture. These transfers are classic AP 'diffusion' examples -- technology moving across cultures with transformative consequences.</a:t>
            </a:r>
            <a:endParaRPr lang="en-US" sz="950" dirty="0"/>
          </a:p>
        </p:txBody>
      </p:sp>
      <p:sp>
        <p:nvSpPr>
          <p:cNvPr id="21" name="Shape 19"/>
          <p:cNvSpPr/>
          <p:nvPr/>
        </p:nvSpPr>
        <p:spPr>
          <a:xfrm>
            <a:off x="4663440" y="2816352"/>
            <a:ext cx="4297680" cy="1691640"/>
          </a:xfrm>
          <a:prstGeom prst="rect">
            <a:avLst/>
          </a:prstGeom>
          <a:solidFill>
            <a:srgbClr val="EDE8F5"/>
          </a:solidFill>
          <a:ln w="12700">
            <a:solidFill>
              <a:srgbClr val="4B2D8A"/>
            </a:solidFill>
            <a:prstDash val="solid"/>
          </a:ln>
        </p:spPr>
      </p:sp>
      <p:sp>
        <p:nvSpPr>
          <p:cNvPr id="22" name="Shape 20"/>
          <p:cNvSpPr/>
          <p:nvPr/>
        </p:nvSpPr>
        <p:spPr>
          <a:xfrm>
            <a:off x="4663440" y="2816352"/>
            <a:ext cx="4297680" cy="310896"/>
          </a:xfrm>
          <a:prstGeom prst="rect">
            <a:avLst/>
          </a:prstGeom>
          <a:solidFill>
            <a:srgbClr val="4B2D8A"/>
          </a:solidFill>
          <a:ln w="12700">
            <a:solidFill>
              <a:srgbClr val="4B2D8A"/>
            </a:solidFill>
            <a:prstDash val="solid"/>
          </a:ln>
        </p:spPr>
      </p:sp>
      <p:sp>
        <p:nvSpPr>
          <p:cNvPr id="23" name="Text 21"/>
          <p:cNvSpPr/>
          <p:nvPr/>
        </p:nvSpPr>
        <p:spPr>
          <a:xfrm>
            <a:off x="475488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SOCIAL STRUCTURES</a:t>
            </a:r>
            <a:endParaRPr lang="en-US" sz="1000" dirty="0"/>
          </a:p>
        </p:txBody>
      </p:sp>
      <p:sp>
        <p:nvSpPr>
          <p:cNvPr id="24" name="Text 22"/>
          <p:cNvSpPr/>
          <p:nvPr/>
        </p:nvSpPr>
        <p:spPr>
          <a:xfrm>
            <a:off x="475488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Song China stratified society: scholar-gentry at top, merchants formally at bottom despite economic power. The Yuan created an ethnic four-tier hierarchy (Mongols → Central Asians → northern Chinese → southern Chinese), generating resentment. Foot binding intensified patriarchal control. Korea and Japan adapted these structures to their own contexts.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Exam Tips &amp; Must-Know Comparisons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These are the highest-frequency topics for Chapter 1 on the AP exam</a:t>
            </a:r>
            <a:endParaRPr lang="en-US" sz="1000" dirty="0"/>
          </a:p>
        </p:txBody>
      </p:sp>
      <p:sp>
        <p:nvSpPr>
          <p:cNvPr id="9" name="Shape 7"/>
          <p:cNvSpPr/>
          <p:nvPr/>
        </p:nvSpPr>
        <p:spPr>
          <a:xfrm>
            <a:off x="182880" y="1005840"/>
            <a:ext cx="5074920" cy="3767328"/>
          </a:xfrm>
          <a:prstGeom prst="rect">
            <a:avLst/>
          </a:prstGeom>
          <a:solidFill>
            <a:srgbClr val="1B5E3B"/>
          </a:solidFill>
          <a:ln w="12700">
            <a:solidFill>
              <a:srgbClr val="1B5E3B"/>
            </a:solidFill>
            <a:prstDash val="solid"/>
          </a:ln>
        </p:spPr>
      </p:sp>
      <p:sp>
        <p:nvSpPr>
          <p:cNvPr id="10" name="Text 8"/>
          <p:cNvSpPr/>
          <p:nvPr/>
        </p:nvSpPr>
        <p:spPr>
          <a:xfrm>
            <a:off x="320040" y="1097280"/>
            <a:ext cx="4846320" cy="274320"/>
          </a:xfrm>
          <a:prstGeom prst="rect">
            <a:avLst/>
          </a:prstGeom>
          <a:noFill/>
          <a:ln/>
        </p:spPr>
        <p:txBody>
          <a:bodyPr wrap="square" lIns="0" tIns="0" rIns="0" bIns="0" rtlCol="0" anchor="ctr"/>
          <a:lstStyle/>
          <a:p>
            <a:pPr indent="0" marL="0">
              <a:buNone/>
            </a:pPr>
            <a:r>
              <a:rPr lang="en-US" sz="1200" b="1" dirty="0">
                <a:solidFill>
                  <a:srgbClr val="E8C97A"/>
                </a:solidFill>
                <a:latin typeface="Trebuchet MS" pitchFamily="34" charset="0"/>
                <a:ea typeface="Trebuchet MS" pitchFamily="34" charset="-122"/>
                <a:cs typeface="Trebuchet MS" pitchFamily="34" charset="-120"/>
              </a:rPr>
              <a:t>★  AP EXAM TIPS</a:t>
            </a:r>
            <a:endParaRPr lang="en-US" sz="1200" dirty="0"/>
          </a:p>
        </p:txBody>
      </p:sp>
      <p:sp>
        <p:nvSpPr>
          <p:cNvPr id="11" name="Text 9"/>
          <p:cNvSpPr/>
          <p:nvPr/>
        </p:nvSpPr>
        <p:spPr>
          <a:xfrm>
            <a:off x="320040" y="1408176"/>
            <a:ext cx="4846320" cy="3273552"/>
          </a:xfrm>
          <a:prstGeom prst="rect">
            <a:avLst/>
          </a:prstGeom>
          <a:noFill/>
          <a:ln/>
        </p:spPr>
        <p:txBody>
          <a:bodyPr wrap="square" lIns="0" tIns="0" rIns="0" bIns="0" rtlCol="0" anchor="t"/>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CONTINUITY: Civil service exams and Confucian bureaucracy persisted across all three dynasties -- even under Mongol rule</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CHANGE: Yuan = foreign rule, Mongol ethnic hierarchy, open trade; Ming = restored Chinese tradition, Great Wall, maritime withdrawal</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Zheng He: Know WHY voyages ended (Confucian scholar opposition, cost, factional politics at court) -- top AP comparison point</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Chinese innovations (gunpowder, compass, printing) spreading westward = classic AP 'diffusion' and 'cross-cultural exchange' question</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Tribute system ≠ free trade: it's cultural diplomacy in which China always 'wins' symbolically -- compare with later European mercantilist empires</a:t>
            </a:r>
            <a:endParaRPr lang="en-US" sz="1050" dirty="0"/>
          </a:p>
        </p:txBody>
      </p:sp>
      <p:sp>
        <p:nvSpPr>
          <p:cNvPr id="12" name="Shape 10"/>
          <p:cNvSpPr/>
          <p:nvPr/>
        </p:nvSpPr>
        <p:spPr>
          <a:xfrm>
            <a:off x="5440680" y="1005840"/>
            <a:ext cx="3520440" cy="3767328"/>
          </a:xfrm>
          <a:prstGeom prst="rect">
            <a:avLst/>
          </a:prstGeom>
          <a:solidFill>
            <a:srgbClr val="EDE8F5"/>
          </a:solidFill>
          <a:ln w="12700">
            <a:solidFill>
              <a:srgbClr val="4B2D8A"/>
            </a:solidFill>
            <a:prstDash val="solid"/>
          </a:ln>
        </p:spPr>
      </p:sp>
      <p:sp>
        <p:nvSpPr>
          <p:cNvPr id="13" name="Text 11"/>
          <p:cNvSpPr/>
          <p:nvPr/>
        </p:nvSpPr>
        <p:spPr>
          <a:xfrm>
            <a:off x="5559552" y="1078992"/>
            <a:ext cx="3291840" cy="256032"/>
          </a:xfrm>
          <a:prstGeom prst="rect">
            <a:avLst/>
          </a:prstGeom>
          <a:noFill/>
          <a:ln/>
        </p:spPr>
        <p:txBody>
          <a:bodyPr wrap="square" lIns="0" tIns="0" rIns="0" bIns="0" rtlCol="0" anchor="ctr"/>
          <a:lstStyle/>
          <a:p>
            <a:pPr indent="0" marL="0">
              <a:buNone/>
            </a:pPr>
            <a:r>
              <a:rPr lang="en-US" sz="1000" b="1" spc="100" kern="0" dirty="0">
                <a:solidFill>
                  <a:srgbClr val="4B2D8A"/>
                </a:solidFill>
                <a:latin typeface="Trebuchet MS" pitchFamily="34" charset="0"/>
                <a:ea typeface="Trebuchet MS" pitchFamily="34" charset="-122"/>
                <a:cs typeface="Trebuchet MS" pitchFamily="34" charset="-120"/>
              </a:rPr>
              <a:t>MUST-KNOW COMPARISONS</a:t>
            </a:r>
            <a:endParaRPr lang="en-US" sz="1000" dirty="0"/>
          </a:p>
        </p:txBody>
      </p:sp>
      <p:sp>
        <p:nvSpPr>
          <p:cNvPr id="14" name="Shape 12"/>
          <p:cNvSpPr/>
          <p:nvPr/>
        </p:nvSpPr>
        <p:spPr>
          <a:xfrm>
            <a:off x="5559552" y="1371600"/>
            <a:ext cx="3291840" cy="237744"/>
          </a:xfrm>
          <a:prstGeom prst="rect">
            <a:avLst/>
          </a:prstGeom>
          <a:solidFill>
            <a:srgbClr val="4B2D8A"/>
          </a:solidFill>
          <a:ln w="12700">
            <a:solidFill>
              <a:srgbClr val="4B2D8A"/>
            </a:solidFill>
            <a:prstDash val="solid"/>
          </a:ln>
        </p:spPr>
      </p:sp>
      <p:sp>
        <p:nvSpPr>
          <p:cNvPr id="15" name="Text 13"/>
          <p:cNvSpPr/>
          <p:nvPr/>
        </p:nvSpPr>
        <p:spPr>
          <a:xfrm>
            <a:off x="5650992" y="138988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Zheng He vs. European Explorers</a:t>
            </a:r>
            <a:endParaRPr lang="en-US" sz="950" dirty="0"/>
          </a:p>
        </p:txBody>
      </p:sp>
      <p:sp>
        <p:nvSpPr>
          <p:cNvPr id="16" name="Text 14"/>
          <p:cNvSpPr/>
          <p:nvPr/>
        </p:nvSpPr>
        <p:spPr>
          <a:xfrm>
            <a:off x="5559552" y="162763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sail in 1400s -- but Europe expanded, China withdrew. Why? Confucian values vs. mercantilist profit motive.</a:t>
            </a:r>
            <a:endParaRPr lang="en-US" sz="950" dirty="0"/>
          </a:p>
        </p:txBody>
      </p:sp>
      <p:sp>
        <p:nvSpPr>
          <p:cNvPr id="17" name="Shape 15"/>
          <p:cNvSpPr/>
          <p:nvPr/>
        </p:nvSpPr>
        <p:spPr>
          <a:xfrm>
            <a:off x="5559552" y="2194560"/>
            <a:ext cx="3291840" cy="237744"/>
          </a:xfrm>
          <a:prstGeom prst="rect">
            <a:avLst/>
          </a:prstGeom>
          <a:solidFill>
            <a:srgbClr val="4B2D8A"/>
          </a:solidFill>
          <a:ln w="12700">
            <a:solidFill>
              <a:srgbClr val="4B2D8A"/>
            </a:solidFill>
            <a:prstDash val="solid"/>
          </a:ln>
        </p:spPr>
      </p:sp>
      <p:sp>
        <p:nvSpPr>
          <p:cNvPr id="18" name="Text 16"/>
          <p:cNvSpPr/>
          <p:nvPr/>
        </p:nvSpPr>
        <p:spPr>
          <a:xfrm>
            <a:off x="5650992" y="221284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Song vs. Yuan Governance</a:t>
            </a:r>
            <a:endParaRPr lang="en-US" sz="950" dirty="0"/>
          </a:p>
        </p:txBody>
      </p:sp>
      <p:sp>
        <p:nvSpPr>
          <p:cNvPr id="19" name="Text 17"/>
          <p:cNvSpPr/>
          <p:nvPr/>
        </p:nvSpPr>
        <p:spPr>
          <a:xfrm>
            <a:off x="5559552" y="245059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Song = Confucian meritocracy. Yuan = Mongol ethnic hierarchy + foreign administrators. Both used Chinese infrastructure.</a:t>
            </a:r>
            <a:endParaRPr lang="en-US" sz="950" dirty="0"/>
          </a:p>
        </p:txBody>
      </p:sp>
      <p:sp>
        <p:nvSpPr>
          <p:cNvPr id="20" name="Shape 18"/>
          <p:cNvSpPr/>
          <p:nvPr/>
        </p:nvSpPr>
        <p:spPr>
          <a:xfrm>
            <a:off x="5559552" y="3017520"/>
            <a:ext cx="3291840" cy="237744"/>
          </a:xfrm>
          <a:prstGeom prst="rect">
            <a:avLst/>
          </a:prstGeom>
          <a:solidFill>
            <a:srgbClr val="4B2D8A"/>
          </a:solidFill>
          <a:ln w="12700">
            <a:solidFill>
              <a:srgbClr val="4B2D8A"/>
            </a:solidFill>
            <a:prstDash val="solid"/>
          </a:ln>
        </p:spPr>
      </p:sp>
      <p:sp>
        <p:nvSpPr>
          <p:cNvPr id="21" name="Text 19"/>
          <p:cNvSpPr/>
          <p:nvPr/>
        </p:nvSpPr>
        <p:spPr>
          <a:xfrm>
            <a:off x="5650992" y="303580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Ming Tribute vs. European Trade</a:t>
            </a:r>
            <a:endParaRPr lang="en-US" sz="950" dirty="0"/>
          </a:p>
        </p:txBody>
      </p:sp>
      <p:sp>
        <p:nvSpPr>
          <p:cNvPr id="22" name="Text 20"/>
          <p:cNvSpPr/>
          <p:nvPr/>
        </p:nvSpPr>
        <p:spPr>
          <a:xfrm>
            <a:off x="5559552" y="327355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Tribute = symbolic submission + gift exchange. Europe = profit-driven commerce. Radically different imperial logics.</a:t>
            </a:r>
            <a:endParaRPr lang="en-US" sz="950" dirty="0"/>
          </a:p>
        </p:txBody>
      </p:sp>
      <p:sp>
        <p:nvSpPr>
          <p:cNvPr id="23" name="Shape 21"/>
          <p:cNvSpPr/>
          <p:nvPr/>
        </p:nvSpPr>
        <p:spPr>
          <a:xfrm>
            <a:off x="5559552" y="3840480"/>
            <a:ext cx="3291840" cy="237744"/>
          </a:xfrm>
          <a:prstGeom prst="rect">
            <a:avLst/>
          </a:prstGeom>
          <a:solidFill>
            <a:srgbClr val="4B2D8A"/>
          </a:solidFill>
          <a:ln w="12700">
            <a:solidFill>
              <a:srgbClr val="4B2D8A"/>
            </a:solidFill>
            <a:prstDash val="solid"/>
          </a:ln>
        </p:spPr>
      </p:sp>
      <p:sp>
        <p:nvSpPr>
          <p:cNvPr id="24" name="Text 22"/>
          <p:cNvSpPr/>
          <p:nvPr/>
        </p:nvSpPr>
        <p:spPr>
          <a:xfrm>
            <a:off x="5650992" y="385876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Mongol Yuan vs. Delhi Sultanate</a:t>
            </a:r>
            <a:endParaRPr lang="en-US" sz="950" dirty="0"/>
          </a:p>
        </p:txBody>
      </p:sp>
      <p:sp>
        <p:nvSpPr>
          <p:cNvPr id="25" name="Text 23"/>
          <p:cNvSpPr/>
          <p:nvPr/>
        </p:nvSpPr>
        <p:spPr>
          <a:xfrm>
            <a:off x="5559552" y="409651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foreign elites ruling non-Muslim/non-Mongol majorities. Compare accommodation strategies.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Multiple Choice Questions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Highlighted answer = correct. Study the explanation -- the AP exam tests reasoning, not just recall.</a:t>
            </a:r>
            <a:endParaRPr lang="en-US" sz="1000" dirty="0"/>
          </a:p>
        </p:txBody>
      </p:sp>
      <p:sp>
        <p:nvSpPr>
          <p:cNvPr id="9" name="Shape 7"/>
          <p:cNvSpPr/>
          <p:nvPr/>
        </p:nvSpPr>
        <p:spPr>
          <a:xfrm>
            <a:off x="182880" y="987552"/>
            <a:ext cx="8778240" cy="1874520"/>
          </a:xfrm>
          <a:prstGeom prst="rect">
            <a:avLst/>
          </a:prstGeom>
          <a:solidFill>
            <a:srgbClr val="E3F0FF"/>
          </a:solidFill>
          <a:ln w="12700">
            <a:solidFill>
              <a:srgbClr val="C0D4F0"/>
            </a:solidFill>
            <a:prstDash val="solid"/>
          </a:ln>
        </p:spPr>
      </p:sp>
      <p:sp>
        <p:nvSpPr>
          <p:cNvPr id="10" name="Text 8"/>
          <p:cNvSpPr/>
          <p:nvPr/>
        </p:nvSpPr>
        <p:spPr>
          <a:xfrm>
            <a:off x="320040" y="1033272"/>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"The civil service examination system required years of intensive study of the Confucian classics, creating a class of educated officials who served as the backbone of Chinese imperial administration across dynasties."</a:t>
            </a:r>
            <a:endParaRPr lang="en-US" sz="950" dirty="0"/>
          </a:p>
        </p:txBody>
      </p:sp>
      <p:sp>
        <p:nvSpPr>
          <p:cNvPr id="11" name="Text 9"/>
          <p:cNvSpPr/>
          <p:nvPr/>
        </p:nvSpPr>
        <p:spPr>
          <a:xfrm>
            <a:off x="320040" y="1536192"/>
            <a:ext cx="8485632" cy="274320"/>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Q1. Which of the following best explains the political significance of the Chinese civil service examination system in this period?</a:t>
            </a:r>
            <a:endParaRPr lang="en-US" sz="1000" dirty="0"/>
          </a:p>
        </p:txBody>
      </p:sp>
      <p:sp>
        <p:nvSpPr>
          <p:cNvPr id="12" name="Shape 10"/>
          <p:cNvSpPr/>
          <p:nvPr/>
        </p:nvSpPr>
        <p:spPr>
          <a:xfrm>
            <a:off x="320040" y="1837944"/>
            <a:ext cx="219456" cy="210312"/>
          </a:xfrm>
          <a:prstGeom prst="rect">
            <a:avLst/>
          </a:prstGeom>
          <a:solidFill>
            <a:srgbClr val="D1D5DB"/>
          </a:solidFill>
          <a:ln w="12700">
            <a:solidFill>
              <a:srgbClr val="D1D5DB"/>
            </a:solidFill>
            <a:prstDash val="solid"/>
          </a:ln>
        </p:spPr>
      </p:sp>
      <p:sp>
        <p:nvSpPr>
          <p:cNvPr id="13" name="Text 11"/>
          <p:cNvSpPr/>
          <p:nvPr/>
        </p:nvSpPr>
        <p:spPr>
          <a:xfrm>
            <a:off x="594360" y="1847088"/>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It eliminated social inequality by giving all citizens equal access to political power.</a:t>
            </a:r>
            <a:endParaRPr lang="en-US" sz="950" dirty="0"/>
          </a:p>
        </p:txBody>
      </p:sp>
      <p:sp>
        <p:nvSpPr>
          <p:cNvPr id="14" name="Shape 12"/>
          <p:cNvSpPr/>
          <p:nvPr/>
        </p:nvSpPr>
        <p:spPr>
          <a:xfrm>
            <a:off x="320040" y="2084832"/>
            <a:ext cx="219456" cy="210312"/>
          </a:xfrm>
          <a:prstGeom prst="rect">
            <a:avLst/>
          </a:prstGeom>
          <a:solidFill>
            <a:srgbClr val="1B5E3B"/>
          </a:solidFill>
          <a:ln w="12700">
            <a:solidFill>
              <a:srgbClr val="1B5E3B"/>
            </a:solidFill>
            <a:prstDash val="solid"/>
          </a:ln>
        </p:spPr>
      </p:sp>
      <p:sp>
        <p:nvSpPr>
          <p:cNvPr id="15" name="Text 13"/>
          <p:cNvSpPr/>
          <p:nvPr/>
        </p:nvSpPr>
        <p:spPr>
          <a:xfrm>
            <a:off x="594360" y="2093976"/>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It reinforced Confucian values in governance and created a scholar-gentry ruling class.</a:t>
            </a:r>
            <a:endParaRPr lang="en-US" sz="950" dirty="0"/>
          </a:p>
        </p:txBody>
      </p:sp>
      <p:sp>
        <p:nvSpPr>
          <p:cNvPr id="16" name="Shape 14"/>
          <p:cNvSpPr/>
          <p:nvPr/>
        </p:nvSpPr>
        <p:spPr>
          <a:xfrm>
            <a:off x="320040" y="2331720"/>
            <a:ext cx="219456" cy="210312"/>
          </a:xfrm>
          <a:prstGeom prst="rect">
            <a:avLst/>
          </a:prstGeom>
          <a:solidFill>
            <a:srgbClr val="D1D5DB"/>
          </a:solidFill>
          <a:ln w="12700">
            <a:solidFill>
              <a:srgbClr val="D1D5DB"/>
            </a:solidFill>
            <a:prstDash val="solid"/>
          </a:ln>
        </p:spPr>
      </p:sp>
      <p:sp>
        <p:nvSpPr>
          <p:cNvPr id="17" name="Text 15"/>
          <p:cNvSpPr/>
          <p:nvPr/>
        </p:nvSpPr>
        <p:spPr>
          <a:xfrm>
            <a:off x="594360" y="234086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It replaced hereditary monarchy with a system of elected representatives.</a:t>
            </a:r>
            <a:endParaRPr lang="en-US" sz="950" dirty="0"/>
          </a:p>
        </p:txBody>
      </p:sp>
      <p:sp>
        <p:nvSpPr>
          <p:cNvPr id="18" name="Shape 16"/>
          <p:cNvSpPr/>
          <p:nvPr/>
        </p:nvSpPr>
        <p:spPr>
          <a:xfrm>
            <a:off x="320040" y="2578608"/>
            <a:ext cx="219456" cy="210312"/>
          </a:xfrm>
          <a:prstGeom prst="rect">
            <a:avLst/>
          </a:prstGeom>
          <a:solidFill>
            <a:srgbClr val="D1D5DB"/>
          </a:solidFill>
          <a:ln w="12700">
            <a:solidFill>
              <a:srgbClr val="D1D5DB"/>
            </a:solidFill>
            <a:prstDash val="solid"/>
          </a:ln>
        </p:spPr>
      </p:sp>
      <p:sp>
        <p:nvSpPr>
          <p:cNvPr id="19" name="Text 17"/>
          <p:cNvSpPr/>
          <p:nvPr/>
        </p:nvSpPr>
        <p:spPr>
          <a:xfrm>
            <a:off x="594360" y="258775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It was primarily used to identify talented individuals for military command.</a:t>
            </a:r>
            <a:endParaRPr lang="en-US" sz="950" dirty="0"/>
          </a:p>
        </p:txBody>
      </p:sp>
      <p:sp>
        <p:nvSpPr>
          <p:cNvPr id="20" name="Shape 18"/>
          <p:cNvSpPr/>
          <p:nvPr/>
        </p:nvSpPr>
        <p:spPr>
          <a:xfrm>
            <a:off x="182880" y="2926080"/>
            <a:ext cx="8778240" cy="1847088"/>
          </a:xfrm>
          <a:prstGeom prst="rect">
            <a:avLst/>
          </a:prstGeom>
          <a:solidFill>
            <a:srgbClr val="FFF5EC"/>
          </a:solidFill>
          <a:ln w="12700">
            <a:solidFill>
              <a:srgbClr val="F5D6A8"/>
            </a:solidFill>
            <a:prstDash val="solid"/>
          </a:ln>
        </p:spPr>
      </p:sp>
      <p:sp>
        <p:nvSpPr>
          <p:cNvPr id="21" name="Text 19"/>
          <p:cNvSpPr/>
          <p:nvPr/>
        </p:nvSpPr>
        <p:spPr>
          <a:xfrm>
            <a:off x="320040" y="2971800"/>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"Following Zheng He's death in 1433, Confucian officials at the Ming court argued that maritime expeditions were wasteful, un-Confucian, and dangerous to social stability. The treasure fleet records were reportedly destroyed."</a:t>
            </a:r>
            <a:endParaRPr lang="en-US" sz="950" dirty="0"/>
          </a:p>
        </p:txBody>
      </p:sp>
      <p:sp>
        <p:nvSpPr>
          <p:cNvPr id="22" name="Text 20"/>
          <p:cNvSpPr/>
          <p:nvPr/>
        </p:nvSpPr>
        <p:spPr>
          <a:xfrm>
            <a:off x="320040" y="3474720"/>
            <a:ext cx="8485632" cy="25603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Q2. The end of Zheng He's voyages in 1433 most directly illustrates which of the following?</a:t>
            </a:r>
            <a:endParaRPr lang="en-US" sz="1000" dirty="0"/>
          </a:p>
        </p:txBody>
      </p:sp>
      <p:sp>
        <p:nvSpPr>
          <p:cNvPr id="23" name="Shape 21"/>
          <p:cNvSpPr/>
          <p:nvPr/>
        </p:nvSpPr>
        <p:spPr>
          <a:xfrm>
            <a:off x="320040" y="3767328"/>
            <a:ext cx="219456" cy="210312"/>
          </a:xfrm>
          <a:prstGeom prst="rect">
            <a:avLst/>
          </a:prstGeom>
          <a:solidFill>
            <a:srgbClr val="D1D5DB"/>
          </a:solidFill>
          <a:ln w="12700">
            <a:solidFill>
              <a:srgbClr val="D1D5DB"/>
            </a:solidFill>
            <a:prstDash val="solid"/>
          </a:ln>
        </p:spPr>
      </p:sp>
      <p:sp>
        <p:nvSpPr>
          <p:cNvPr id="24" name="Text 22"/>
          <p:cNvSpPr/>
          <p:nvPr/>
        </p:nvSpPr>
        <p:spPr>
          <a:xfrm>
            <a:off x="594360" y="377647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China lacked the technological capacity to maintain long-distance naval expeditions.</a:t>
            </a:r>
            <a:endParaRPr lang="en-US" sz="950" dirty="0"/>
          </a:p>
        </p:txBody>
      </p:sp>
      <p:sp>
        <p:nvSpPr>
          <p:cNvPr id="25" name="Shape 23"/>
          <p:cNvSpPr/>
          <p:nvPr/>
        </p:nvSpPr>
        <p:spPr>
          <a:xfrm>
            <a:off x="320040" y="4014216"/>
            <a:ext cx="219456" cy="210312"/>
          </a:xfrm>
          <a:prstGeom prst="rect">
            <a:avLst/>
          </a:prstGeom>
          <a:solidFill>
            <a:srgbClr val="D1D5DB"/>
          </a:solidFill>
          <a:ln w="12700">
            <a:solidFill>
              <a:srgbClr val="D1D5DB"/>
            </a:solidFill>
            <a:prstDash val="solid"/>
          </a:ln>
        </p:spPr>
      </p:sp>
      <p:sp>
        <p:nvSpPr>
          <p:cNvPr id="26" name="Text 24"/>
          <p:cNvSpPr/>
          <p:nvPr/>
        </p:nvSpPr>
        <p:spPr>
          <a:xfrm>
            <a:off x="594360" y="4023360"/>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B) The voyages had failed to establish any useful diplomatic or commercial relationships.</a:t>
            </a:r>
            <a:endParaRPr lang="en-US" sz="950" dirty="0"/>
          </a:p>
        </p:txBody>
      </p:sp>
      <p:sp>
        <p:nvSpPr>
          <p:cNvPr id="27" name="Shape 25"/>
          <p:cNvSpPr/>
          <p:nvPr/>
        </p:nvSpPr>
        <p:spPr>
          <a:xfrm>
            <a:off x="320040" y="4261104"/>
            <a:ext cx="219456" cy="210312"/>
          </a:xfrm>
          <a:prstGeom prst="rect">
            <a:avLst/>
          </a:prstGeom>
          <a:solidFill>
            <a:srgbClr val="1B5E3B"/>
          </a:solidFill>
          <a:ln w="12700">
            <a:solidFill>
              <a:srgbClr val="1B5E3B"/>
            </a:solidFill>
            <a:prstDash val="solid"/>
          </a:ln>
        </p:spPr>
      </p:sp>
      <p:sp>
        <p:nvSpPr>
          <p:cNvPr id="28" name="Text 26"/>
          <p:cNvSpPr/>
          <p:nvPr/>
        </p:nvSpPr>
        <p:spPr>
          <a:xfrm>
            <a:off x="594360" y="4270248"/>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C) Confucian scholar-gentry opposition to maritime commerce shaped Ming state policy.</a:t>
            </a:r>
            <a:endParaRPr lang="en-US" sz="950" dirty="0"/>
          </a:p>
        </p:txBody>
      </p:sp>
      <p:sp>
        <p:nvSpPr>
          <p:cNvPr id="29" name="Shape 27"/>
          <p:cNvSpPr/>
          <p:nvPr/>
        </p:nvSpPr>
        <p:spPr>
          <a:xfrm>
            <a:off x="320040" y="4507992"/>
            <a:ext cx="219456" cy="210312"/>
          </a:xfrm>
          <a:prstGeom prst="rect">
            <a:avLst/>
          </a:prstGeom>
          <a:solidFill>
            <a:srgbClr val="D1D5DB"/>
          </a:solidFill>
          <a:ln w="12700">
            <a:solidFill>
              <a:srgbClr val="D1D5DB"/>
            </a:solidFill>
            <a:prstDash val="solid"/>
          </a:ln>
        </p:spPr>
      </p:sp>
      <p:sp>
        <p:nvSpPr>
          <p:cNvPr id="30" name="Text 28"/>
          <p:cNvSpPr/>
          <p:nvPr/>
        </p:nvSpPr>
        <p:spPr>
          <a:xfrm>
            <a:off x="594360" y="4517136"/>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The Mongol threat required all state resources to be redirected to northern defense.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Short Answer Question (SAQ)</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SAQ responses: 3-5 sentences each part. No thesis required. Every claim needs historical evidence.</a:t>
            </a:r>
            <a:endParaRPr lang="en-US" sz="1000" dirty="0"/>
          </a:p>
        </p:txBody>
      </p:sp>
      <p:sp>
        <p:nvSpPr>
          <p:cNvPr id="9" name="Shape 7"/>
          <p:cNvSpPr/>
          <p:nvPr/>
        </p:nvSpPr>
        <p:spPr>
          <a:xfrm>
            <a:off x="182880" y="987552"/>
            <a:ext cx="8778240" cy="658368"/>
          </a:xfrm>
          <a:prstGeom prst="rect">
            <a:avLst/>
          </a:prstGeom>
          <a:solidFill>
            <a:srgbClr val="1B3A6B"/>
          </a:solidFill>
          <a:ln w="12700">
            <a:solidFill>
              <a:srgbClr val="1B3A6B"/>
            </a:solidFill>
            <a:prstDash val="solid"/>
          </a:ln>
        </p:spPr>
      </p:sp>
      <p:sp>
        <p:nvSpPr>
          <p:cNvPr id="10" name="Text 8"/>
          <p:cNvSpPr/>
          <p:nvPr/>
        </p:nvSpPr>
        <p:spPr>
          <a:xfrm>
            <a:off x="320040" y="1024128"/>
            <a:ext cx="1645920" cy="237744"/>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SAQ PROMPT</a:t>
            </a:r>
            <a:endParaRPr lang="en-US" sz="900" dirty="0"/>
          </a:p>
        </p:txBody>
      </p:sp>
      <p:sp>
        <p:nvSpPr>
          <p:cNvPr id="11" name="Text 9"/>
          <p:cNvSpPr/>
          <p:nvPr/>
        </p:nvSpPr>
        <p:spPr>
          <a:xfrm>
            <a:off x="320040" y="1261872"/>
            <a:ext cx="8458200" cy="347472"/>
          </a:xfrm>
          <a:prstGeom prst="rect">
            <a:avLst/>
          </a:prstGeom>
          <a:noFill/>
          <a:ln/>
        </p:spPr>
        <p:txBody>
          <a:bodyPr wrap="square" lIns="0" tIns="0" rIns="0" bIns="0" rtlCol="0" anchor="t"/>
          <a:lstStyle/>
          <a:p>
            <a:pPr indent="0" marL="0">
              <a:buNone/>
            </a:pPr>
            <a:r>
              <a:rPr lang="en-US" sz="1000" i="1" dirty="0">
                <a:solidFill>
                  <a:srgbClr val="FFFFFF"/>
                </a:solidFill>
                <a:latin typeface="Calibri" pitchFamily="34" charset="0"/>
                <a:ea typeface="Calibri" pitchFamily="34" charset="-122"/>
                <a:cs typeface="Calibri" pitchFamily="34" charset="-120"/>
              </a:rPr>
              <a:t>Use the following argument to answer parts A, B, and C:  "The period 1200-1450 in East Asia demonstrates both remarkable continuity in Chinese civilization and dramatic change caused by the Mongol conquest and the decisions of the Ming Dynasty."</a:t>
            </a:r>
            <a:endParaRPr lang="en-US" sz="1000" dirty="0"/>
          </a:p>
        </p:txBody>
      </p:sp>
      <p:sp>
        <p:nvSpPr>
          <p:cNvPr id="12" name="Shape 10"/>
          <p:cNvSpPr/>
          <p:nvPr/>
        </p:nvSpPr>
        <p:spPr>
          <a:xfrm>
            <a:off x="1828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3" name="Shape 11"/>
          <p:cNvSpPr/>
          <p:nvPr/>
        </p:nvSpPr>
        <p:spPr>
          <a:xfrm>
            <a:off x="182880" y="1737360"/>
            <a:ext cx="2834640" cy="320040"/>
          </a:xfrm>
          <a:prstGeom prst="rect">
            <a:avLst/>
          </a:prstGeom>
          <a:solidFill>
            <a:srgbClr val="2A5298"/>
          </a:solidFill>
          <a:ln w="12700">
            <a:solidFill>
              <a:srgbClr val="2A5298"/>
            </a:solidFill>
            <a:prstDash val="solid"/>
          </a:ln>
        </p:spPr>
      </p:sp>
      <p:sp>
        <p:nvSpPr>
          <p:cNvPr id="14" name="Text 12"/>
          <p:cNvSpPr/>
          <p:nvPr/>
        </p:nvSpPr>
        <p:spPr>
          <a:xfrm>
            <a:off x="2560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A</a:t>
            </a:r>
            <a:endParaRPr lang="en-US" sz="1100" dirty="0"/>
          </a:p>
        </p:txBody>
      </p:sp>
      <p:sp>
        <p:nvSpPr>
          <p:cNvPr id="15" name="Text 13"/>
          <p:cNvSpPr/>
          <p:nvPr/>
        </p:nvSpPr>
        <p:spPr>
          <a:xfrm>
            <a:off x="2743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the Mongol Yuan Dynasty CHANGED Chinese governance or culture.</a:t>
            </a:r>
            <a:endParaRPr lang="en-US" sz="1000" dirty="0"/>
          </a:p>
        </p:txBody>
      </p:sp>
      <p:sp>
        <p:nvSpPr>
          <p:cNvPr id="16" name="Text 14"/>
          <p:cNvSpPr/>
          <p:nvPr/>
        </p:nvSpPr>
        <p:spPr>
          <a:xfrm>
            <a:off x="274320" y="2798064"/>
            <a:ext cx="2651760" cy="228600"/>
          </a:xfrm>
          <a:prstGeom prst="rect">
            <a:avLst/>
          </a:prstGeom>
          <a:noFill/>
          <a:ln/>
        </p:spPr>
        <p:txBody>
          <a:bodyPr wrap="square" lIns="0" tIns="0" rIns="0" bIns="0" rtlCol="0" anchor="ctr"/>
          <a:lstStyle/>
          <a:p>
            <a:pPr indent="0" marL="0">
              <a:buNone/>
            </a:pPr>
            <a:r>
              <a:rPr lang="en-US" sz="900" b="1" dirty="0">
                <a:solidFill>
                  <a:srgbClr val="2A5298"/>
                </a:solidFill>
                <a:latin typeface="Trebuchet MS" pitchFamily="34" charset="0"/>
                <a:ea typeface="Trebuchet MS" pitchFamily="34" charset="-122"/>
                <a:cs typeface="Trebuchet MS" pitchFamily="34" charset="-120"/>
              </a:rPr>
              <a:t>A top response includes:</a:t>
            </a:r>
            <a:endParaRPr lang="en-US" sz="900" dirty="0"/>
          </a:p>
        </p:txBody>
      </p:sp>
      <p:sp>
        <p:nvSpPr>
          <p:cNvPr id="17" name="Text 15"/>
          <p:cNvSpPr/>
          <p:nvPr/>
        </p:nvSpPr>
        <p:spPr>
          <a:xfrm>
            <a:off x="2743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 Ethnic hierarchy (Mongols at top)</a:t>
            </a:r>
            <a:endParaRPr lang="en-US" sz="950" dirty="0"/>
          </a:p>
          <a:p>
            <a:pPr indent="0" marL="0">
              <a:buNone/>
            </a:pPr>
            <a:r>
              <a:rPr lang="en-US" sz="950" dirty="0">
                <a:solidFill>
                  <a:srgbClr val="374151"/>
                </a:solidFill>
                <a:latin typeface="Calibri" pitchFamily="34" charset="0"/>
                <a:ea typeface="Calibri" pitchFamily="34" charset="-122"/>
                <a:cs typeface="Calibri" pitchFamily="34" charset="-120"/>
              </a:rPr>
              <a:t>• Bypassed civil service exams for top positions</a:t>
            </a:r>
            <a:endParaRPr lang="en-US" sz="950" dirty="0"/>
          </a:p>
          <a:p>
            <a:pPr indent="0" marL="0">
              <a:buNone/>
            </a:pPr>
            <a:r>
              <a:rPr lang="en-US" sz="950" dirty="0">
                <a:solidFill>
                  <a:srgbClr val="374151"/>
                </a:solidFill>
                <a:latin typeface="Calibri" pitchFamily="34" charset="0"/>
                <a:ea typeface="Calibri" pitchFamily="34" charset="-122"/>
                <a:cs typeface="Calibri" pitchFamily="34" charset="-120"/>
              </a:rPr>
              <a:t>• Opened China to foreign merchants (Pax Mongolica / Marco Polo)</a:t>
            </a:r>
            <a:endParaRPr lang="en-US" sz="950" dirty="0"/>
          </a:p>
        </p:txBody>
      </p:sp>
      <p:sp>
        <p:nvSpPr>
          <p:cNvPr id="18" name="Shape 16"/>
          <p:cNvSpPr/>
          <p:nvPr/>
        </p:nvSpPr>
        <p:spPr>
          <a:xfrm>
            <a:off x="31546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9" name="Shape 17"/>
          <p:cNvSpPr/>
          <p:nvPr/>
        </p:nvSpPr>
        <p:spPr>
          <a:xfrm>
            <a:off x="3154680" y="1737360"/>
            <a:ext cx="2834640" cy="320040"/>
          </a:xfrm>
          <a:prstGeom prst="rect">
            <a:avLst/>
          </a:prstGeom>
          <a:solidFill>
            <a:srgbClr val="B5432A"/>
          </a:solidFill>
          <a:ln w="12700">
            <a:solidFill>
              <a:srgbClr val="B5432A"/>
            </a:solidFill>
            <a:prstDash val="solid"/>
          </a:ln>
        </p:spPr>
      </p:sp>
      <p:sp>
        <p:nvSpPr>
          <p:cNvPr id="20" name="Text 18"/>
          <p:cNvSpPr/>
          <p:nvPr/>
        </p:nvSpPr>
        <p:spPr>
          <a:xfrm>
            <a:off x="32278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B</a:t>
            </a:r>
            <a:endParaRPr lang="en-US" sz="1100" dirty="0"/>
          </a:p>
        </p:txBody>
      </p:sp>
      <p:sp>
        <p:nvSpPr>
          <p:cNvPr id="21" name="Text 19"/>
          <p:cNvSpPr/>
          <p:nvPr/>
        </p:nvSpPr>
        <p:spPr>
          <a:xfrm>
            <a:off x="32461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Chinese governance showed CONTINUITY across the Song, Yuan, and Ming periods.</a:t>
            </a:r>
            <a:endParaRPr lang="en-US" sz="1000" dirty="0"/>
          </a:p>
        </p:txBody>
      </p:sp>
      <p:sp>
        <p:nvSpPr>
          <p:cNvPr id="22" name="Text 20"/>
          <p:cNvSpPr/>
          <p:nvPr/>
        </p:nvSpPr>
        <p:spPr>
          <a:xfrm>
            <a:off x="3246120" y="2798064"/>
            <a:ext cx="2651760" cy="228600"/>
          </a:xfrm>
          <a:prstGeom prst="rect">
            <a:avLst/>
          </a:prstGeom>
          <a:noFill/>
          <a:ln/>
        </p:spPr>
        <p:txBody>
          <a:bodyPr wrap="square" lIns="0" tIns="0" rIns="0" bIns="0" rtlCol="0" anchor="ctr"/>
          <a:lstStyle/>
          <a:p>
            <a:pPr indent="0" marL="0">
              <a:buNone/>
            </a:pPr>
            <a:r>
              <a:rPr lang="en-US" sz="900" b="1" dirty="0">
                <a:solidFill>
                  <a:srgbClr val="B5432A"/>
                </a:solidFill>
                <a:latin typeface="Trebuchet MS" pitchFamily="34" charset="0"/>
                <a:ea typeface="Trebuchet MS" pitchFamily="34" charset="-122"/>
                <a:cs typeface="Trebuchet MS" pitchFamily="34" charset="-120"/>
              </a:rPr>
              <a:t>A top response includes:</a:t>
            </a:r>
            <a:endParaRPr lang="en-US" sz="900" dirty="0"/>
          </a:p>
        </p:txBody>
      </p:sp>
      <p:sp>
        <p:nvSpPr>
          <p:cNvPr id="23" name="Text 21"/>
          <p:cNvSpPr/>
          <p:nvPr/>
        </p:nvSpPr>
        <p:spPr>
          <a:xfrm>
            <a:off x="32461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 Civil service exam system persisted (partially)</a:t>
            </a:r>
            <a:endParaRPr lang="en-US" sz="950" dirty="0"/>
          </a:p>
          <a:p>
            <a:pPr indent="0" marL="0">
              <a:buNone/>
            </a:pPr>
            <a:r>
              <a:rPr lang="en-US" sz="950" dirty="0">
                <a:solidFill>
                  <a:srgbClr val="374151"/>
                </a:solidFill>
                <a:latin typeface="Calibri" pitchFamily="34" charset="0"/>
                <a:ea typeface="Calibri" pitchFamily="34" charset="-122"/>
                <a:cs typeface="Calibri" pitchFamily="34" charset="-120"/>
              </a:rPr>
              <a:t>• Confucian bureaucratic structure at local level</a:t>
            </a:r>
            <a:endParaRPr lang="en-US" sz="950" dirty="0"/>
          </a:p>
          <a:p>
            <a:pPr indent="0" marL="0">
              <a:buNone/>
            </a:pPr>
            <a:r>
              <a:rPr lang="en-US" sz="950" dirty="0">
                <a:solidFill>
                  <a:srgbClr val="374151"/>
                </a:solidFill>
                <a:latin typeface="Calibri" pitchFamily="34" charset="0"/>
                <a:ea typeface="Calibri" pitchFamily="34" charset="-122"/>
                <a:cs typeface="Calibri" pitchFamily="34" charset="-120"/>
              </a:rPr>
              <a:t>• Chinese administrators continued to operate at lower levels</a:t>
            </a:r>
            <a:endParaRPr lang="en-US" sz="950" dirty="0"/>
          </a:p>
        </p:txBody>
      </p:sp>
      <p:sp>
        <p:nvSpPr>
          <p:cNvPr id="24" name="Shape 22"/>
          <p:cNvSpPr/>
          <p:nvPr/>
        </p:nvSpPr>
        <p:spPr>
          <a:xfrm>
            <a:off x="61264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5" name="Shape 23"/>
          <p:cNvSpPr/>
          <p:nvPr/>
        </p:nvSpPr>
        <p:spPr>
          <a:xfrm>
            <a:off x="6126480" y="1737360"/>
            <a:ext cx="2834640" cy="320040"/>
          </a:xfrm>
          <a:prstGeom prst="rect">
            <a:avLst/>
          </a:prstGeom>
          <a:solidFill>
            <a:srgbClr val="1B5E3B"/>
          </a:solidFill>
          <a:ln w="12700">
            <a:solidFill>
              <a:srgbClr val="1B5E3B"/>
            </a:solidFill>
            <a:prstDash val="solid"/>
          </a:ln>
        </p:spPr>
      </p:sp>
      <p:sp>
        <p:nvSpPr>
          <p:cNvPr id="26" name="Text 24"/>
          <p:cNvSpPr/>
          <p:nvPr/>
        </p:nvSpPr>
        <p:spPr>
          <a:xfrm>
            <a:off x="61996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C</a:t>
            </a:r>
            <a:endParaRPr lang="en-US" sz="1100" dirty="0"/>
          </a:p>
        </p:txBody>
      </p:sp>
      <p:sp>
        <p:nvSpPr>
          <p:cNvPr id="27" name="Text 25"/>
          <p:cNvSpPr/>
          <p:nvPr/>
        </p:nvSpPr>
        <p:spPr>
          <a:xfrm>
            <a:off x="62179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reason the Ming Dynasty's decision to end Zheng He's voyages was historically significant.</a:t>
            </a:r>
            <a:endParaRPr lang="en-US" sz="1000" dirty="0"/>
          </a:p>
        </p:txBody>
      </p:sp>
      <p:sp>
        <p:nvSpPr>
          <p:cNvPr id="28" name="Text 26"/>
          <p:cNvSpPr/>
          <p:nvPr/>
        </p:nvSpPr>
        <p:spPr>
          <a:xfrm>
            <a:off x="6217920" y="2798064"/>
            <a:ext cx="2651760" cy="228600"/>
          </a:xfrm>
          <a:prstGeom prst="rect">
            <a:avLst/>
          </a:prstGeom>
          <a:noFill/>
          <a:ln/>
        </p:spPr>
        <p:txBody>
          <a:bodyPr wrap="square" lIns="0" tIns="0" rIns="0" bIns="0" rtlCol="0" anchor="ctr"/>
          <a:lstStyle/>
          <a:p>
            <a:pPr indent="0" marL="0">
              <a:buNone/>
            </a:pPr>
            <a:r>
              <a:rPr lang="en-US" sz="900" b="1" dirty="0">
                <a:solidFill>
                  <a:srgbClr val="1B5E3B"/>
                </a:solidFill>
                <a:latin typeface="Trebuchet MS" pitchFamily="34" charset="0"/>
                <a:ea typeface="Trebuchet MS" pitchFamily="34" charset="-122"/>
                <a:cs typeface="Trebuchet MS" pitchFamily="34" charset="-120"/>
              </a:rPr>
              <a:t>A top response includes:</a:t>
            </a:r>
            <a:endParaRPr lang="en-US" sz="900" dirty="0"/>
          </a:p>
        </p:txBody>
      </p:sp>
      <p:sp>
        <p:nvSpPr>
          <p:cNvPr id="29" name="Text 27"/>
          <p:cNvSpPr/>
          <p:nvPr/>
        </p:nvSpPr>
        <p:spPr>
          <a:xfrm>
            <a:off x="62179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 Contrast with European maritime expansion that began just decades later</a:t>
            </a:r>
            <a:endParaRPr lang="en-US" sz="950" dirty="0"/>
          </a:p>
          <a:p>
            <a:pPr indent="0" marL="0">
              <a:buNone/>
            </a:pPr>
            <a:r>
              <a:rPr lang="en-US" sz="950" dirty="0">
                <a:solidFill>
                  <a:srgbClr val="374151"/>
                </a:solidFill>
                <a:latin typeface="Calibri" pitchFamily="34" charset="0"/>
                <a:ea typeface="Calibri" pitchFamily="34" charset="-122"/>
                <a:cs typeface="Calibri" pitchFamily="34" charset="-120"/>
              </a:rPr>
              <a:t>• Reflects Confucian values over commercial/mercantilist expansion</a:t>
            </a:r>
            <a:endParaRPr lang="en-US" sz="950" dirty="0"/>
          </a:p>
          <a:p>
            <a:pPr indent="0" marL="0">
              <a:buNone/>
            </a:pPr>
            <a:r>
              <a:rPr lang="en-US" sz="950" dirty="0">
                <a:solidFill>
                  <a:srgbClr val="374151"/>
                </a:solidFill>
                <a:latin typeface="Calibri" pitchFamily="34" charset="0"/>
                <a:ea typeface="Calibri" pitchFamily="34" charset="-122"/>
                <a:cs typeface="Calibri" pitchFamily="34" charset="-120"/>
              </a:rPr>
              <a:t>• Represents a major turning point in China's relationship with global trade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Connections: How Chapter 1 Fits the AP Arc</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Ch.1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Use these links to write better comparative and continuity-and-change essays</a:t>
            </a:r>
            <a:endParaRPr lang="en-US" sz="1000" dirty="0"/>
          </a:p>
        </p:txBody>
      </p:sp>
      <p:sp>
        <p:nvSpPr>
          <p:cNvPr id="9" name="Shape 7"/>
          <p:cNvSpPr/>
          <p:nvPr/>
        </p:nvSpPr>
        <p:spPr>
          <a:xfrm>
            <a:off x="182880" y="987552"/>
            <a:ext cx="2834640" cy="347472"/>
          </a:xfrm>
          <a:prstGeom prst="rect">
            <a:avLst/>
          </a:prstGeom>
          <a:solidFill>
            <a:srgbClr val="2A5298"/>
          </a:solidFill>
          <a:ln w="12700">
            <a:solidFill>
              <a:srgbClr val="2A5298"/>
            </a:solidFill>
            <a:prstDash val="solid"/>
          </a:ln>
        </p:spPr>
      </p:sp>
      <p:sp>
        <p:nvSpPr>
          <p:cNvPr id="10" name="Text 8"/>
          <p:cNvSpPr/>
          <p:nvPr/>
        </p:nvSpPr>
        <p:spPr>
          <a:xfrm>
            <a:off x="256032"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BUILT ON (Earlier)</a:t>
            </a:r>
            <a:endParaRPr lang="en-US" sz="1000" dirty="0"/>
          </a:p>
        </p:txBody>
      </p:sp>
      <p:sp>
        <p:nvSpPr>
          <p:cNvPr id="11" name="Shape 9"/>
          <p:cNvSpPr/>
          <p:nvPr/>
        </p:nvSpPr>
        <p:spPr>
          <a:xfrm>
            <a:off x="182880" y="1335024"/>
            <a:ext cx="2834640" cy="3383280"/>
          </a:xfrm>
          <a:prstGeom prst="rect">
            <a:avLst/>
          </a:prstGeom>
          <a:solidFill>
            <a:srgbClr val="E3F0FF"/>
          </a:solidFill>
          <a:ln w="12700">
            <a:solidFill>
              <a:srgbClr val="2A5298"/>
            </a:solidFill>
            <a:prstDash val="solid"/>
          </a:ln>
        </p:spPr>
      </p:sp>
      <p:sp>
        <p:nvSpPr>
          <p:cNvPr id="12" name="Text 10"/>
          <p:cNvSpPr/>
          <p:nvPr/>
        </p:nvSpPr>
        <p:spPr>
          <a:xfrm>
            <a:off x="292608"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Classical Chinese Confucian bureaucracy (Han Dynasty)</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Silk Road trade routes established in ancient period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Tang Dynasty cultural flourishing and Buddhist spread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Mongol Empire's roots in Central Asian nomadic traditions</a:t>
            </a:r>
            <a:endParaRPr lang="en-US" sz="1050" dirty="0"/>
          </a:p>
        </p:txBody>
      </p:sp>
      <p:sp>
        <p:nvSpPr>
          <p:cNvPr id="13" name="Shape 11"/>
          <p:cNvSpPr/>
          <p:nvPr/>
        </p:nvSpPr>
        <p:spPr>
          <a:xfrm>
            <a:off x="3136392" y="987552"/>
            <a:ext cx="2834640" cy="347472"/>
          </a:xfrm>
          <a:prstGeom prst="rect">
            <a:avLst/>
          </a:prstGeom>
          <a:solidFill>
            <a:srgbClr val="1B5E3B"/>
          </a:solidFill>
          <a:ln w="12700">
            <a:solidFill>
              <a:srgbClr val="1B5E3B"/>
            </a:solidFill>
            <a:prstDash val="solid"/>
          </a:ln>
        </p:spPr>
      </p:sp>
      <p:sp>
        <p:nvSpPr>
          <p:cNvPr id="14" name="Text 12"/>
          <p:cNvSpPr/>
          <p:nvPr/>
        </p:nvSpPr>
        <p:spPr>
          <a:xfrm>
            <a:off x="3209544"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SETS UP (Later Chapters)</a:t>
            </a:r>
            <a:endParaRPr lang="en-US" sz="1000" dirty="0"/>
          </a:p>
        </p:txBody>
      </p:sp>
      <p:sp>
        <p:nvSpPr>
          <p:cNvPr id="15" name="Shape 13"/>
          <p:cNvSpPr/>
          <p:nvPr/>
        </p:nvSpPr>
        <p:spPr>
          <a:xfrm>
            <a:off x="3136392" y="1335024"/>
            <a:ext cx="2834640" cy="3383280"/>
          </a:xfrm>
          <a:prstGeom prst="rect">
            <a:avLst/>
          </a:prstGeom>
          <a:solidFill>
            <a:srgbClr val="E8F5EE"/>
          </a:solidFill>
          <a:ln w="12700">
            <a:solidFill>
              <a:srgbClr val="1B5E3B"/>
            </a:solidFill>
            <a:prstDash val="solid"/>
          </a:ln>
        </p:spPr>
      </p:sp>
      <p:sp>
        <p:nvSpPr>
          <p:cNvPr id="16" name="Text 14"/>
          <p:cNvSpPr/>
          <p:nvPr/>
        </p:nvSpPr>
        <p:spPr>
          <a:xfrm>
            <a:off x="3246120"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Chinese technology enabling European Age of Exploration</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Mongol trade routes spread Black Death westward (Unit 2)</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Zheng He contrast with Portuguese exploration (Unit 3)</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Ming tributary system shapes East Asian diplomacy to 1800s</a:t>
            </a:r>
            <a:endParaRPr lang="en-US" sz="1050" dirty="0"/>
          </a:p>
        </p:txBody>
      </p:sp>
      <p:sp>
        <p:nvSpPr>
          <p:cNvPr id="17" name="Shape 15"/>
          <p:cNvSpPr/>
          <p:nvPr/>
        </p:nvSpPr>
        <p:spPr>
          <a:xfrm>
            <a:off x="6089904" y="987552"/>
            <a:ext cx="2834640" cy="347472"/>
          </a:xfrm>
          <a:prstGeom prst="rect">
            <a:avLst/>
          </a:prstGeom>
          <a:solidFill>
            <a:srgbClr val="4B2D8A"/>
          </a:solidFill>
          <a:ln w="12700">
            <a:solidFill>
              <a:srgbClr val="4B2D8A"/>
            </a:solidFill>
            <a:prstDash val="solid"/>
          </a:ln>
        </p:spPr>
      </p:sp>
      <p:sp>
        <p:nvSpPr>
          <p:cNvPr id="18" name="Text 16"/>
          <p:cNvSpPr/>
          <p:nvPr/>
        </p:nvSpPr>
        <p:spPr>
          <a:xfrm>
            <a:off x="6163056"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COMPARE WITH</a:t>
            </a:r>
            <a:endParaRPr lang="en-US" sz="1000" dirty="0"/>
          </a:p>
        </p:txBody>
      </p:sp>
      <p:sp>
        <p:nvSpPr>
          <p:cNvPr id="19" name="Shape 17"/>
          <p:cNvSpPr/>
          <p:nvPr/>
        </p:nvSpPr>
        <p:spPr>
          <a:xfrm>
            <a:off x="6089904" y="1335024"/>
            <a:ext cx="2834640" cy="3383280"/>
          </a:xfrm>
          <a:prstGeom prst="rect">
            <a:avLst/>
          </a:prstGeom>
          <a:solidFill>
            <a:srgbClr val="EDE8F5"/>
          </a:solidFill>
          <a:ln w="12700">
            <a:solidFill>
              <a:srgbClr val="4B2D8A"/>
            </a:solidFill>
            <a:prstDash val="solid"/>
          </a:ln>
        </p:spPr>
      </p:sp>
      <p:sp>
        <p:nvSpPr>
          <p:cNvPr id="20" name="Text 18"/>
          <p:cNvSpPr/>
          <p:nvPr/>
        </p:nvSpPr>
        <p:spPr>
          <a:xfrm>
            <a:off x="6199632"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2: Abbasid Caliphate -- both fell to Mongols in this period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2: Islamic scholars preserve/advance knowledge like Chinese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4: Mali tribute system -- compare mechanisms with Ming</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5: Aztec tribute state -- different logic, same extraction method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Developments in East Asia (1200-1450)</dc:title>
  <dc:subject>PptxGenJS Presentation</dc:subject>
  <dc:creator>PptxGenJS</dc:creator>
  <cp:lastModifiedBy>PptxGenJS</cp:lastModifiedBy>
  <cp:revision>1</cp:revision>
  <dcterms:created xsi:type="dcterms:W3CDTF">2026-05-09T23:26:42Z</dcterms:created>
  <dcterms:modified xsi:type="dcterms:W3CDTF">2026-05-09T23:26:42Z</dcterms:modified>
</cp:coreProperties>
</file>