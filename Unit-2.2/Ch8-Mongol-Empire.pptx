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1828800"/>
            <a:ext cx="8887968" cy="54864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800" kern="0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Mongol Empire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the Making of the Modern World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World History: Modern  •  Unit 2: Networks of Exchange  •  c. 1206–1368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44805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448056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Conquest  •  Pax Mongolica  •  Black Death  •  Unintended Consequences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PARADOX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Mongol Empire was simultaneously the most destructive and most connectivity-enabling force in pre-modern Eurasia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4206240" cy="3566160"/>
          </a:xfrm>
          <a:prstGeom prst="rect">
            <a:avLst/>
          </a:prstGeom>
          <a:solidFill>
            <a:srgbClr val="2A0808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53312"/>
            <a:ext cx="4206240" cy="658368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353312"/>
            <a:ext cx="3986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DESTRUCTION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" y="2066544"/>
            <a:ext cx="398678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1220s–1258: Samarkand, Bukhara, Baghdad destroyed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Baghdad: House of Wisdom burned; Caliph executed (1258)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Millions killed across Persia, Central Asia, China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Ibn al-Athir: 'They destroyed the foundations of civilization'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53312"/>
            <a:ext cx="4206240" cy="3566160"/>
          </a:xfrm>
          <a:prstGeom prst="rect">
            <a:avLst/>
          </a:prstGeom>
          <a:solidFill>
            <a:srgbClr val="1A2A08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53312"/>
            <a:ext cx="4206240" cy="65836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1353312"/>
            <a:ext cx="3986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64608" y="2066544"/>
            <a:ext cx="398678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Pax Mongolica c. 1250s–1340s: unified Eurasia = safe travel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Marco Polo (1271–95) &amp; Ibn Battuta (1304–68) travel freely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Technologies diffuse: gunpowder, compass, printing move west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Most cosmopolitan courts in pre-modern world history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AP Exam: Never describe Mongols as ONLY destructive or ONLY beneficial — the paradox IS the answer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A3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Genghis Khan: Rise &amp; Military Innovation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4114800" cy="120700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73152" cy="1207008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96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1206 Unification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Temujin unified Mongol tribes at kurultai; declared Genghis Khan ('Universal Ruler')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157984"/>
            <a:ext cx="4114800" cy="120700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57984"/>
            <a:ext cx="73152" cy="1207008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49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Decimal System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54203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Army organized in units of 10 / 100 / 1,000 / 10,000 — commanded by merit, not tribal birth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511296"/>
            <a:ext cx="4114800" cy="120700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511296"/>
            <a:ext cx="73152" cy="1207008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6027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Psychological Warfare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895344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mercy to cities that surrender; total destruction to those that resist — terror = efficiency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804672"/>
            <a:ext cx="4114800" cy="120700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804672"/>
            <a:ext cx="73152" cy="1207008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896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Yam Postal System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118872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stations a day's ride apart; messages crossed the empire in days; also used by merchants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2157984"/>
            <a:ext cx="4114800" cy="120700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2157984"/>
            <a:ext cx="73152" cy="1207008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249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Captured Expertise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254203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Engineers, doctors, scholars captured rather than killed; relocated to serve Mongol rulers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3511296"/>
            <a:ext cx="4114800" cy="120700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511296"/>
            <a:ext cx="73152" cy="1207008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6027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Meritocracy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0" y="3895344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to the Khan, not to tribe; promotions based on ability — destroyed old power structures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A3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Khanates: Regional Impact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4206240" cy="201168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4206240" cy="411480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046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Yuan Dynasty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(China)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54680" y="87782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Ruler: Kublai Khan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4005072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Founded 1271; conquered Song Dynasty 1279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Adopted Chinese bureaucracy &amp; Confucian admin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Hosted Marco Polo; most cosmopolitan court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Collapsed 1368 (Ming rebellion + plague + economic crisis)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804672"/>
            <a:ext cx="4206240" cy="201168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04672"/>
            <a:ext cx="4206240" cy="411480"/>
          </a:xfrm>
          <a:prstGeom prst="rect">
            <a:avLst/>
          </a:prstGeom>
          <a:solidFill>
            <a:srgbClr val="8B2060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8046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Ilkhanate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(Persia/Middle East)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89520" y="87782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Ruler: Hulagu Khan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261872"/>
            <a:ext cx="4005072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Sacked Baghdad 1258; ended Abbasid Caliphate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Later rulers converted to Islam (Ghazan Khan, 1295)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Collapsed mid-14th century (no heir, plague)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lesson: conquerors often adopt conquered religion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953512"/>
            <a:ext cx="4206240" cy="201168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53512"/>
            <a:ext cx="4206240" cy="411480"/>
          </a:xfrm>
          <a:prstGeom prst="rect">
            <a:avLst/>
          </a:prstGeom>
          <a:solidFill>
            <a:srgbClr val="5B6B2A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9535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Golden Horde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(Russia/Steppes)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54680" y="302666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Ruler: Batu Khan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3410712"/>
            <a:ext cx="4005072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Conquered Russia 1237–42; tributary relationship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Russian princes paid tribute for 200+ years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Moscow rose by serving as tribute collector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Shaped Russian autocratic political culture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953512"/>
            <a:ext cx="4206240" cy="201168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953512"/>
            <a:ext cx="4206240" cy="411480"/>
          </a:xfrm>
          <a:prstGeom prst="rect">
            <a:avLst/>
          </a:prstGeom>
          <a:solidFill>
            <a:srgbClr val="5B5B2A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9535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Chagatai Khanate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(Central Asia)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89520" y="302666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Ruler: Chagatai Khan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3410712"/>
            <a:ext cx="4005072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Controlled heart of the Silk Road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Fragmented earliest of the four khanates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Timur (Tamerlane) reunified region 1370–1405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Timurid Renaissance: Samarkand as cultural capital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BLACK DEATH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Consequential Unintended Consequence of Mongol Connectivity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206240" cy="1051560"/>
          </a:xfrm>
          <a:prstGeom prst="rect">
            <a:avLst/>
          </a:prstGeom>
          <a:solidFill>
            <a:srgbClr val="240A0A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1005840" cy="105156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" y="1261872"/>
            <a:ext cx="9326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~1330s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99032" y="146304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Yersinia pestis in Central Asian rodent populations — carried by fleas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432304"/>
            <a:ext cx="4206240" cy="1051560"/>
          </a:xfrm>
          <a:prstGeom prst="rect">
            <a:avLst/>
          </a:prstGeom>
          <a:solidFill>
            <a:srgbClr val="240A0A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432304"/>
            <a:ext cx="1005840" cy="105156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" y="2432304"/>
            <a:ext cx="9326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99032" y="263347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Siege of Caffa (Crimea): Mongols may have catapulted plague victims over walls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602736"/>
            <a:ext cx="4206240" cy="1051560"/>
          </a:xfrm>
          <a:prstGeom prst="rect">
            <a:avLst/>
          </a:prstGeom>
          <a:solidFill>
            <a:srgbClr val="240A0A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602736"/>
            <a:ext cx="1005840" cy="105156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" y="3602736"/>
            <a:ext cx="9326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99032" y="3803904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Genoese ships from Caffa bring plague to Sicily → Europe ignites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261872"/>
            <a:ext cx="4206240" cy="1051560"/>
          </a:xfrm>
          <a:prstGeom prst="rect">
            <a:avLst/>
          </a:prstGeom>
          <a:solidFill>
            <a:srgbClr val="240A0A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261872"/>
            <a:ext cx="1005840" cy="105156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19" name="Text 17"/>
          <p:cNvSpPr/>
          <p:nvPr/>
        </p:nvSpPr>
        <p:spPr>
          <a:xfrm>
            <a:off x="4791456" y="1261872"/>
            <a:ext cx="9326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1347–53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33872" y="146304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Death kills ~25 million Europeans (1/3 of population)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432304"/>
            <a:ext cx="4206240" cy="1051560"/>
          </a:xfrm>
          <a:prstGeom prst="rect">
            <a:avLst/>
          </a:prstGeom>
          <a:solidFill>
            <a:srgbClr val="240A0A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432304"/>
            <a:ext cx="1005840" cy="105156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23" name="Text 21"/>
          <p:cNvSpPr/>
          <p:nvPr/>
        </p:nvSpPr>
        <p:spPr>
          <a:xfrm>
            <a:off x="4791456" y="2432304"/>
            <a:ext cx="9326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1330s–50s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33872" y="263347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mortality in China &amp; Middle East; Yuan Dynasty weakened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602736"/>
            <a:ext cx="4206240" cy="1051560"/>
          </a:xfrm>
          <a:prstGeom prst="rect">
            <a:avLst/>
          </a:prstGeom>
          <a:solidFill>
            <a:srgbClr val="240A0A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602736"/>
            <a:ext cx="1005840" cy="105156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27" name="Text 25"/>
          <p:cNvSpPr/>
          <p:nvPr/>
        </p:nvSpPr>
        <p:spPr>
          <a:xfrm>
            <a:off x="4791456" y="3602736"/>
            <a:ext cx="9326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33872" y="3803904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Yuan Dynasty collapses — plague + rebellion + economic crisis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Pax Mongolica — the very thing that enabled peak trade — also enabled peak plague transmission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A3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Mongol Impact: Regional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04672"/>
            <a:ext cx="10972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804672"/>
            <a:ext cx="2103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CONTROL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0" y="804672"/>
            <a:ext cx="64922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LONG-TERM EFFECT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170432"/>
            <a:ext cx="8503920" cy="713232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1170432"/>
            <a:ext cx="54864" cy="713232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170432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3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1170432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Rule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0" y="1170432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Yuan Dynasty; adopted Chinese admin; expelled 1368 (Ming); strong recovery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920240"/>
            <a:ext cx="8503920" cy="713232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" y="1920240"/>
            <a:ext cx="54864" cy="713232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1920240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3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 /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A3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37360" y="192024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Rule (Ilkhanate)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0" y="1920240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Baghdad destroyed 1258; later rulers converted to Islam; collapsed mid-14th century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670048"/>
            <a:ext cx="8503920" cy="713232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2670048"/>
            <a:ext cx="54864" cy="713232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670048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3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267004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Tributary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0" y="2670048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Horde; no direct Mongol administration; tribute paid 200+ years; shaped autocracy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419856"/>
            <a:ext cx="8503920" cy="713232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3419856"/>
            <a:ext cx="54864" cy="713232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419856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3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Europe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37360" y="341985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0" y="3419856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Repelled at Poland/Hungary 1241; affected by Black Death via trade routes; not conquered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169664"/>
            <a:ext cx="8503920" cy="713232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4169664"/>
            <a:ext cx="54864" cy="713232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4169664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3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Asia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169664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Rule (Chagatai)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40480" y="4169664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of Silk Road controlled; most fragmented; Timur later briefly reunified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" y="491947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3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Exam: China vs. Russia is the most tested regional comparison — direct rule vs. tributary → different long-term outcomes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A3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Long-Term Legacy of the Mongol Empire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4114800" cy="128016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73152" cy="128016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7782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Ming Dynasty Reaction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38587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 policies (Great Wall expansion, maritime withdrawal after Zheng He) are direct reactions to Mongol trauma — can't understand Ming without Mongol context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221992"/>
            <a:ext cx="4114800" cy="128016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221992"/>
            <a:ext cx="73152" cy="128016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951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Timurid Renaissance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587752"/>
            <a:ext cx="38587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Timur (Tamerlane, 1370–1405) claimed Mongol heritage; capital Samarkand = cultural center; Babur (Timur's descendant) founded Mughal Empire in India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3639312"/>
            <a:ext cx="4114800" cy="128016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639312"/>
            <a:ext cx="73152" cy="128016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7124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Gunpowder Diffusion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005072"/>
            <a:ext cx="38587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gunpowder moved west via Mongol trade networks → Islamic states → Europe → Military Revolution → gunpowder empires (Unit 3)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804672"/>
            <a:ext cx="4114800" cy="128016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804672"/>
            <a:ext cx="73152" cy="128016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87782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European Exploration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170432"/>
            <a:ext cx="38587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 Road decline after Mongol collapse → Europeans seek maritime routes → Portuguese exploration → Vasco da Gama (1498) — Age of Exploration begins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2221992"/>
            <a:ext cx="4114800" cy="128016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2221992"/>
            <a:ext cx="73152" cy="128016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2951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Russian Autocracy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2587752"/>
            <a:ext cx="38587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years of tributary status to Golden Horde → Moscow's power built on tribute collection → centralized autocratic political culture takes root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17720" y="3639312"/>
            <a:ext cx="4114800" cy="128016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639312"/>
            <a:ext cx="73152" cy="128016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7124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Transfer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4005072"/>
            <a:ext cx="38587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relocation of artisans across Mongol Empire = history's largest pre-modern technology transfer: Chinese engineering in Persia, Islamic astronomy in China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A3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Timeline: The Mongol Empire c. 1206–1405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4206240" cy="74980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1005840" cy="749808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" y="804672"/>
            <a:ext cx="932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99032" y="91440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Genghis Khan unifies Mongols — empire begins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645920"/>
            <a:ext cx="4206240" cy="74980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45920"/>
            <a:ext cx="1005840" cy="74980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" y="1645920"/>
            <a:ext cx="932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99032" y="1755648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Mongols sack Zhongdu (Beijing); Jin Dynasty conquest begins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487168"/>
            <a:ext cx="4206240" cy="74980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487168"/>
            <a:ext cx="1005840" cy="749808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" y="2487168"/>
            <a:ext cx="932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99032" y="2596896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Samarkand &amp; Bukhara destroyed — Silk Road cities devastated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328416"/>
            <a:ext cx="4206240" cy="74980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328416"/>
            <a:ext cx="1005840" cy="74980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" y="3328416"/>
            <a:ext cx="932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1237–42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99032" y="3438144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Conquest of Russia; Poland &amp; Hungary invaded (then withdrawn)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4169664"/>
            <a:ext cx="4206240" cy="74980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169664"/>
            <a:ext cx="1005840" cy="749808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" y="4169664"/>
            <a:ext cx="932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99032" y="4279392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Baghdad sacked; Abbasid Caliphate destroyed by Hulagu Khan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804672"/>
            <a:ext cx="4206240" cy="74980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804672"/>
            <a:ext cx="1005840" cy="74980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27" name="Text 25"/>
          <p:cNvSpPr/>
          <p:nvPr/>
        </p:nvSpPr>
        <p:spPr>
          <a:xfrm>
            <a:off x="4791456" y="804672"/>
            <a:ext cx="932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33872" y="91440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 of Ain Jalut: Mamluks defeat Mongols — western limit set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1645920"/>
            <a:ext cx="4206240" cy="74980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645920"/>
            <a:ext cx="1005840" cy="749808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31" name="Text 29"/>
          <p:cNvSpPr/>
          <p:nvPr/>
        </p:nvSpPr>
        <p:spPr>
          <a:xfrm>
            <a:off x="4791456" y="1645920"/>
            <a:ext cx="932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33872" y="1755648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Yuan Dynasty founded by Kublai Khan; Marco Polo arrives c. 1275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2487168"/>
            <a:ext cx="4206240" cy="74980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487168"/>
            <a:ext cx="1005840" cy="74980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35" name="Text 33"/>
          <p:cNvSpPr/>
          <p:nvPr/>
        </p:nvSpPr>
        <p:spPr>
          <a:xfrm>
            <a:off x="4791456" y="2487168"/>
            <a:ext cx="932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1346–53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33872" y="2596896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Death travels Mongol routes; devastates Europe &amp; Middle East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54880" y="3328416"/>
            <a:ext cx="4206240" cy="74980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328416"/>
            <a:ext cx="1005840" cy="749808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39" name="Text 37"/>
          <p:cNvSpPr/>
          <p:nvPr/>
        </p:nvSpPr>
        <p:spPr>
          <a:xfrm>
            <a:off x="4791456" y="3328416"/>
            <a:ext cx="932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1368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33872" y="3438144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Yuan Dynasty collapses; Ming Dynasty founded — Mongols expelled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4169664"/>
            <a:ext cx="4206240" cy="74980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4169664"/>
            <a:ext cx="1005840" cy="74980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43" name="Text 41"/>
          <p:cNvSpPr/>
          <p:nvPr/>
        </p:nvSpPr>
        <p:spPr>
          <a:xfrm>
            <a:off x="4791456" y="4169664"/>
            <a:ext cx="932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1370–1405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833872" y="4279392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2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Timur (Tamerlane) briefly reunifies Central Asia; Timurid Renaissance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 EXAM TIPS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8: The Mongol Empire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206240" cy="1115568"/>
          </a:xfrm>
          <a:prstGeom prst="rect">
            <a:avLst/>
          </a:prstGeom>
          <a:solidFill>
            <a:srgbClr val="20143A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75488" cy="1115568"/>
          </a:xfrm>
          <a:prstGeom prst="rect">
            <a:avLst/>
          </a:prstGeom>
          <a:solidFill>
            <a:srgbClr val="F5C97A"/>
          </a:solidFill>
          <a:ln/>
        </p:spPr>
      </p:sp>
      <p:sp>
        <p:nvSpPr>
          <p:cNvPr id="7" name="Text 5"/>
          <p:cNvSpPr/>
          <p:nvPr/>
        </p:nvSpPr>
        <p:spPr>
          <a:xfrm>
            <a:off x="374904" y="1170432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20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26187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TESTED CONCEPT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517904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Mongol paradox — simultaneous destruction AND trade integration. One-sided answers lose points.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432304"/>
            <a:ext cx="4206240" cy="1115568"/>
          </a:xfrm>
          <a:prstGeom prst="rect">
            <a:avLst/>
          </a:prstGeom>
          <a:solidFill>
            <a:srgbClr val="20143A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432304"/>
            <a:ext cx="475488" cy="1115568"/>
          </a:xfrm>
          <a:prstGeom prst="rect">
            <a:avLst/>
          </a:prstGeom>
          <a:solidFill>
            <a:srgbClr val="E87040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" y="2432304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20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252374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TRAP #1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779776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say Mongols 'intentionally spread the plague' — it was an unintended consequence of the connectivity they created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694176"/>
            <a:ext cx="4206240" cy="1115568"/>
          </a:xfrm>
          <a:prstGeom prst="rect">
            <a:avLst/>
          </a:prstGeom>
          <a:solidFill>
            <a:srgbClr val="20143A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694176"/>
            <a:ext cx="475488" cy="1115568"/>
          </a:xfrm>
          <a:prstGeom prst="rect">
            <a:avLst/>
          </a:prstGeom>
          <a:solidFill>
            <a:srgbClr val="E87040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" y="3694176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20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378561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TRAP #2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4041648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 rule was NOT uniform — Yuan Dynasty (direct) vs. Golden Horde (tributary) produced very different outcomes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170432"/>
            <a:ext cx="4206240" cy="1115568"/>
          </a:xfrm>
          <a:prstGeom prst="rect">
            <a:avLst/>
          </a:prstGeom>
          <a:solidFill>
            <a:srgbClr val="20143A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170432"/>
            <a:ext cx="475488" cy="1115568"/>
          </a:xfrm>
          <a:prstGeom prst="rect">
            <a:avLst/>
          </a:prstGeom>
          <a:solidFill>
            <a:srgbClr val="82B3D4"/>
          </a:solidFill>
          <a:ln/>
        </p:spPr>
      </p:sp>
      <p:sp>
        <p:nvSpPr>
          <p:cNvPr id="22" name="Text 20"/>
          <p:cNvSpPr/>
          <p:nvPr/>
        </p:nvSpPr>
        <p:spPr>
          <a:xfrm>
            <a:off x="4809744" y="1170432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20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3520" y="126187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2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COMPARISON 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1517904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(direct rule, adopted Chinese admin, strong Ming recovery) vs. Russia (tributary, shaped autocracy for centuries)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432304"/>
            <a:ext cx="4206240" cy="1115568"/>
          </a:xfrm>
          <a:prstGeom prst="rect">
            <a:avLst/>
          </a:prstGeom>
          <a:solidFill>
            <a:srgbClr val="20143A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432304"/>
            <a:ext cx="475488" cy="1115568"/>
          </a:xfrm>
          <a:prstGeom prst="rect">
            <a:avLst/>
          </a:prstGeom>
          <a:solidFill>
            <a:srgbClr val="82B3D4"/>
          </a:solidFill>
          <a:ln/>
        </p:spPr>
      </p:sp>
      <p:sp>
        <p:nvSpPr>
          <p:cNvPr id="27" name="Text 25"/>
          <p:cNvSpPr/>
          <p:nvPr/>
        </p:nvSpPr>
        <p:spPr>
          <a:xfrm>
            <a:off x="4809744" y="2432304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20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03520" y="252374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2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COMPARISON 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2779776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 Empire vs. Roman Empire — both enabled trade via political unity; both spread disease; both collapsed and disrupted networks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694176"/>
            <a:ext cx="4206240" cy="1115568"/>
          </a:xfrm>
          <a:prstGeom prst="rect">
            <a:avLst/>
          </a:prstGeom>
          <a:solidFill>
            <a:srgbClr val="20143A"/>
          </a:solidFill>
          <a:ln/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94176"/>
            <a:ext cx="475488" cy="1115568"/>
          </a:xfrm>
          <a:prstGeom prst="rect">
            <a:avLst/>
          </a:prstGeom>
          <a:solidFill>
            <a:srgbClr val="7BC67E"/>
          </a:solidFill>
          <a:ln/>
        </p:spPr>
      </p:sp>
      <p:sp>
        <p:nvSpPr>
          <p:cNvPr id="32" name="Text 30"/>
          <p:cNvSpPr/>
          <p:nvPr/>
        </p:nvSpPr>
        <p:spPr>
          <a:xfrm>
            <a:off x="4809744" y="3694176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20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03520" y="378561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C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CAUSATION CHAIN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0" y="4041648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Conquest → Pax Mongolica → technology diffuses + plague travels → Yuan/Ilkhanate collapse → Silk Road decline → European maritime exploration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4A3070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1874520"/>
            <a:ext cx="8979408" cy="4572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8 SUMMARY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Mongol Empire: Key Takeaways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85039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Mongols were simultaneously the most destructive and most connectivity-enabling force in pre-modern Eurasia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Pax Mongolica (~1250s–1340s) enabled peak Silk Road commerce — and also peak plague transmission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Four khanates ruled different regions with different methods: Yuan (direct/China), Golden Horde (tributary/Russia)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 Black Death killed ~1/3 of Europe and destabilized Mongol rule — the ultimate unintended consequence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Mongol collapse → Silk Road decline → European search for maritime alternatives → Age of Exploration (Unit 3)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Timur's Timurid Renaissance and Babur's Mughal Empire are direct Mongol legacies extending into Unit 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4498848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 •  Ch8: The Mongol Empire  •  AP World History: Modern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Ch8: The Mongol Empire</dc:title>
  <dc:subject>PptxGenJS Presentation</dc:subject>
  <dc:creator>AP World History Study</dc:creator>
  <cp:lastModifiedBy>AP World History Study</cp:lastModifiedBy>
  <cp:revision>1</cp:revision>
  <dcterms:created xsi:type="dcterms:W3CDTF">2026-05-11T14:30:29Z</dcterms:created>
  <dcterms:modified xsi:type="dcterms:W3CDTF">2026-05-11T14:30:29Z</dcterms:modified>
</cp:coreProperties>
</file>