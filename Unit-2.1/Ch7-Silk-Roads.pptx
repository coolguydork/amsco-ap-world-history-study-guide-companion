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0116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Silk Roads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2880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•  Unit 2: Networks of Exchange  •  c. 1200–1450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480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 •  Pax Mongolica  •  Cultural Diffusion  •  Black Death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Were the Silk Roads?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0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road — a WEB of routes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743200" cy="31089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743200" cy="347472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Routes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→ Central Asia → Persia → Mediterranean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Carried: silk, porcelain, paper, gunpowder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743200" cy="31089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71600"/>
            <a:ext cx="2743200" cy="347472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Routes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178308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→ SE Asia → Indian Ocean → E. Africa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Carried: spices, textiles, bulk goods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371600"/>
            <a:ext cx="2743200" cy="310896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371600"/>
            <a:ext cx="2743200" cy="347472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GOODS: silk, spices, porcelain, gold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religion, technology, disease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same routes that moved SILK also moved RELIGION, TECHNOLOGY, and DISEASE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1207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Pax Mongolica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Peace – period of stability (~1250s–1340s) enabling safe overland travel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57984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57984"/>
            <a:ext cx="73152" cy="1207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Caravanserai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inns at intervals along routes; shelter + trade for merchants &amp; animals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11296"/>
            <a:ext cx="73152" cy="1207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02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Bubonic Plague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(Yersinia pestis) that traveled trade routes; killed ~1/3 of Europe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04672"/>
            <a:ext cx="73152" cy="1207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Diasporic Communities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merchant settlements in foreign cities; sustained trust across distances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157984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157984"/>
            <a:ext cx="73152" cy="1207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of Exchange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54203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financial doc replacing coin transport; early form of long-distance credit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11296"/>
            <a:ext cx="4114800" cy="120700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511296"/>
            <a:ext cx="73152" cy="1207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602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Sogdians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89534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merchants who dominated early Silk Road trade; spread religions westward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People &amp; 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47548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Polo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1254–1324  |  Venice → China (Yuan)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Traveled overland Silk Roads to Kublai Khan's court under Pax Mongolica protection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 Travels fired European desire for direct access to Asian goods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Journey only possible because of Mongol political stability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47548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Ibn Battuta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9272" y="1078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1304–c.1368  |  Morocco → Africa → Asia → China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Traveled ~75,000 miles over 29 years via trade routes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source for Islamic civilization's reach along Silk Roads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 Rihla documents Pax Mongolica conditions and Muslim merchant communities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804672"/>
            <a:ext cx="2743200" cy="41605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804672"/>
            <a:ext cx="2743200" cy="47548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 Merchants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27064" y="1078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c.–1450+  |  Middle East → Eurasia broadly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5352" y="1371600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Replaced Sogdians as dominant Silk Road middlemen after rise of Islam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Spread Islam wherever they traded via diasporic communities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Islamic commercial law created cross-cultural trust networks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Trade Actually Worked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6400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73152" cy="6400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Caravanserai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26187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Inns every ~20 miles; merchants rested, traded, gathered news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4160520" cy="640080"/>
          </a:xfrm>
          <a:prstGeom prst="rect">
            <a:avLst/>
          </a:prstGeom>
          <a:solidFill>
            <a:srgbClr val="EDE0C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73152" cy="6400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of Exchange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0116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transferred value without carrying coin — reduced robbery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4160520" cy="6400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88336"/>
            <a:ext cx="73152" cy="6400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614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Trust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276148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communities in every port recognized shared law &amp; language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438144"/>
            <a:ext cx="4160520" cy="640080"/>
          </a:xfrm>
          <a:prstGeom prst="rect">
            <a:avLst/>
          </a:prstGeom>
          <a:solidFill>
            <a:srgbClr val="EDE0C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38144"/>
            <a:ext cx="73152" cy="6400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112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Caravans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351129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Bactrian camels could carry 500 lbs and survive weeks without water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4160520" cy="6400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187952"/>
            <a:ext cx="73152" cy="6400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611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Money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74520" y="426110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innovation adopted by Mongols; enabled large-scale transactions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188720"/>
            <a:ext cx="73152" cy="1143000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73168" y="1572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• Porcelain • Spices • Paper • Horses • Glass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450592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450592"/>
            <a:ext cx="73152" cy="1143000"/>
          </a:xfrm>
          <a:prstGeom prst="rect">
            <a:avLst/>
          </a:prstGeom>
          <a:solidFill>
            <a:srgbClr val="5B7FA6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2834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• Buddhism • Nestorian Christianity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technologies (paper, printing, gunpowder, compass)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712464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12464"/>
            <a:ext cx="73152" cy="1143000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73168" y="40965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Bubonic plague (Yersinia pestis)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Traveled same routes as silk — killed ~1/3 of Europe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Mongol Effect on the Silk Roads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4160520"/>
          </a:xfrm>
          <a:prstGeom prst="rect">
            <a:avLst/>
          </a:prstGeom>
          <a:solidFill>
            <a:srgbClr val="F5E0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438912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04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Destruction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3986784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1220s–1250s: Mongols sack Samarkand, Bukhara, Baghdad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Silk Road cities destroyed; merchant populations massacred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Ibn al-Athir: 'They spoiled the earth and destroyed civilization'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Short-term trade volume collapses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06240" cy="4160520"/>
          </a:xfrm>
          <a:prstGeom prst="rect">
            <a:avLst/>
          </a:prstGeom>
          <a:solidFill>
            <a:srgbClr val="E8ED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206240" cy="438912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04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Pax Mongolica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298448"/>
            <a:ext cx="3986784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c. 1250s–1340s: Unified Mongol rule = safe overland travel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Caravanserai rebuilt; weights &amp; measures standardized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Yam postal system enabled rapid communication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Marco Polo travels 1271–1295; Ibn Battuta travels 1304–1368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Exam Tip: The Mongol paradox — simultaneous destruction AND greatest trade enabler in pre-modern Eurasia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DEATH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Consequential Unintended Consequence of Trade Network Connectivity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1051560"/>
          </a:xfrm>
          <a:prstGeom prst="rect">
            <a:avLst/>
          </a:prstGeom>
          <a:solidFill>
            <a:srgbClr val="2A1A0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Yersinia pestis in Central Asian rodent populations (c. 1330s)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4206240" cy="1051560"/>
          </a:xfrm>
          <a:prstGeom prst="rect">
            <a:avLst/>
          </a:prstGeom>
          <a:solidFill>
            <a:srgbClr val="2A1A0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60320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33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Traveled Mongol-enabled Silk Roads westward; arrived Sicily via Genoese ships 1347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49040"/>
            <a:ext cx="4206240" cy="1051560"/>
          </a:xfrm>
          <a:prstGeom prst="rect">
            <a:avLst/>
          </a:prstGeom>
          <a:solidFill>
            <a:srgbClr val="2A1A0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749040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 Toll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96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million in Europe (1/3 of pop.); similar in Middle East &amp; China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206240" cy="1051560"/>
          </a:xfrm>
          <a:prstGeom prst="rect">
            <a:avLst/>
          </a:prstGeom>
          <a:solidFill>
            <a:srgbClr val="2A1A0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71600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Consequences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71907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destabilized → collapse 1368; Ilkhanate weakened; European feudalism eroded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206240" cy="1051560"/>
          </a:xfrm>
          <a:prstGeom prst="rect">
            <a:avLst/>
          </a:prstGeom>
          <a:solidFill>
            <a:srgbClr val="2A1A0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560320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33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Consequences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9077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shortages → peasants gain bargaining power; Church authority questioned; Jewish scapegoating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206240" cy="1051560"/>
          </a:xfrm>
          <a:prstGeom prst="rect">
            <a:avLst/>
          </a:prstGeom>
          <a:solidFill>
            <a:srgbClr val="2A1A0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49040"/>
            <a:ext cx="73152" cy="10515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Irony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096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 that built wealth (Pax Mongolica) transmitted catastrophe — both were unintended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Timeline: Silk Roads c. 1200–1450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005840" cy="9144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" y="80467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9032" y="91440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Genghis Khan unifies Mongols — conquests begin, disrupting routes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56232"/>
            <a:ext cx="1005840" cy="914400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185623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99032" y="196596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sacked; Abbasid Caliphate ends; Pax Mongolica begins forming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07792"/>
            <a:ext cx="1005840" cy="9144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" y="290779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1271–95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99032" y="301752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Polo travels to China under Pax Mongolica protection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1005840" cy="914400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" y="395935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1304–68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99032" y="406908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travels 75,000 miles across Islamic world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80467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804672"/>
            <a:ext cx="1005840" cy="9144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80467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~1330s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88152" y="91440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Bubonic plague originates in Central Asia — begins traveling west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85623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856232"/>
            <a:ext cx="1005840" cy="914400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185623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1346–53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88152" y="196596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Death sweeps Europe &amp; Middle East — 1/3 of Europe dies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90779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07792"/>
            <a:ext cx="1005840" cy="9144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1" name="Text 29"/>
          <p:cNvSpPr/>
          <p:nvPr/>
        </p:nvSpPr>
        <p:spPr>
          <a:xfrm>
            <a:off x="4745736" y="290779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88152" y="301752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Dynasty collapses — Silk Road loses eastern anchor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959352"/>
            <a:ext cx="4160520" cy="9144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959352"/>
            <a:ext cx="1005840" cy="914400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35" name="Text 33"/>
          <p:cNvSpPr/>
          <p:nvPr/>
        </p:nvSpPr>
        <p:spPr>
          <a:xfrm>
            <a:off x="4745736" y="3959352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~1400+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88152" y="4069080"/>
            <a:ext cx="298094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routes increasingly replace overland Silk Roads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8C5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TIPS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7: The Silk Roads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15568"/>
          </a:xfrm>
          <a:prstGeom prst="rect">
            <a:avLst/>
          </a:prstGeom>
          <a:solidFill>
            <a:srgbClr val="2438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TOPIC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appears as MCQ stimulus (traveler accounts, maps) and SAQ/DBQ source multiple times per exam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206240" cy="1115568"/>
          </a:xfrm>
          <a:prstGeom prst="rect">
            <a:avLst/>
          </a:prstGeom>
          <a:solidFill>
            <a:srgbClr val="2438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32304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the Mongols 'spread' the Black Death intentionally — it was an unintended consequence of connectivity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206240" cy="1115568"/>
          </a:xfrm>
          <a:prstGeom prst="rect">
            <a:avLst/>
          </a:prstGeom>
          <a:solidFill>
            <a:srgbClr val="2438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94176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limit the Silk Roads to commercial exchange — always include religious, technological, and disease diffusion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4206240" cy="1115568"/>
          </a:xfrm>
          <a:prstGeom prst="rect">
            <a:avLst/>
          </a:prstGeom>
          <a:solidFill>
            <a:srgbClr val="2438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70432"/>
            <a:ext cx="475488" cy="1115568"/>
          </a:xfrm>
          <a:prstGeom prst="rect">
            <a:avLst/>
          </a:prstGeom>
          <a:solidFill>
            <a:srgbClr val="82B3D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(politically dependent, needed Pax Mongolica) vs. Indian Ocean (naturally driven, more resilient)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206240" cy="1115568"/>
          </a:xfrm>
          <a:prstGeom prst="rect">
            <a:avLst/>
          </a:prstGeom>
          <a:solidFill>
            <a:srgbClr val="2438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475488" cy="1115568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CHAIN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Mongolica → trade peaks → plague travels routes → Mongol collapse → maritime alternatives sought → Age of Exploration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206240" cy="1115568"/>
          </a:xfrm>
          <a:prstGeom prst="rect">
            <a:avLst/>
          </a:prstGeom>
          <a:solidFill>
            <a:srgbClr val="2438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94176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Bubonic plague spread via the SAME routes as silk and spices — connectivity is a double-edged sword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7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Silk Roads: 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Silk Roads were a WEB of overland and maritime routes — not a single road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Pax Mongolica (~1250s–1340s) was the political condition enabling peak Silk Road commerce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SAME routes moved silk, religion, technology, AND the bubonic plague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Marco Polo and Ibn Battuta are the AP exam's primary sources for Silk Road conditions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Black Death killed ~1/3 of Europe and destabilized Mongol rule — an unintended consequence of connectivity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Silk Road decline after Mongol collapse → European demand for maritime alternatives → Age of Exploration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4988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•  Ch7: The Silk Roads  •  AP World History: Modern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Ch7: The Silk Roads</dc:title>
  <dc:subject>PptxGenJS Presentation</dc:subject>
  <dc:creator>AP World History Study</dc:creator>
  <cp:lastModifiedBy>AP World History Study</cp:lastModifiedBy>
  <cp:revision>1</cp:revision>
  <dcterms:created xsi:type="dcterms:W3CDTF">2026-05-11T14:27:15Z</dcterms:created>
  <dcterms:modified xsi:type="dcterms:W3CDTF">2026-05-11T14:27:15Z</dcterms:modified>
</cp:coreProperties>
</file>