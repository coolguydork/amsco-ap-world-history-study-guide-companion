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0D00"/>
        </a:solidFill>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D4A017"/>
          </a:solidFill>
          <a:ln w="12700">
            <a:solidFill>
              <a:srgbClr val="D4A017"/>
            </a:solidFill>
            <a:prstDash val="solid"/>
          </a:ln>
        </p:spPr>
      </p:sp>
      <p:sp>
        <p:nvSpPr>
          <p:cNvPr id="3" name="Shape 1"/>
          <p:cNvSpPr/>
          <p:nvPr/>
        </p:nvSpPr>
        <p:spPr>
          <a:xfrm>
            <a:off x="502920" y="0"/>
            <a:ext cx="73152" cy="5143500"/>
          </a:xfrm>
          <a:prstGeom prst="rect">
            <a:avLst/>
          </a:prstGeom>
          <a:solidFill>
            <a:srgbClr val="F0C843"/>
          </a:solidFill>
          <a:ln w="12700">
            <a:solidFill>
              <a:srgbClr val="F0C843"/>
            </a:solidFill>
            <a:prstDash val="solid"/>
          </a:ln>
        </p:spPr>
      </p:sp>
      <p:sp>
        <p:nvSpPr>
          <p:cNvPr id="4" name="Shape 2"/>
          <p:cNvSpPr/>
          <p:nvPr/>
        </p:nvSpPr>
        <p:spPr>
          <a:xfrm>
            <a:off x="6400800" y="-1371600"/>
            <a:ext cx="4572000" cy="4572000"/>
          </a:xfrm>
          <a:prstGeom prst="ellipse">
            <a:avLst/>
          </a:prstGeom>
          <a:solidFill>
            <a:srgbClr val="2A1800"/>
          </a:solidFill>
          <a:ln w="12700">
            <a:solidFill>
              <a:srgbClr val="2A1800"/>
            </a:solidFill>
            <a:prstDash val="solid"/>
          </a:ln>
        </p:spPr>
      </p:sp>
      <p:sp>
        <p:nvSpPr>
          <p:cNvPr id="5" name="Shape 3"/>
          <p:cNvSpPr/>
          <p:nvPr/>
        </p:nvSpPr>
        <p:spPr>
          <a:xfrm>
            <a:off x="7132320" y="3200400"/>
            <a:ext cx="3200400" cy="3200400"/>
          </a:xfrm>
          <a:prstGeom prst="ellipse">
            <a:avLst/>
          </a:prstGeom>
          <a:solidFill>
            <a:srgbClr val="110A00"/>
          </a:solidFill>
          <a:ln w="12700">
            <a:solidFill>
              <a:srgbClr val="110A00"/>
            </a:solidFill>
            <a:prstDash val="solid"/>
          </a:ln>
        </p:spPr>
      </p:sp>
      <p:sp>
        <p:nvSpPr>
          <p:cNvPr id="6" name="Text 4"/>
          <p:cNvSpPr/>
          <p:nvPr/>
        </p:nvSpPr>
        <p:spPr>
          <a:xfrm>
            <a:off x="777240" y="822960"/>
            <a:ext cx="8046720" cy="292608"/>
          </a:xfrm>
          <a:prstGeom prst="rect">
            <a:avLst/>
          </a:prstGeom>
          <a:noFill/>
          <a:ln/>
        </p:spPr>
        <p:txBody>
          <a:bodyPr wrap="square" lIns="0" tIns="0" rIns="0" bIns="0" rtlCol="0" anchor="ctr"/>
          <a:lstStyle/>
          <a:p>
            <a:pPr indent="0" marL="0">
              <a:buNone/>
            </a:pPr>
            <a:r>
              <a:rPr lang="en-US" sz="1000" spc="200" kern="0" dirty="0">
                <a:solidFill>
                  <a:srgbClr val="F0C843"/>
                </a:solidFill>
                <a:latin typeface="Trebuchet MS" pitchFamily="34" charset="0"/>
                <a:ea typeface="Trebuchet MS" pitchFamily="34" charset="-122"/>
                <a:cs typeface="Trebuchet MS" pitchFamily="34" charset="-120"/>
              </a:rPr>
              <a:t>AP WORLD HISTORY: MODERN  ·  UNIT 1  ·  PERIOD 1</a:t>
            </a:r>
            <a:endParaRPr lang="en-US" sz="1000" dirty="0"/>
          </a:p>
        </p:txBody>
      </p:sp>
      <p:sp>
        <p:nvSpPr>
          <p:cNvPr id="7" name="Text 5"/>
          <p:cNvSpPr/>
          <p:nvPr/>
        </p:nvSpPr>
        <p:spPr>
          <a:xfrm>
            <a:off x="777240" y="1161288"/>
            <a:ext cx="7315200" cy="365760"/>
          </a:xfrm>
          <a:prstGeom prst="rect">
            <a:avLst/>
          </a:prstGeom>
          <a:noFill/>
          <a:ln/>
        </p:spPr>
        <p:txBody>
          <a:bodyPr wrap="square" lIns="0" tIns="0" rIns="0" bIns="0" rtlCol="0" anchor="ctr"/>
          <a:lstStyle/>
          <a:p>
            <a:pPr indent="0" marL="0">
              <a:buNone/>
            </a:pPr>
            <a:r>
              <a:rPr lang="en-US" sz="1300" b="1" spc="400" kern="0" dirty="0">
                <a:solidFill>
                  <a:srgbClr val="F0C843"/>
                </a:solidFill>
                <a:latin typeface="Trebuchet MS" pitchFamily="34" charset="0"/>
                <a:ea typeface="Trebuchet MS" pitchFamily="34" charset="-122"/>
                <a:cs typeface="Trebuchet MS" pitchFamily="34" charset="-120"/>
              </a:rPr>
              <a:t>CHAPTER 4</a:t>
            </a:r>
            <a:endParaRPr lang="en-US" sz="1300" dirty="0"/>
          </a:p>
        </p:txBody>
      </p:sp>
      <p:sp>
        <p:nvSpPr>
          <p:cNvPr id="8" name="Text 6"/>
          <p:cNvSpPr/>
          <p:nvPr/>
        </p:nvSpPr>
        <p:spPr>
          <a:xfrm>
            <a:off x="777240" y="1572768"/>
            <a:ext cx="5943600" cy="160020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State Building</a:t>
            </a:r>
            <a:endParaRPr lang="en-US" sz="4000" dirty="0"/>
          </a:p>
          <a:p>
            <a:pPr indent="0" marL="0">
              <a:buNone/>
            </a:pPr>
            <a:r>
              <a:rPr lang="en-US" sz="4000" b="1" dirty="0">
                <a:solidFill>
                  <a:srgbClr val="FFFFFF"/>
                </a:solidFill>
                <a:latin typeface="Trebuchet MS" pitchFamily="34" charset="0"/>
                <a:ea typeface="Trebuchet MS" pitchFamily="34" charset="-122"/>
                <a:cs typeface="Trebuchet MS" pitchFamily="34" charset="-120"/>
              </a:rPr>
              <a:t>in Africa</a:t>
            </a:r>
            <a:endParaRPr lang="en-US" sz="4000" dirty="0"/>
          </a:p>
        </p:txBody>
      </p:sp>
      <p:sp>
        <p:nvSpPr>
          <p:cNvPr id="9" name="Text 7"/>
          <p:cNvSpPr/>
          <p:nvPr/>
        </p:nvSpPr>
        <p:spPr>
          <a:xfrm>
            <a:off x="777240" y="3246120"/>
            <a:ext cx="7772400" cy="365760"/>
          </a:xfrm>
          <a:prstGeom prst="rect">
            <a:avLst/>
          </a:prstGeom>
          <a:noFill/>
          <a:ln/>
        </p:spPr>
        <p:txBody>
          <a:bodyPr wrap="square" lIns="0" tIns="0" rIns="0" bIns="0" rtlCol="0" anchor="ctr"/>
          <a:lstStyle/>
          <a:p>
            <a:pPr indent="0" marL="0">
              <a:buNone/>
            </a:pPr>
            <a:r>
              <a:rPr lang="en-US" sz="1500" i="1" dirty="0">
                <a:solidFill>
                  <a:srgbClr val="F0C843"/>
                </a:solidFill>
                <a:latin typeface="Calibri" pitchFamily="34" charset="0"/>
                <a:ea typeface="Calibri" pitchFamily="34" charset="-122"/>
                <a:cs typeface="Calibri" pitchFamily="34" charset="-120"/>
              </a:rPr>
              <a:t>1200-1450  |  Mali · Swahili Coast · Great Zimbabwe · Ethiopia</a:t>
            </a:r>
            <a:endParaRPr lang="en-US" sz="1500" dirty="0"/>
          </a:p>
        </p:txBody>
      </p:sp>
      <p:sp>
        <p:nvSpPr>
          <p:cNvPr id="10" name="Shape 8"/>
          <p:cNvSpPr/>
          <p:nvPr/>
        </p:nvSpPr>
        <p:spPr>
          <a:xfrm>
            <a:off x="777240" y="3703320"/>
            <a:ext cx="7315200" cy="0"/>
          </a:xfrm>
          <a:prstGeom prst="line">
            <a:avLst/>
          </a:prstGeom>
          <a:noFill/>
          <a:ln w="19050">
            <a:solidFill>
              <a:srgbClr val="D4A017"/>
            </a:solidFill>
            <a:prstDash val="solid"/>
          </a:ln>
        </p:spPr>
      </p:sp>
      <p:sp>
        <p:nvSpPr>
          <p:cNvPr id="11" name="Text 9"/>
          <p:cNvSpPr/>
          <p:nvPr/>
        </p:nvSpPr>
        <p:spPr>
          <a:xfrm>
            <a:off x="777240" y="3822192"/>
            <a:ext cx="8046720" cy="274320"/>
          </a:xfrm>
          <a:prstGeom prst="rect">
            <a:avLst/>
          </a:prstGeom>
          <a:noFill/>
          <a:ln/>
        </p:spPr>
        <p:txBody>
          <a:bodyPr wrap="square" lIns="0" tIns="0" rIns="0" bIns="0" rtlCol="0" anchor="ctr"/>
          <a:lstStyle/>
          <a:p>
            <a:pPr indent="0" marL="0">
              <a:buNone/>
            </a:pPr>
            <a:r>
              <a:rPr lang="en-US" sz="1100" i="1" dirty="0">
                <a:solidFill>
                  <a:srgbClr val="A07830"/>
                </a:solidFill>
                <a:latin typeface="Calibri" pitchFamily="34" charset="0"/>
                <a:ea typeface="Calibri" pitchFamily="34" charset="-122"/>
                <a:cs typeface="Calibri" pitchFamily="34" charset="-120"/>
              </a:rPr>
              <a:t>UNIT 1: THE GLOBAL TAPESTRY  ·  West Africa · East Africa · Southern Africa · Ethiopia</a:t>
            </a:r>
            <a:endParaRPr lang="en-US" sz="1100" dirty="0"/>
          </a:p>
        </p:txBody>
      </p:sp>
      <p:sp>
        <p:nvSpPr>
          <p:cNvPr id="12" name="Shape 10"/>
          <p:cNvSpPr/>
          <p:nvPr/>
        </p:nvSpPr>
        <p:spPr>
          <a:xfrm>
            <a:off x="777240" y="4187952"/>
            <a:ext cx="1463040" cy="347472"/>
          </a:xfrm>
          <a:prstGeom prst="rect">
            <a:avLst/>
          </a:prstGeom>
          <a:solidFill>
            <a:srgbClr val="2A1800"/>
          </a:solidFill>
          <a:ln w="12700">
            <a:solidFill>
              <a:srgbClr val="D4A017"/>
            </a:solidFill>
            <a:prstDash val="solid"/>
          </a:ln>
        </p:spPr>
      </p:sp>
      <p:sp>
        <p:nvSpPr>
          <p:cNvPr id="13" name="Text 11"/>
          <p:cNvSpPr/>
          <p:nvPr/>
        </p:nvSpPr>
        <p:spPr>
          <a:xfrm>
            <a:off x="777240"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Mali Empire</a:t>
            </a:r>
            <a:endParaRPr lang="en-US" sz="850" dirty="0"/>
          </a:p>
        </p:txBody>
      </p:sp>
      <p:sp>
        <p:nvSpPr>
          <p:cNvPr id="14" name="Shape 12"/>
          <p:cNvSpPr/>
          <p:nvPr/>
        </p:nvSpPr>
        <p:spPr>
          <a:xfrm>
            <a:off x="2359152" y="4187952"/>
            <a:ext cx="1463040" cy="347472"/>
          </a:xfrm>
          <a:prstGeom prst="rect">
            <a:avLst/>
          </a:prstGeom>
          <a:solidFill>
            <a:srgbClr val="2A1800"/>
          </a:solidFill>
          <a:ln w="12700">
            <a:solidFill>
              <a:srgbClr val="D4A017"/>
            </a:solidFill>
            <a:prstDash val="solid"/>
          </a:ln>
        </p:spPr>
      </p:sp>
      <p:sp>
        <p:nvSpPr>
          <p:cNvPr id="15" name="Text 13"/>
          <p:cNvSpPr/>
          <p:nvPr/>
        </p:nvSpPr>
        <p:spPr>
          <a:xfrm>
            <a:off x="2359152"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Mansa Musa</a:t>
            </a:r>
            <a:endParaRPr lang="en-US" sz="850" dirty="0"/>
          </a:p>
        </p:txBody>
      </p:sp>
      <p:sp>
        <p:nvSpPr>
          <p:cNvPr id="16" name="Shape 14"/>
          <p:cNvSpPr/>
          <p:nvPr/>
        </p:nvSpPr>
        <p:spPr>
          <a:xfrm>
            <a:off x="3941064" y="4187952"/>
            <a:ext cx="1463040" cy="347472"/>
          </a:xfrm>
          <a:prstGeom prst="rect">
            <a:avLst/>
          </a:prstGeom>
          <a:solidFill>
            <a:srgbClr val="2A1800"/>
          </a:solidFill>
          <a:ln w="12700">
            <a:solidFill>
              <a:srgbClr val="D4A017"/>
            </a:solidFill>
            <a:prstDash val="solid"/>
          </a:ln>
        </p:spPr>
      </p:sp>
      <p:sp>
        <p:nvSpPr>
          <p:cNvPr id="17" name="Text 15"/>
          <p:cNvSpPr/>
          <p:nvPr/>
        </p:nvSpPr>
        <p:spPr>
          <a:xfrm>
            <a:off x="3941064"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Swahili Coast</a:t>
            </a:r>
            <a:endParaRPr lang="en-US" sz="850" dirty="0"/>
          </a:p>
        </p:txBody>
      </p:sp>
      <p:sp>
        <p:nvSpPr>
          <p:cNvPr id="18" name="Shape 16"/>
          <p:cNvSpPr/>
          <p:nvPr/>
        </p:nvSpPr>
        <p:spPr>
          <a:xfrm>
            <a:off x="5522976" y="4187952"/>
            <a:ext cx="1463040" cy="347472"/>
          </a:xfrm>
          <a:prstGeom prst="rect">
            <a:avLst/>
          </a:prstGeom>
          <a:solidFill>
            <a:srgbClr val="2A1800"/>
          </a:solidFill>
          <a:ln w="12700">
            <a:solidFill>
              <a:srgbClr val="D4A017"/>
            </a:solidFill>
            <a:prstDash val="solid"/>
          </a:ln>
        </p:spPr>
      </p:sp>
      <p:sp>
        <p:nvSpPr>
          <p:cNvPr id="19" name="Text 17"/>
          <p:cNvSpPr/>
          <p:nvPr/>
        </p:nvSpPr>
        <p:spPr>
          <a:xfrm>
            <a:off x="5522976"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Great Zimbabwe</a:t>
            </a:r>
            <a:endParaRPr lang="en-US" sz="850" dirty="0"/>
          </a:p>
        </p:txBody>
      </p:sp>
      <p:sp>
        <p:nvSpPr>
          <p:cNvPr id="20" name="Shape 18"/>
          <p:cNvSpPr/>
          <p:nvPr/>
        </p:nvSpPr>
        <p:spPr>
          <a:xfrm>
            <a:off x="7104888" y="4187952"/>
            <a:ext cx="1463040" cy="347472"/>
          </a:xfrm>
          <a:prstGeom prst="rect">
            <a:avLst/>
          </a:prstGeom>
          <a:solidFill>
            <a:srgbClr val="2A1800"/>
          </a:solidFill>
          <a:ln w="12700">
            <a:solidFill>
              <a:srgbClr val="D4A017"/>
            </a:solidFill>
            <a:prstDash val="solid"/>
          </a:ln>
        </p:spPr>
      </p:sp>
      <p:sp>
        <p:nvSpPr>
          <p:cNvPr id="21" name="Text 19"/>
          <p:cNvSpPr/>
          <p:nvPr/>
        </p:nvSpPr>
        <p:spPr>
          <a:xfrm>
            <a:off x="7104888"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Trans-Saharan Trade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Big Picture &amp; Learning Objectives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Ch.4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Shape 6"/>
          <p:cNvSpPr/>
          <p:nvPr/>
        </p:nvSpPr>
        <p:spPr>
          <a:xfrm>
            <a:off x="182880" y="749808"/>
            <a:ext cx="8778240" cy="1188720"/>
          </a:xfrm>
          <a:prstGeom prst="rect">
            <a:avLst/>
          </a:prstGeom>
          <a:solidFill>
            <a:srgbClr val="7B5A2E"/>
          </a:solidFill>
          <a:ln w="12700">
            <a:solidFill>
              <a:srgbClr val="7B5A2E"/>
            </a:solidFill>
            <a:prstDash val="solid"/>
          </a:ln>
        </p:spPr>
      </p:sp>
      <p:sp>
        <p:nvSpPr>
          <p:cNvPr id="9" name="Text 7"/>
          <p:cNvSpPr/>
          <p:nvPr/>
        </p:nvSpPr>
        <p:spPr>
          <a:xfrm>
            <a:off x="347472" y="795528"/>
            <a:ext cx="1828800" cy="256032"/>
          </a:xfrm>
          <a:prstGeom prst="rect">
            <a:avLst/>
          </a:prstGeom>
          <a:noFill/>
          <a:ln/>
        </p:spPr>
        <p:txBody>
          <a:bodyPr wrap="square" lIns="0" tIns="0" rIns="0" bIns="0" rtlCol="0" anchor="ctr"/>
          <a:lstStyle/>
          <a:p>
            <a:pPr indent="0" marL="0">
              <a:buNone/>
            </a:pPr>
            <a:r>
              <a:rPr lang="en-US" sz="900" b="1" spc="200" kern="0" dirty="0">
                <a:solidFill>
                  <a:srgbClr val="E8C97A"/>
                </a:solidFill>
                <a:latin typeface="Trebuchet MS" pitchFamily="34" charset="0"/>
                <a:ea typeface="Trebuchet MS" pitchFamily="34" charset="-122"/>
                <a:cs typeface="Trebuchet MS" pitchFamily="34" charset="-120"/>
              </a:rPr>
              <a:t>BIG PICTURE</a:t>
            </a:r>
            <a:endParaRPr lang="en-US" sz="900" dirty="0"/>
          </a:p>
        </p:txBody>
      </p:sp>
      <p:sp>
        <p:nvSpPr>
          <p:cNvPr id="10" name="Text 8"/>
          <p:cNvSpPr/>
          <p:nvPr/>
        </p:nvSpPr>
        <p:spPr>
          <a:xfrm>
            <a:off x="347472" y="1051560"/>
            <a:ext cx="8412480" cy="80467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Africa in 1200-1450 was home to some of the world's wealthiest and most sophisticated states -- yet it is the most underrepresented region in AP prep. Mali Empire controlled the world's gold supply; the Swahili Coast was a thriving Islamic commercial center; Great Zimbabwe was an architectural wonder. These states were deeply integrated into global networks -- Africa was NOT isolated.</a:t>
            </a:r>
            <a:endParaRPr lang="en-US" sz="1050" dirty="0"/>
          </a:p>
        </p:txBody>
      </p:sp>
      <p:sp>
        <p:nvSpPr>
          <p:cNvPr id="11" name="Text 9"/>
          <p:cNvSpPr/>
          <p:nvPr/>
        </p:nvSpPr>
        <p:spPr>
          <a:xfrm>
            <a:off x="182880" y="2075688"/>
            <a:ext cx="4389120" cy="274320"/>
          </a:xfrm>
          <a:prstGeom prst="rect">
            <a:avLst/>
          </a:prstGeom>
          <a:noFill/>
          <a:ln/>
        </p:spPr>
        <p:txBody>
          <a:bodyPr wrap="square" lIns="0" tIns="0" rIns="0" bIns="0" rtlCol="0" anchor="ctr"/>
          <a:lstStyle/>
          <a:p>
            <a:pPr indent="0" marL="0">
              <a:buNone/>
            </a:pPr>
            <a:r>
              <a:rPr lang="en-US" sz="1000" b="1" spc="100" kern="0" dirty="0">
                <a:solidFill>
                  <a:srgbClr val="1B3A6B"/>
                </a:solidFill>
                <a:latin typeface="Trebuchet MS" pitchFamily="34" charset="0"/>
                <a:ea typeface="Trebuchet MS" pitchFamily="34" charset="-122"/>
                <a:cs typeface="Trebuchet MS" pitchFamily="34" charset="-120"/>
              </a:rPr>
              <a:t>LEARNING OBJECTIVES</a:t>
            </a:r>
            <a:endParaRPr lang="en-US" sz="1000" dirty="0"/>
          </a:p>
        </p:txBody>
      </p:sp>
      <p:sp>
        <p:nvSpPr>
          <p:cNvPr id="12" name="Text 10"/>
          <p:cNvSpPr/>
          <p:nvPr/>
        </p:nvSpPr>
        <p:spPr>
          <a:xfrm>
            <a:off x="182880" y="2395728"/>
            <a:ext cx="5074920" cy="2304288"/>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Explain the diversity of African states and their connections to global trade networks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Analyze how Islam shaped governance and culture in West and East African states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Explain the role of trans-Saharan and Indian Ocean trade in African state formation</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Evaluate continuity and change in African political structures between 1200 and 1450</a:t>
            </a:r>
            <a:endParaRPr lang="en-US" sz="1050" dirty="0"/>
          </a:p>
        </p:txBody>
      </p:sp>
      <p:sp>
        <p:nvSpPr>
          <p:cNvPr id="13" name="Shape 11"/>
          <p:cNvSpPr/>
          <p:nvPr/>
        </p:nvSpPr>
        <p:spPr>
          <a:xfrm>
            <a:off x="5394960" y="2075688"/>
            <a:ext cx="0" cy="2624328"/>
          </a:xfrm>
          <a:prstGeom prst="line">
            <a:avLst/>
          </a:prstGeom>
          <a:noFill/>
          <a:ln w="12700">
            <a:solidFill>
              <a:srgbClr val="CCCCCC"/>
            </a:solidFill>
            <a:prstDash val="solid"/>
          </a:ln>
        </p:spPr>
      </p:sp>
      <p:sp>
        <p:nvSpPr>
          <p:cNvPr id="14" name="Text 12"/>
          <p:cNvSpPr/>
          <p:nvPr/>
        </p:nvSpPr>
        <p:spPr>
          <a:xfrm>
            <a:off x="5532120" y="2075688"/>
            <a:ext cx="3474720" cy="274320"/>
          </a:xfrm>
          <a:prstGeom prst="rect">
            <a:avLst/>
          </a:prstGeom>
          <a:noFill/>
          <a:ln/>
        </p:spPr>
        <p:txBody>
          <a:bodyPr wrap="square" lIns="0" tIns="0" rIns="0" bIns="0" rtlCol="0" anchor="ctr"/>
          <a:lstStyle/>
          <a:p>
            <a:pPr indent="0" marL="0">
              <a:buNone/>
            </a:pPr>
            <a:r>
              <a:rPr lang="en-US" sz="1000" b="1" spc="100" kern="0" dirty="0">
                <a:solidFill>
                  <a:srgbClr val="1B3A6B"/>
                </a:solidFill>
                <a:latin typeface="Trebuchet MS" pitchFamily="34" charset="0"/>
                <a:ea typeface="Trebuchet MS" pitchFamily="34" charset="-122"/>
                <a:cs typeface="Trebuchet MS" pitchFamily="34" charset="-120"/>
              </a:rPr>
              <a:t>AP KEY CONCEPTS</a:t>
            </a:r>
            <a:endParaRPr lang="en-US" sz="1000" dirty="0"/>
          </a:p>
        </p:txBody>
      </p:sp>
      <p:sp>
        <p:nvSpPr>
          <p:cNvPr id="15" name="Text 13"/>
          <p:cNvSpPr/>
          <p:nvPr/>
        </p:nvSpPr>
        <p:spPr>
          <a:xfrm>
            <a:off x="5532120" y="2395728"/>
            <a:ext cx="3429000" cy="2304288"/>
          </a:xfrm>
          <a:prstGeom prst="rect">
            <a:avLst/>
          </a:prstGeom>
          <a:noFill/>
          <a:ln/>
        </p:spPr>
        <p:txBody>
          <a:bodyPr wrap="square" lIns="0" tIns="0" rIns="0" bIns="0"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KC-1.2.I -- Islam's spread shaped political authority in West and East Africa</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KC-1.3.II -- Trans-Saharan and Indian Ocean trade integrated African states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KC-1.2.II -- African rulers used religion to legitimize political authority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KC-2.3.III -- Trade networks spread goods, diseases, and cultural practices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Four African Regions: Each with Its Own Story</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Ch.4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Africa is not one region -- know each distinct area and its trade network connections</a:t>
            </a:r>
            <a:endParaRPr lang="en-US" sz="1000" dirty="0"/>
          </a:p>
        </p:txBody>
      </p:sp>
      <p:sp>
        <p:nvSpPr>
          <p:cNvPr id="9" name="Shape 7"/>
          <p:cNvSpPr/>
          <p:nvPr/>
        </p:nvSpPr>
        <p:spPr>
          <a:xfrm>
            <a:off x="182880" y="1005840"/>
            <a:ext cx="4297680" cy="1719072"/>
          </a:xfrm>
          <a:prstGeom prst="rect">
            <a:avLst/>
          </a:prstGeom>
          <a:solidFill>
            <a:srgbClr val="FAF0E0"/>
          </a:solidFill>
          <a:ln w="12700">
            <a:solidFill>
              <a:srgbClr val="7B5A2E"/>
            </a:solidFill>
            <a:prstDash val="solid"/>
          </a:ln>
        </p:spPr>
      </p:sp>
      <p:sp>
        <p:nvSpPr>
          <p:cNvPr id="10" name="Shape 8"/>
          <p:cNvSpPr/>
          <p:nvPr/>
        </p:nvSpPr>
        <p:spPr>
          <a:xfrm>
            <a:off x="182880" y="1005840"/>
            <a:ext cx="4297680" cy="320040"/>
          </a:xfrm>
          <a:prstGeom prst="rect">
            <a:avLst/>
          </a:prstGeom>
          <a:solidFill>
            <a:srgbClr val="7B5A2E"/>
          </a:solidFill>
          <a:ln w="12700">
            <a:solidFill>
              <a:srgbClr val="7B5A2E"/>
            </a:solidFill>
            <a:prstDash val="solid"/>
          </a:ln>
        </p:spPr>
      </p:sp>
      <p:sp>
        <p:nvSpPr>
          <p:cNvPr id="11" name="Text 9"/>
          <p:cNvSpPr/>
          <p:nvPr/>
        </p:nvSpPr>
        <p:spPr>
          <a:xfrm>
            <a:off x="274320" y="1005840"/>
            <a:ext cx="4160520" cy="320040"/>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WEST AFRICA</a:t>
            </a:r>
            <a:endParaRPr lang="en-US" sz="1000" dirty="0"/>
          </a:p>
        </p:txBody>
      </p:sp>
      <p:sp>
        <p:nvSpPr>
          <p:cNvPr id="12" name="Text 10"/>
          <p:cNvSpPr/>
          <p:nvPr/>
        </p:nvSpPr>
        <p:spPr>
          <a:xfrm>
            <a:off x="292608" y="1389888"/>
            <a:ext cx="4078224" cy="1261872"/>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Mali Empire: world's wealthiest state at its height</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Controls gold-salt trans-Saharan trade routes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Timbuktu: center of Islamic scholarship</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Mansa Musa's hajj (1324): puts Africa on European maps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Griots preserve oral history instead of written records</a:t>
            </a:r>
            <a:endParaRPr lang="en-US" sz="950" dirty="0"/>
          </a:p>
        </p:txBody>
      </p:sp>
      <p:sp>
        <p:nvSpPr>
          <p:cNvPr id="13" name="Shape 11"/>
          <p:cNvSpPr/>
          <p:nvPr/>
        </p:nvSpPr>
        <p:spPr>
          <a:xfrm>
            <a:off x="182880" y="2852928"/>
            <a:ext cx="4297680" cy="1719072"/>
          </a:xfrm>
          <a:prstGeom prst="rect">
            <a:avLst/>
          </a:prstGeom>
          <a:solidFill>
            <a:srgbClr val="E3F0FF"/>
          </a:solidFill>
          <a:ln w="12700">
            <a:solidFill>
              <a:srgbClr val="2A5298"/>
            </a:solidFill>
            <a:prstDash val="solid"/>
          </a:ln>
        </p:spPr>
      </p:sp>
      <p:sp>
        <p:nvSpPr>
          <p:cNvPr id="14" name="Shape 12"/>
          <p:cNvSpPr/>
          <p:nvPr/>
        </p:nvSpPr>
        <p:spPr>
          <a:xfrm>
            <a:off x="182880" y="2852928"/>
            <a:ext cx="4297680" cy="320040"/>
          </a:xfrm>
          <a:prstGeom prst="rect">
            <a:avLst/>
          </a:prstGeom>
          <a:solidFill>
            <a:srgbClr val="2A5298"/>
          </a:solidFill>
          <a:ln w="12700">
            <a:solidFill>
              <a:srgbClr val="2A5298"/>
            </a:solidFill>
            <a:prstDash val="solid"/>
          </a:ln>
        </p:spPr>
      </p:sp>
      <p:sp>
        <p:nvSpPr>
          <p:cNvPr id="15" name="Text 13"/>
          <p:cNvSpPr/>
          <p:nvPr/>
        </p:nvSpPr>
        <p:spPr>
          <a:xfrm>
            <a:off x="274320" y="2852928"/>
            <a:ext cx="4160520" cy="320040"/>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EAST AFRICA</a:t>
            </a:r>
            <a:endParaRPr lang="en-US" sz="1000" dirty="0"/>
          </a:p>
        </p:txBody>
      </p:sp>
      <p:sp>
        <p:nvSpPr>
          <p:cNvPr id="16" name="Text 14"/>
          <p:cNvSpPr/>
          <p:nvPr/>
        </p:nvSpPr>
        <p:spPr>
          <a:xfrm>
            <a:off x="292608" y="3236976"/>
            <a:ext cx="4078224" cy="1261872"/>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Swahili Coast: Afro-Islamic commercial city-states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Kilwa: premier entrepot; controls Zimbabwe gold trade</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Fully integrated into Indian Ocean trade network</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Mixed Bantu-Arab-Persian-Indian Swahili culture</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Ibn Battuta called Kilwa 'one of the most beautiful cities'</a:t>
            </a:r>
            <a:endParaRPr lang="en-US" sz="950" dirty="0"/>
          </a:p>
        </p:txBody>
      </p:sp>
      <p:sp>
        <p:nvSpPr>
          <p:cNvPr id="17" name="Shape 15"/>
          <p:cNvSpPr/>
          <p:nvPr/>
        </p:nvSpPr>
        <p:spPr>
          <a:xfrm>
            <a:off x="4663440" y="1005840"/>
            <a:ext cx="4297680" cy="1719072"/>
          </a:xfrm>
          <a:prstGeom prst="rect">
            <a:avLst/>
          </a:prstGeom>
          <a:solidFill>
            <a:srgbClr val="E8F5EE"/>
          </a:solidFill>
          <a:ln w="12700">
            <a:solidFill>
              <a:srgbClr val="1B5E3B"/>
            </a:solidFill>
            <a:prstDash val="solid"/>
          </a:ln>
        </p:spPr>
      </p:sp>
      <p:sp>
        <p:nvSpPr>
          <p:cNvPr id="18" name="Shape 16"/>
          <p:cNvSpPr/>
          <p:nvPr/>
        </p:nvSpPr>
        <p:spPr>
          <a:xfrm>
            <a:off x="4663440" y="1005840"/>
            <a:ext cx="4297680" cy="320040"/>
          </a:xfrm>
          <a:prstGeom prst="rect">
            <a:avLst/>
          </a:prstGeom>
          <a:solidFill>
            <a:srgbClr val="1B5E3B"/>
          </a:solidFill>
          <a:ln w="12700">
            <a:solidFill>
              <a:srgbClr val="1B5E3B"/>
            </a:solidFill>
            <a:prstDash val="solid"/>
          </a:ln>
        </p:spPr>
      </p:sp>
      <p:sp>
        <p:nvSpPr>
          <p:cNvPr id="19" name="Text 17"/>
          <p:cNvSpPr/>
          <p:nvPr/>
        </p:nvSpPr>
        <p:spPr>
          <a:xfrm>
            <a:off x="4754880" y="1005840"/>
            <a:ext cx="4160520" cy="320040"/>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SOUTHERN AFRICA</a:t>
            </a:r>
            <a:endParaRPr lang="en-US" sz="1000" dirty="0"/>
          </a:p>
        </p:txBody>
      </p:sp>
      <p:sp>
        <p:nvSpPr>
          <p:cNvPr id="20" name="Text 18"/>
          <p:cNvSpPr/>
          <p:nvPr/>
        </p:nvSpPr>
        <p:spPr>
          <a:xfrm>
            <a:off x="4773168" y="1389888"/>
            <a:ext cx="4078224" cy="1261872"/>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Great Zimbabwe: massive stone-walled royal enclosure</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Controls gold production on the Zimbabwe Plateau</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Exports gold to Swahili Coast merchants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Built without mortar -- extraordinary construction</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Shows African state-building WITHOUT external influence</a:t>
            </a:r>
            <a:endParaRPr lang="en-US" sz="950" dirty="0"/>
          </a:p>
        </p:txBody>
      </p:sp>
      <p:sp>
        <p:nvSpPr>
          <p:cNvPr id="21" name="Shape 19"/>
          <p:cNvSpPr/>
          <p:nvPr/>
        </p:nvSpPr>
        <p:spPr>
          <a:xfrm>
            <a:off x="4663440" y="2852928"/>
            <a:ext cx="4297680" cy="1719072"/>
          </a:xfrm>
          <a:prstGeom prst="rect">
            <a:avLst/>
          </a:prstGeom>
          <a:solidFill>
            <a:srgbClr val="FAE8E4"/>
          </a:solidFill>
          <a:ln w="12700">
            <a:solidFill>
              <a:srgbClr val="B5432A"/>
            </a:solidFill>
            <a:prstDash val="solid"/>
          </a:ln>
        </p:spPr>
      </p:sp>
      <p:sp>
        <p:nvSpPr>
          <p:cNvPr id="22" name="Shape 20"/>
          <p:cNvSpPr/>
          <p:nvPr/>
        </p:nvSpPr>
        <p:spPr>
          <a:xfrm>
            <a:off x="4663440" y="2852928"/>
            <a:ext cx="4297680" cy="320040"/>
          </a:xfrm>
          <a:prstGeom prst="rect">
            <a:avLst/>
          </a:prstGeom>
          <a:solidFill>
            <a:srgbClr val="B5432A"/>
          </a:solidFill>
          <a:ln w="12700">
            <a:solidFill>
              <a:srgbClr val="B5432A"/>
            </a:solidFill>
            <a:prstDash val="solid"/>
          </a:ln>
        </p:spPr>
      </p:sp>
      <p:sp>
        <p:nvSpPr>
          <p:cNvPr id="23" name="Text 21"/>
          <p:cNvSpPr/>
          <p:nvPr/>
        </p:nvSpPr>
        <p:spPr>
          <a:xfrm>
            <a:off x="4754880" y="2852928"/>
            <a:ext cx="4160520" cy="320040"/>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ETHIOPIA</a:t>
            </a:r>
            <a:endParaRPr lang="en-US" sz="1000" dirty="0"/>
          </a:p>
        </p:txBody>
      </p:sp>
      <p:sp>
        <p:nvSpPr>
          <p:cNvPr id="24" name="Text 22"/>
          <p:cNvSpPr/>
          <p:nvPr/>
        </p:nvSpPr>
        <p:spPr>
          <a:xfrm>
            <a:off x="4773168" y="3236976"/>
            <a:ext cx="4078224" cy="1261872"/>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Ancient Christian kingdom; claims Solomonic descent</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Zagwe Dynasty: rock-hewn churches of Lalibela</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Maintained Christian identity surrounded by Islamic states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One of the world's oldest continuous Christian traditions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Resisted Islamic expansion -- shows African resilience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Key Terms: West Africa &amp; Trans-Saharan Trade</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Ch.4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West Africa is the most-tested African region -- know these terms and their global connections</a:t>
            </a:r>
            <a:endParaRPr lang="en-US" sz="1000" dirty="0"/>
          </a:p>
        </p:txBody>
      </p:sp>
      <p:sp>
        <p:nvSpPr>
          <p:cNvPr id="9" name="Shape 7"/>
          <p:cNvSpPr/>
          <p:nvPr/>
        </p:nvSpPr>
        <p:spPr>
          <a:xfrm>
            <a:off x="182880"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0" name="Shape 8"/>
          <p:cNvSpPr/>
          <p:nvPr/>
        </p:nvSpPr>
        <p:spPr>
          <a:xfrm>
            <a:off x="182880" y="1005840"/>
            <a:ext cx="64008" cy="1554480"/>
          </a:xfrm>
          <a:prstGeom prst="rect">
            <a:avLst/>
          </a:prstGeom>
          <a:solidFill>
            <a:srgbClr val="7B5A2E"/>
          </a:solidFill>
          <a:ln w="12700">
            <a:solidFill>
              <a:srgbClr val="7B5A2E"/>
            </a:solidFill>
            <a:prstDash val="solid"/>
          </a:ln>
        </p:spPr>
      </p:sp>
      <p:sp>
        <p:nvSpPr>
          <p:cNvPr id="11" name="Text 9"/>
          <p:cNvSpPr/>
          <p:nvPr/>
        </p:nvSpPr>
        <p:spPr>
          <a:xfrm>
            <a:off x="301752"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Mali Empire</a:t>
            </a:r>
            <a:endParaRPr lang="en-US" sz="1100" dirty="0"/>
          </a:p>
        </p:txBody>
      </p:sp>
      <p:sp>
        <p:nvSpPr>
          <p:cNvPr id="12" name="Text 10"/>
          <p:cNvSpPr/>
          <p:nvPr/>
        </p:nvSpPr>
        <p:spPr>
          <a:xfrm>
            <a:off x="301752"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Powerful West African empire (c.1235-1600) that controlled gold-salt trans-Saharan trade; successor to the Ghana Empire.</a:t>
            </a:r>
            <a:endParaRPr lang="en-US" sz="950" dirty="0"/>
          </a:p>
        </p:txBody>
      </p:sp>
      <p:sp>
        <p:nvSpPr>
          <p:cNvPr id="13" name="Shape 11"/>
          <p:cNvSpPr/>
          <p:nvPr/>
        </p:nvSpPr>
        <p:spPr>
          <a:xfrm>
            <a:off x="182880" y="2194560"/>
            <a:ext cx="2834640" cy="365760"/>
          </a:xfrm>
          <a:prstGeom prst="rect">
            <a:avLst/>
          </a:prstGeom>
          <a:solidFill>
            <a:srgbClr val="F0F4FF"/>
          </a:solidFill>
          <a:ln w="12700">
            <a:solidFill>
              <a:srgbClr val="F0F4FF"/>
            </a:solidFill>
            <a:prstDash val="solid"/>
          </a:ln>
        </p:spPr>
      </p:sp>
      <p:sp>
        <p:nvSpPr>
          <p:cNvPr id="14" name="Text 12"/>
          <p:cNvSpPr/>
          <p:nvPr/>
        </p:nvSpPr>
        <p:spPr>
          <a:xfrm>
            <a:off x="301752"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One of the wealthiest states in the world at its height. Know: Sundiata (founder), Mansa Musa (most famous ruler), Timbuktu (scholarship).</a:t>
            </a:r>
            <a:endParaRPr lang="en-US" sz="850" dirty="0"/>
          </a:p>
        </p:txBody>
      </p:sp>
      <p:sp>
        <p:nvSpPr>
          <p:cNvPr id="15" name="Shape 13"/>
          <p:cNvSpPr/>
          <p:nvPr/>
        </p:nvSpPr>
        <p:spPr>
          <a:xfrm>
            <a:off x="3136392"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6" name="Shape 14"/>
          <p:cNvSpPr/>
          <p:nvPr/>
        </p:nvSpPr>
        <p:spPr>
          <a:xfrm>
            <a:off x="3136392" y="1005840"/>
            <a:ext cx="64008" cy="1554480"/>
          </a:xfrm>
          <a:prstGeom prst="rect">
            <a:avLst/>
          </a:prstGeom>
          <a:solidFill>
            <a:srgbClr val="7B5A2E"/>
          </a:solidFill>
          <a:ln w="12700">
            <a:solidFill>
              <a:srgbClr val="7B5A2E"/>
            </a:solidFill>
            <a:prstDash val="solid"/>
          </a:ln>
        </p:spPr>
      </p:sp>
      <p:sp>
        <p:nvSpPr>
          <p:cNvPr id="17" name="Text 15"/>
          <p:cNvSpPr/>
          <p:nvPr/>
        </p:nvSpPr>
        <p:spPr>
          <a:xfrm>
            <a:off x="3255264"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Mansa Musa</a:t>
            </a:r>
            <a:endParaRPr lang="en-US" sz="1100" dirty="0"/>
          </a:p>
        </p:txBody>
      </p:sp>
      <p:sp>
        <p:nvSpPr>
          <p:cNvPr id="18" name="Text 16"/>
          <p:cNvSpPr/>
          <p:nvPr/>
        </p:nvSpPr>
        <p:spPr>
          <a:xfrm>
            <a:off x="3255264"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Emperor of Mali (r.1312-1337) whose 1324-25 hajj to Mecca is legendary -- his gold gifts depressed Egyptian gold prices for a decade.</a:t>
            </a:r>
            <a:endParaRPr lang="en-US" sz="950" dirty="0"/>
          </a:p>
        </p:txBody>
      </p:sp>
      <p:sp>
        <p:nvSpPr>
          <p:cNvPr id="19" name="Shape 17"/>
          <p:cNvSpPr/>
          <p:nvPr/>
        </p:nvSpPr>
        <p:spPr>
          <a:xfrm>
            <a:off x="3136392" y="2194560"/>
            <a:ext cx="2834640" cy="365760"/>
          </a:xfrm>
          <a:prstGeom prst="rect">
            <a:avLst/>
          </a:prstGeom>
          <a:solidFill>
            <a:srgbClr val="F0F4FF"/>
          </a:solidFill>
          <a:ln w="12700">
            <a:solidFill>
              <a:srgbClr val="F0F4FF"/>
            </a:solidFill>
            <a:prstDash val="solid"/>
          </a:ln>
        </p:spPr>
      </p:sp>
      <p:sp>
        <p:nvSpPr>
          <p:cNvPr id="20" name="Text 18"/>
          <p:cNvSpPr/>
          <p:nvPr/>
        </p:nvSpPr>
        <p:spPr>
          <a:xfrm>
            <a:off x="3255264"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Top AP figure: his hajj = Islamic connectivity + West African wealth + individual historical impact. Put Mali on European maps.</a:t>
            </a:r>
            <a:endParaRPr lang="en-US" sz="850" dirty="0"/>
          </a:p>
        </p:txBody>
      </p:sp>
      <p:sp>
        <p:nvSpPr>
          <p:cNvPr id="21" name="Shape 19"/>
          <p:cNvSpPr/>
          <p:nvPr/>
        </p:nvSpPr>
        <p:spPr>
          <a:xfrm>
            <a:off x="6089904"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2" name="Shape 20"/>
          <p:cNvSpPr/>
          <p:nvPr/>
        </p:nvSpPr>
        <p:spPr>
          <a:xfrm>
            <a:off x="6089904" y="1005840"/>
            <a:ext cx="64008" cy="1554480"/>
          </a:xfrm>
          <a:prstGeom prst="rect">
            <a:avLst/>
          </a:prstGeom>
          <a:solidFill>
            <a:srgbClr val="7B5A2E"/>
          </a:solidFill>
          <a:ln w="12700">
            <a:solidFill>
              <a:srgbClr val="7B5A2E"/>
            </a:solidFill>
            <a:prstDash val="solid"/>
          </a:ln>
        </p:spPr>
      </p:sp>
      <p:sp>
        <p:nvSpPr>
          <p:cNvPr id="23" name="Text 21"/>
          <p:cNvSpPr/>
          <p:nvPr/>
        </p:nvSpPr>
        <p:spPr>
          <a:xfrm>
            <a:off x="6208776"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Timbuktu</a:t>
            </a:r>
            <a:endParaRPr lang="en-US" sz="1100" dirty="0"/>
          </a:p>
        </p:txBody>
      </p:sp>
      <p:sp>
        <p:nvSpPr>
          <p:cNvPr id="24" name="Text 22"/>
          <p:cNvSpPr/>
          <p:nvPr/>
        </p:nvSpPr>
        <p:spPr>
          <a:xfrm>
            <a:off x="6208776"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Major commercial and intellectual city at the intersection of trans-Saharan routes and the Niger River; home to the Sankore mosque and university.</a:t>
            </a:r>
            <a:endParaRPr lang="en-US" sz="950" dirty="0"/>
          </a:p>
        </p:txBody>
      </p:sp>
      <p:sp>
        <p:nvSpPr>
          <p:cNvPr id="25" name="Shape 23"/>
          <p:cNvSpPr/>
          <p:nvPr/>
        </p:nvSpPr>
        <p:spPr>
          <a:xfrm>
            <a:off x="6089904" y="2194560"/>
            <a:ext cx="2834640" cy="365760"/>
          </a:xfrm>
          <a:prstGeom prst="rect">
            <a:avLst/>
          </a:prstGeom>
          <a:solidFill>
            <a:srgbClr val="F0F4FF"/>
          </a:solidFill>
          <a:ln w="12700">
            <a:solidFill>
              <a:srgbClr val="F0F4FF"/>
            </a:solidFill>
            <a:prstDash val="solid"/>
          </a:ln>
        </p:spPr>
      </p:sp>
      <p:sp>
        <p:nvSpPr>
          <p:cNvPr id="26" name="Text 24"/>
          <p:cNvSpPr/>
          <p:nvPr/>
        </p:nvSpPr>
        <p:spPr>
          <a:xfrm>
            <a:off x="6208776"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Destroys the myth that Africa had no intellectual culture -- Timbuktu produced world-class Islamic scholarship.</a:t>
            </a:r>
            <a:endParaRPr lang="en-US" sz="850" dirty="0"/>
          </a:p>
        </p:txBody>
      </p:sp>
      <p:sp>
        <p:nvSpPr>
          <p:cNvPr id="27" name="Shape 25"/>
          <p:cNvSpPr/>
          <p:nvPr/>
        </p:nvSpPr>
        <p:spPr>
          <a:xfrm>
            <a:off x="182880"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8" name="Shape 26"/>
          <p:cNvSpPr/>
          <p:nvPr/>
        </p:nvSpPr>
        <p:spPr>
          <a:xfrm>
            <a:off x="182880" y="2679192"/>
            <a:ext cx="64008" cy="1554480"/>
          </a:xfrm>
          <a:prstGeom prst="rect">
            <a:avLst/>
          </a:prstGeom>
          <a:solidFill>
            <a:srgbClr val="7B5A2E"/>
          </a:solidFill>
          <a:ln w="12700">
            <a:solidFill>
              <a:srgbClr val="7B5A2E"/>
            </a:solidFill>
            <a:prstDash val="solid"/>
          </a:ln>
        </p:spPr>
      </p:sp>
      <p:sp>
        <p:nvSpPr>
          <p:cNvPr id="29" name="Text 27"/>
          <p:cNvSpPr/>
          <p:nvPr/>
        </p:nvSpPr>
        <p:spPr>
          <a:xfrm>
            <a:off x="301752"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Trans-Saharan Trade</a:t>
            </a:r>
            <a:endParaRPr lang="en-US" sz="1100" dirty="0"/>
          </a:p>
        </p:txBody>
      </p:sp>
      <p:sp>
        <p:nvSpPr>
          <p:cNvPr id="30" name="Text 28"/>
          <p:cNvSpPr/>
          <p:nvPr/>
        </p:nvSpPr>
        <p:spPr>
          <a:xfrm>
            <a:off x="301752"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Long-distance commerce across the Sahara: West African gold and salt exchanged for North African manufactured goods and horses.</a:t>
            </a:r>
            <a:endParaRPr lang="en-US" sz="950" dirty="0"/>
          </a:p>
        </p:txBody>
      </p:sp>
      <p:sp>
        <p:nvSpPr>
          <p:cNvPr id="31" name="Shape 29"/>
          <p:cNvSpPr/>
          <p:nvPr/>
        </p:nvSpPr>
        <p:spPr>
          <a:xfrm>
            <a:off x="182880" y="3867912"/>
            <a:ext cx="2834640" cy="365760"/>
          </a:xfrm>
          <a:prstGeom prst="rect">
            <a:avLst/>
          </a:prstGeom>
          <a:solidFill>
            <a:srgbClr val="F0F4FF"/>
          </a:solidFill>
          <a:ln w="12700">
            <a:solidFill>
              <a:srgbClr val="F0F4FF"/>
            </a:solidFill>
            <a:prstDash val="solid"/>
          </a:ln>
        </p:spPr>
      </p:sp>
      <p:sp>
        <p:nvSpPr>
          <p:cNvPr id="32" name="Text 30"/>
          <p:cNvSpPr/>
          <p:nvPr/>
        </p:nvSpPr>
        <p:spPr>
          <a:xfrm>
            <a:off x="301752"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Economic foundation of West African empires. Islam traveled with merchants along these routes -- trade AND religion linked.</a:t>
            </a:r>
            <a:endParaRPr lang="en-US" sz="850" dirty="0"/>
          </a:p>
        </p:txBody>
      </p:sp>
      <p:sp>
        <p:nvSpPr>
          <p:cNvPr id="33" name="Shape 31"/>
          <p:cNvSpPr/>
          <p:nvPr/>
        </p:nvSpPr>
        <p:spPr>
          <a:xfrm>
            <a:off x="3136392"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34" name="Shape 32"/>
          <p:cNvSpPr/>
          <p:nvPr/>
        </p:nvSpPr>
        <p:spPr>
          <a:xfrm>
            <a:off x="3136392" y="2679192"/>
            <a:ext cx="64008" cy="1554480"/>
          </a:xfrm>
          <a:prstGeom prst="rect">
            <a:avLst/>
          </a:prstGeom>
          <a:solidFill>
            <a:srgbClr val="7B5A2E"/>
          </a:solidFill>
          <a:ln w="12700">
            <a:solidFill>
              <a:srgbClr val="7B5A2E"/>
            </a:solidFill>
            <a:prstDash val="solid"/>
          </a:ln>
        </p:spPr>
      </p:sp>
      <p:sp>
        <p:nvSpPr>
          <p:cNvPr id="35" name="Text 33"/>
          <p:cNvSpPr/>
          <p:nvPr/>
        </p:nvSpPr>
        <p:spPr>
          <a:xfrm>
            <a:off x="3255264"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Griots</a:t>
            </a:r>
            <a:endParaRPr lang="en-US" sz="1100" dirty="0"/>
          </a:p>
        </p:txBody>
      </p:sp>
      <p:sp>
        <p:nvSpPr>
          <p:cNvPr id="36" name="Text 34"/>
          <p:cNvSpPr/>
          <p:nvPr/>
        </p:nvSpPr>
        <p:spPr>
          <a:xfrm>
            <a:off x="3255264"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West African oral historians and musicians who preserved cultural memory through performance rather than written texts.</a:t>
            </a:r>
            <a:endParaRPr lang="en-US" sz="950" dirty="0"/>
          </a:p>
        </p:txBody>
      </p:sp>
      <p:sp>
        <p:nvSpPr>
          <p:cNvPr id="37" name="Shape 35"/>
          <p:cNvSpPr/>
          <p:nvPr/>
        </p:nvSpPr>
        <p:spPr>
          <a:xfrm>
            <a:off x="3136392" y="3867912"/>
            <a:ext cx="2834640" cy="365760"/>
          </a:xfrm>
          <a:prstGeom prst="rect">
            <a:avLst/>
          </a:prstGeom>
          <a:solidFill>
            <a:srgbClr val="F0F4FF"/>
          </a:solidFill>
          <a:ln w="12700">
            <a:solidFill>
              <a:srgbClr val="F0F4FF"/>
            </a:solidFill>
            <a:prstDash val="solid"/>
          </a:ln>
        </p:spPr>
      </p:sp>
      <p:sp>
        <p:nvSpPr>
          <p:cNvPr id="38" name="Text 36"/>
          <p:cNvSpPr/>
          <p:nvPr/>
        </p:nvSpPr>
        <p:spPr>
          <a:xfrm>
            <a:off x="3255264"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Shows that complex historical traditions can exist without writing. The Epic of Sundiata is a primary source for Mali's history.</a:t>
            </a:r>
            <a:endParaRPr lang="en-US" sz="850" dirty="0"/>
          </a:p>
        </p:txBody>
      </p:sp>
      <p:sp>
        <p:nvSpPr>
          <p:cNvPr id="39" name="Shape 37"/>
          <p:cNvSpPr/>
          <p:nvPr/>
        </p:nvSpPr>
        <p:spPr>
          <a:xfrm>
            <a:off x="6089904"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40" name="Shape 38"/>
          <p:cNvSpPr/>
          <p:nvPr/>
        </p:nvSpPr>
        <p:spPr>
          <a:xfrm>
            <a:off x="6089904" y="2679192"/>
            <a:ext cx="64008" cy="1554480"/>
          </a:xfrm>
          <a:prstGeom prst="rect">
            <a:avLst/>
          </a:prstGeom>
          <a:solidFill>
            <a:srgbClr val="7B5A2E"/>
          </a:solidFill>
          <a:ln w="12700">
            <a:solidFill>
              <a:srgbClr val="7B5A2E"/>
            </a:solidFill>
            <a:prstDash val="solid"/>
          </a:ln>
        </p:spPr>
      </p:sp>
      <p:sp>
        <p:nvSpPr>
          <p:cNvPr id="41" name="Text 39"/>
          <p:cNvSpPr/>
          <p:nvPr/>
        </p:nvSpPr>
        <p:spPr>
          <a:xfrm>
            <a:off x="6208776"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Gold-Salt Trade</a:t>
            </a:r>
            <a:endParaRPr lang="en-US" sz="1100" dirty="0"/>
          </a:p>
        </p:txBody>
      </p:sp>
      <p:sp>
        <p:nvSpPr>
          <p:cNvPr id="42" name="Text 40"/>
          <p:cNvSpPr/>
          <p:nvPr/>
        </p:nvSpPr>
        <p:spPr>
          <a:xfrm>
            <a:off x="6208776"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West Africa had abundant gold but scarce salt; the Sahara had vast salt deposits; this structural imbalance drove trans-Saharan commerce.</a:t>
            </a:r>
            <a:endParaRPr lang="en-US" sz="950" dirty="0"/>
          </a:p>
        </p:txBody>
      </p:sp>
      <p:sp>
        <p:nvSpPr>
          <p:cNvPr id="43" name="Shape 41"/>
          <p:cNvSpPr/>
          <p:nvPr/>
        </p:nvSpPr>
        <p:spPr>
          <a:xfrm>
            <a:off x="6089904" y="3867912"/>
            <a:ext cx="2834640" cy="365760"/>
          </a:xfrm>
          <a:prstGeom prst="rect">
            <a:avLst/>
          </a:prstGeom>
          <a:solidFill>
            <a:srgbClr val="F0F4FF"/>
          </a:solidFill>
          <a:ln w="12700">
            <a:solidFill>
              <a:srgbClr val="F0F4FF"/>
            </a:solidFill>
            <a:prstDash val="solid"/>
          </a:ln>
        </p:spPr>
      </p:sp>
      <p:sp>
        <p:nvSpPr>
          <p:cNvPr id="44" name="Text 42"/>
          <p:cNvSpPr/>
          <p:nvPr/>
        </p:nvSpPr>
        <p:spPr>
          <a:xfrm>
            <a:off x="6208776"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Explains WHY Mali was wealthy -- geographic luck plus political control of the trade routes. Compare with spice trade logic.</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Key Terms: East Africa, Southern Africa &amp; Ethiopia</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Ch.4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These regions are tested via primary source documents -- know their distinctive features</a:t>
            </a:r>
            <a:endParaRPr lang="en-US" sz="1000" dirty="0"/>
          </a:p>
        </p:txBody>
      </p:sp>
      <p:sp>
        <p:nvSpPr>
          <p:cNvPr id="9" name="Shape 7"/>
          <p:cNvSpPr/>
          <p:nvPr/>
        </p:nvSpPr>
        <p:spPr>
          <a:xfrm>
            <a:off x="182880"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0" name="Shape 8"/>
          <p:cNvSpPr/>
          <p:nvPr/>
        </p:nvSpPr>
        <p:spPr>
          <a:xfrm>
            <a:off x="182880" y="1005840"/>
            <a:ext cx="64008" cy="1554480"/>
          </a:xfrm>
          <a:prstGeom prst="rect">
            <a:avLst/>
          </a:prstGeom>
          <a:solidFill>
            <a:srgbClr val="2A5298"/>
          </a:solidFill>
          <a:ln w="12700">
            <a:solidFill>
              <a:srgbClr val="2A5298"/>
            </a:solidFill>
            <a:prstDash val="solid"/>
          </a:ln>
        </p:spPr>
      </p:sp>
      <p:sp>
        <p:nvSpPr>
          <p:cNvPr id="11" name="Text 9"/>
          <p:cNvSpPr/>
          <p:nvPr/>
        </p:nvSpPr>
        <p:spPr>
          <a:xfrm>
            <a:off x="301752"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Swahili Coast</a:t>
            </a:r>
            <a:endParaRPr lang="en-US" sz="1100" dirty="0"/>
          </a:p>
        </p:txBody>
      </p:sp>
      <p:sp>
        <p:nvSpPr>
          <p:cNvPr id="12" name="Text 10"/>
          <p:cNvSpPr/>
          <p:nvPr/>
        </p:nvSpPr>
        <p:spPr>
          <a:xfrm>
            <a:off x="301752"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East African coast where Bantu-speaking Africans mixed with Arab, Persian, and Indian merchants, creating Afro-Islamic Swahili culture.</a:t>
            </a:r>
            <a:endParaRPr lang="en-US" sz="950" dirty="0"/>
          </a:p>
        </p:txBody>
      </p:sp>
      <p:sp>
        <p:nvSpPr>
          <p:cNvPr id="13" name="Shape 11"/>
          <p:cNvSpPr/>
          <p:nvPr/>
        </p:nvSpPr>
        <p:spPr>
          <a:xfrm>
            <a:off x="182880" y="2194560"/>
            <a:ext cx="2834640" cy="365760"/>
          </a:xfrm>
          <a:prstGeom prst="rect">
            <a:avLst/>
          </a:prstGeom>
          <a:solidFill>
            <a:srgbClr val="F0F4FF"/>
          </a:solidFill>
          <a:ln w="12700">
            <a:solidFill>
              <a:srgbClr val="F0F4FF"/>
            </a:solidFill>
            <a:prstDash val="solid"/>
          </a:ln>
        </p:spPr>
      </p:sp>
      <p:sp>
        <p:nvSpPr>
          <p:cNvPr id="14" name="Text 12"/>
          <p:cNvSpPr/>
          <p:nvPr/>
        </p:nvSpPr>
        <p:spPr>
          <a:xfrm>
            <a:off x="301752"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Exports: gold, ivory, enslaved people. Imports: Indian textiles, Chinese porcelain. Fully integrated into Indian Ocean trade.</a:t>
            </a:r>
            <a:endParaRPr lang="en-US" sz="850" dirty="0"/>
          </a:p>
        </p:txBody>
      </p:sp>
      <p:sp>
        <p:nvSpPr>
          <p:cNvPr id="15" name="Shape 13"/>
          <p:cNvSpPr/>
          <p:nvPr/>
        </p:nvSpPr>
        <p:spPr>
          <a:xfrm>
            <a:off x="3136392"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6" name="Shape 14"/>
          <p:cNvSpPr/>
          <p:nvPr/>
        </p:nvSpPr>
        <p:spPr>
          <a:xfrm>
            <a:off x="3136392" y="1005840"/>
            <a:ext cx="64008" cy="1554480"/>
          </a:xfrm>
          <a:prstGeom prst="rect">
            <a:avLst/>
          </a:prstGeom>
          <a:solidFill>
            <a:srgbClr val="2A5298"/>
          </a:solidFill>
          <a:ln w="12700">
            <a:solidFill>
              <a:srgbClr val="2A5298"/>
            </a:solidFill>
            <a:prstDash val="solid"/>
          </a:ln>
        </p:spPr>
      </p:sp>
      <p:sp>
        <p:nvSpPr>
          <p:cNvPr id="17" name="Text 15"/>
          <p:cNvSpPr/>
          <p:nvPr/>
        </p:nvSpPr>
        <p:spPr>
          <a:xfrm>
            <a:off x="3255264"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Kilwa</a:t>
            </a:r>
            <a:endParaRPr lang="en-US" sz="1100" dirty="0"/>
          </a:p>
        </p:txBody>
      </p:sp>
      <p:sp>
        <p:nvSpPr>
          <p:cNvPr id="18" name="Text 16"/>
          <p:cNvSpPr/>
          <p:nvPr/>
        </p:nvSpPr>
        <p:spPr>
          <a:xfrm>
            <a:off x="3255264"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Most powerful Swahili city-state (Tanzania); controlled the gold trade from the Zimbabwe Plateau to Indian Ocean merchants.</a:t>
            </a:r>
            <a:endParaRPr lang="en-US" sz="950" dirty="0"/>
          </a:p>
        </p:txBody>
      </p:sp>
      <p:sp>
        <p:nvSpPr>
          <p:cNvPr id="19" name="Shape 17"/>
          <p:cNvSpPr/>
          <p:nvPr/>
        </p:nvSpPr>
        <p:spPr>
          <a:xfrm>
            <a:off x="3136392" y="2194560"/>
            <a:ext cx="2834640" cy="365760"/>
          </a:xfrm>
          <a:prstGeom prst="rect">
            <a:avLst/>
          </a:prstGeom>
          <a:solidFill>
            <a:srgbClr val="F0F4FF"/>
          </a:solidFill>
          <a:ln w="12700">
            <a:solidFill>
              <a:srgbClr val="F0F4FF"/>
            </a:solidFill>
            <a:prstDash val="solid"/>
          </a:ln>
        </p:spPr>
      </p:sp>
      <p:sp>
        <p:nvSpPr>
          <p:cNvPr id="20" name="Text 18"/>
          <p:cNvSpPr/>
          <p:nvPr/>
        </p:nvSpPr>
        <p:spPr>
          <a:xfrm>
            <a:off x="3255264"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Ibn Battuta visited Kilwa and called it 'one of the most beautiful cities in the world' -- key AP primary source.</a:t>
            </a:r>
            <a:endParaRPr lang="en-US" sz="850" dirty="0"/>
          </a:p>
        </p:txBody>
      </p:sp>
      <p:sp>
        <p:nvSpPr>
          <p:cNvPr id="21" name="Shape 19"/>
          <p:cNvSpPr/>
          <p:nvPr/>
        </p:nvSpPr>
        <p:spPr>
          <a:xfrm>
            <a:off x="6089904"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2" name="Shape 20"/>
          <p:cNvSpPr/>
          <p:nvPr/>
        </p:nvSpPr>
        <p:spPr>
          <a:xfrm>
            <a:off x="6089904" y="1005840"/>
            <a:ext cx="64008" cy="1554480"/>
          </a:xfrm>
          <a:prstGeom prst="rect">
            <a:avLst/>
          </a:prstGeom>
          <a:solidFill>
            <a:srgbClr val="2A5298"/>
          </a:solidFill>
          <a:ln w="12700">
            <a:solidFill>
              <a:srgbClr val="2A5298"/>
            </a:solidFill>
            <a:prstDash val="solid"/>
          </a:ln>
        </p:spPr>
      </p:sp>
      <p:sp>
        <p:nvSpPr>
          <p:cNvPr id="23" name="Text 21"/>
          <p:cNvSpPr/>
          <p:nvPr/>
        </p:nvSpPr>
        <p:spPr>
          <a:xfrm>
            <a:off x="6208776"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Great Zimbabwe</a:t>
            </a:r>
            <a:endParaRPr lang="en-US" sz="1100" dirty="0"/>
          </a:p>
        </p:txBody>
      </p:sp>
      <p:sp>
        <p:nvSpPr>
          <p:cNvPr id="24" name="Text 22"/>
          <p:cNvSpPr/>
          <p:nvPr/>
        </p:nvSpPr>
        <p:spPr>
          <a:xfrm>
            <a:off x="6208776"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Stone-walled royal enclosure (c.1100-1450) on Zimbabwe Plateau; capital of a state exporting gold to the Swahili Coast.</a:t>
            </a:r>
            <a:endParaRPr lang="en-US" sz="950" dirty="0"/>
          </a:p>
        </p:txBody>
      </p:sp>
      <p:sp>
        <p:nvSpPr>
          <p:cNvPr id="25" name="Shape 23"/>
          <p:cNvSpPr/>
          <p:nvPr/>
        </p:nvSpPr>
        <p:spPr>
          <a:xfrm>
            <a:off x="6089904" y="2194560"/>
            <a:ext cx="2834640" cy="365760"/>
          </a:xfrm>
          <a:prstGeom prst="rect">
            <a:avLst/>
          </a:prstGeom>
          <a:solidFill>
            <a:srgbClr val="F0F4FF"/>
          </a:solidFill>
          <a:ln w="12700">
            <a:solidFill>
              <a:srgbClr val="F0F4FF"/>
            </a:solidFill>
            <a:prstDash val="solid"/>
          </a:ln>
        </p:spPr>
      </p:sp>
      <p:sp>
        <p:nvSpPr>
          <p:cNvPr id="26" name="Text 24"/>
          <p:cNvSpPr/>
          <p:nvPr/>
        </p:nvSpPr>
        <p:spPr>
          <a:xfrm>
            <a:off x="6208776"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Built without mortar. Shows African architectural achievement WITHOUT Islamic or external influence. Colonialists falsely denied Africans built it.</a:t>
            </a:r>
            <a:endParaRPr lang="en-US" sz="850" dirty="0"/>
          </a:p>
        </p:txBody>
      </p:sp>
      <p:sp>
        <p:nvSpPr>
          <p:cNvPr id="27" name="Shape 25"/>
          <p:cNvSpPr/>
          <p:nvPr/>
        </p:nvSpPr>
        <p:spPr>
          <a:xfrm>
            <a:off x="182880"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8" name="Shape 26"/>
          <p:cNvSpPr/>
          <p:nvPr/>
        </p:nvSpPr>
        <p:spPr>
          <a:xfrm>
            <a:off x="182880" y="2679192"/>
            <a:ext cx="64008" cy="1554480"/>
          </a:xfrm>
          <a:prstGeom prst="rect">
            <a:avLst/>
          </a:prstGeom>
          <a:solidFill>
            <a:srgbClr val="2A5298"/>
          </a:solidFill>
          <a:ln w="12700">
            <a:solidFill>
              <a:srgbClr val="2A5298"/>
            </a:solidFill>
            <a:prstDash val="solid"/>
          </a:ln>
        </p:spPr>
      </p:sp>
      <p:sp>
        <p:nvSpPr>
          <p:cNvPr id="29" name="Text 27"/>
          <p:cNvSpPr/>
          <p:nvPr/>
        </p:nvSpPr>
        <p:spPr>
          <a:xfrm>
            <a:off x="301752"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Swahili Language</a:t>
            </a:r>
            <a:endParaRPr lang="en-US" sz="1100" dirty="0"/>
          </a:p>
        </p:txBody>
      </p:sp>
      <p:sp>
        <p:nvSpPr>
          <p:cNvPr id="30" name="Text 28"/>
          <p:cNvSpPr/>
          <p:nvPr/>
        </p:nvSpPr>
        <p:spPr>
          <a:xfrm>
            <a:off x="301752"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Bantu language with significant Arabic loanwords; lingua franca of East African coastal trade and the mixed Afro-Islamic culture.</a:t>
            </a:r>
            <a:endParaRPr lang="en-US" sz="950" dirty="0"/>
          </a:p>
        </p:txBody>
      </p:sp>
      <p:sp>
        <p:nvSpPr>
          <p:cNvPr id="31" name="Shape 29"/>
          <p:cNvSpPr/>
          <p:nvPr/>
        </p:nvSpPr>
        <p:spPr>
          <a:xfrm>
            <a:off x="182880" y="3867912"/>
            <a:ext cx="2834640" cy="365760"/>
          </a:xfrm>
          <a:prstGeom prst="rect">
            <a:avLst/>
          </a:prstGeom>
          <a:solidFill>
            <a:srgbClr val="F0F4FF"/>
          </a:solidFill>
          <a:ln w="12700">
            <a:solidFill>
              <a:srgbClr val="F0F4FF"/>
            </a:solidFill>
            <a:prstDash val="solid"/>
          </a:ln>
        </p:spPr>
      </p:sp>
      <p:sp>
        <p:nvSpPr>
          <p:cNvPr id="32" name="Text 30"/>
          <p:cNvSpPr/>
          <p:nvPr/>
        </p:nvSpPr>
        <p:spPr>
          <a:xfrm>
            <a:off x="301752"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Demonstrates how trade creates cultural synthesis -- language mixing reflects African + Arab + Persian + Indian elements.</a:t>
            </a:r>
            <a:endParaRPr lang="en-US" sz="850" dirty="0"/>
          </a:p>
        </p:txBody>
      </p:sp>
      <p:sp>
        <p:nvSpPr>
          <p:cNvPr id="33" name="Shape 31"/>
          <p:cNvSpPr/>
          <p:nvPr/>
        </p:nvSpPr>
        <p:spPr>
          <a:xfrm>
            <a:off x="3136392"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34" name="Shape 32"/>
          <p:cNvSpPr/>
          <p:nvPr/>
        </p:nvSpPr>
        <p:spPr>
          <a:xfrm>
            <a:off x="3136392" y="2679192"/>
            <a:ext cx="64008" cy="1554480"/>
          </a:xfrm>
          <a:prstGeom prst="rect">
            <a:avLst/>
          </a:prstGeom>
          <a:solidFill>
            <a:srgbClr val="2A5298"/>
          </a:solidFill>
          <a:ln w="12700">
            <a:solidFill>
              <a:srgbClr val="2A5298"/>
            </a:solidFill>
            <a:prstDash val="solid"/>
          </a:ln>
        </p:spPr>
      </p:sp>
      <p:sp>
        <p:nvSpPr>
          <p:cNvPr id="35" name="Text 33"/>
          <p:cNvSpPr/>
          <p:nvPr/>
        </p:nvSpPr>
        <p:spPr>
          <a:xfrm>
            <a:off x="3255264"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Ethiopia (Zagwe/Solomonid)</a:t>
            </a:r>
            <a:endParaRPr lang="en-US" sz="1100" dirty="0"/>
          </a:p>
        </p:txBody>
      </p:sp>
      <p:sp>
        <p:nvSpPr>
          <p:cNvPr id="36" name="Text 34"/>
          <p:cNvSpPr/>
          <p:nvPr/>
        </p:nvSpPr>
        <p:spPr>
          <a:xfrm>
            <a:off x="3255264"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Christian highland kingdom claiming descent from King Solomon and the Queen of Sheba; Zagwe Dynasty built the rock-hewn churches of Lalibela.</a:t>
            </a:r>
            <a:endParaRPr lang="en-US" sz="950" dirty="0"/>
          </a:p>
        </p:txBody>
      </p:sp>
      <p:sp>
        <p:nvSpPr>
          <p:cNvPr id="37" name="Shape 35"/>
          <p:cNvSpPr/>
          <p:nvPr/>
        </p:nvSpPr>
        <p:spPr>
          <a:xfrm>
            <a:off x="3136392" y="3867912"/>
            <a:ext cx="2834640" cy="365760"/>
          </a:xfrm>
          <a:prstGeom prst="rect">
            <a:avLst/>
          </a:prstGeom>
          <a:solidFill>
            <a:srgbClr val="F0F4FF"/>
          </a:solidFill>
          <a:ln w="12700">
            <a:solidFill>
              <a:srgbClr val="F0F4FF"/>
            </a:solidFill>
            <a:prstDash val="solid"/>
          </a:ln>
        </p:spPr>
      </p:sp>
      <p:sp>
        <p:nvSpPr>
          <p:cNvPr id="38" name="Text 36"/>
          <p:cNvSpPr/>
          <p:nvPr/>
        </p:nvSpPr>
        <p:spPr>
          <a:xfrm>
            <a:off x="3255264"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One of the world's oldest Christian traditions; maintained independence from Islamic pressure -- shows African religious diversity.</a:t>
            </a:r>
            <a:endParaRPr lang="en-US" sz="850" dirty="0"/>
          </a:p>
        </p:txBody>
      </p:sp>
      <p:sp>
        <p:nvSpPr>
          <p:cNvPr id="39" name="Shape 37"/>
          <p:cNvSpPr/>
          <p:nvPr/>
        </p:nvSpPr>
        <p:spPr>
          <a:xfrm>
            <a:off x="6089904"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40" name="Shape 38"/>
          <p:cNvSpPr/>
          <p:nvPr/>
        </p:nvSpPr>
        <p:spPr>
          <a:xfrm>
            <a:off x="6089904" y="2679192"/>
            <a:ext cx="64008" cy="1554480"/>
          </a:xfrm>
          <a:prstGeom prst="rect">
            <a:avLst/>
          </a:prstGeom>
          <a:solidFill>
            <a:srgbClr val="2A5298"/>
          </a:solidFill>
          <a:ln w="12700">
            <a:solidFill>
              <a:srgbClr val="2A5298"/>
            </a:solidFill>
            <a:prstDash val="solid"/>
          </a:ln>
        </p:spPr>
      </p:sp>
      <p:sp>
        <p:nvSpPr>
          <p:cNvPr id="41" name="Text 39"/>
          <p:cNvSpPr/>
          <p:nvPr/>
        </p:nvSpPr>
        <p:spPr>
          <a:xfrm>
            <a:off x="6208776"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Stateless Societies</a:t>
            </a:r>
            <a:endParaRPr lang="en-US" sz="1100" dirty="0"/>
          </a:p>
        </p:txBody>
      </p:sp>
      <p:sp>
        <p:nvSpPr>
          <p:cNvPr id="42" name="Text 40"/>
          <p:cNvSpPr/>
          <p:nvPr/>
        </p:nvSpPr>
        <p:spPr>
          <a:xfrm>
            <a:off x="6208776"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African communities organized around kinship, age grades, and village councils rather than centralized state authority.</a:t>
            </a:r>
            <a:endParaRPr lang="en-US" sz="950" dirty="0"/>
          </a:p>
        </p:txBody>
      </p:sp>
      <p:sp>
        <p:nvSpPr>
          <p:cNvPr id="43" name="Shape 41"/>
          <p:cNvSpPr/>
          <p:nvPr/>
        </p:nvSpPr>
        <p:spPr>
          <a:xfrm>
            <a:off x="6089904" y="3867912"/>
            <a:ext cx="2834640" cy="365760"/>
          </a:xfrm>
          <a:prstGeom prst="rect">
            <a:avLst/>
          </a:prstGeom>
          <a:solidFill>
            <a:srgbClr val="F0F4FF"/>
          </a:solidFill>
          <a:ln w="12700">
            <a:solidFill>
              <a:srgbClr val="F0F4FF"/>
            </a:solidFill>
            <a:prstDash val="solid"/>
          </a:ln>
        </p:spPr>
      </p:sp>
      <p:sp>
        <p:nvSpPr>
          <p:cNvPr id="44" name="Text 42"/>
          <p:cNvSpPr/>
          <p:nvPr/>
        </p:nvSpPr>
        <p:spPr>
          <a:xfrm>
            <a:off x="6208776"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Shows diversity of African political organization -- not all African societies were organized into states. Coexisted with empires.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Key People &amp; Groups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Ch.4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Africa's most important historical figures -- know their stories for source-based AP questions</a:t>
            </a:r>
            <a:endParaRPr lang="en-US" sz="1000" dirty="0"/>
          </a:p>
        </p:txBody>
      </p:sp>
      <p:sp>
        <p:nvSpPr>
          <p:cNvPr id="9" name="Shape 7"/>
          <p:cNvSpPr/>
          <p:nvPr/>
        </p:nvSpPr>
        <p:spPr>
          <a:xfrm>
            <a:off x="182880" y="1024128"/>
            <a:ext cx="2834640" cy="370332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0" name="Shape 8"/>
          <p:cNvSpPr/>
          <p:nvPr/>
        </p:nvSpPr>
        <p:spPr>
          <a:xfrm>
            <a:off x="182880" y="1024128"/>
            <a:ext cx="2834640" cy="475488"/>
          </a:xfrm>
          <a:prstGeom prst="rect">
            <a:avLst/>
          </a:prstGeom>
          <a:solidFill>
            <a:srgbClr val="7B5A2E"/>
          </a:solidFill>
          <a:ln w="12700">
            <a:solidFill>
              <a:srgbClr val="7B5A2E"/>
            </a:solidFill>
            <a:prstDash val="solid"/>
          </a:ln>
        </p:spPr>
      </p:sp>
      <p:sp>
        <p:nvSpPr>
          <p:cNvPr id="11" name="Text 9"/>
          <p:cNvSpPr/>
          <p:nvPr/>
        </p:nvSpPr>
        <p:spPr>
          <a:xfrm>
            <a:off x="274320" y="1069848"/>
            <a:ext cx="2697480" cy="25603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Mansa Musa</a:t>
            </a:r>
            <a:endParaRPr lang="en-US" sz="1200" dirty="0"/>
          </a:p>
        </p:txBody>
      </p:sp>
      <p:sp>
        <p:nvSpPr>
          <p:cNvPr id="12" name="Text 10"/>
          <p:cNvSpPr/>
          <p:nvPr/>
        </p:nvSpPr>
        <p:spPr>
          <a:xfrm>
            <a:off x="274320" y="1335024"/>
            <a:ext cx="2697480" cy="164592"/>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r.1312-1337 | Mali Empire, West Africa</a:t>
            </a:r>
            <a:endParaRPr lang="en-US" sz="850" dirty="0"/>
          </a:p>
        </p:txBody>
      </p:sp>
      <p:sp>
        <p:nvSpPr>
          <p:cNvPr id="13" name="Text 11"/>
          <p:cNvSpPr/>
          <p:nvPr/>
        </p:nvSpPr>
        <p:spPr>
          <a:xfrm>
            <a:off x="292608" y="1572768"/>
            <a:ext cx="2651760" cy="3063240"/>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Most famous African ruler in world history</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1324-25 hajj: 60,000 people, gold distributed across Cairo -- depressed Egyptian gold prices for a decade</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Returned with Islamic scholars and architect Abu Ishaq al-Sahili (built Djinguereber Mosque, Timbuktu)</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First appearance on European maps (1375 Catalan Atlas) as a magnificent golden king</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His hajj = Islamic connectivity + West African wealth + individual impact on world</a:t>
            </a:r>
            <a:endParaRPr lang="en-US" sz="950" dirty="0"/>
          </a:p>
        </p:txBody>
      </p:sp>
      <p:sp>
        <p:nvSpPr>
          <p:cNvPr id="14" name="Shape 12"/>
          <p:cNvSpPr/>
          <p:nvPr/>
        </p:nvSpPr>
        <p:spPr>
          <a:xfrm>
            <a:off x="3154680" y="1024128"/>
            <a:ext cx="2834640" cy="370332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5" name="Shape 13"/>
          <p:cNvSpPr/>
          <p:nvPr/>
        </p:nvSpPr>
        <p:spPr>
          <a:xfrm>
            <a:off x="3154680" y="1024128"/>
            <a:ext cx="2834640" cy="475488"/>
          </a:xfrm>
          <a:prstGeom prst="rect">
            <a:avLst/>
          </a:prstGeom>
          <a:solidFill>
            <a:srgbClr val="2A5298"/>
          </a:solidFill>
          <a:ln w="12700">
            <a:solidFill>
              <a:srgbClr val="2A5298"/>
            </a:solidFill>
            <a:prstDash val="solid"/>
          </a:ln>
        </p:spPr>
      </p:sp>
      <p:sp>
        <p:nvSpPr>
          <p:cNvPr id="16" name="Text 14"/>
          <p:cNvSpPr/>
          <p:nvPr/>
        </p:nvSpPr>
        <p:spPr>
          <a:xfrm>
            <a:off x="3246120" y="1069848"/>
            <a:ext cx="2697480" cy="25603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Sundiata Keita</a:t>
            </a:r>
            <a:endParaRPr lang="en-US" sz="1200" dirty="0"/>
          </a:p>
        </p:txBody>
      </p:sp>
      <p:sp>
        <p:nvSpPr>
          <p:cNvPr id="17" name="Text 15"/>
          <p:cNvSpPr/>
          <p:nvPr/>
        </p:nvSpPr>
        <p:spPr>
          <a:xfrm>
            <a:off x="3246120" y="1335024"/>
            <a:ext cx="2697480" cy="164592"/>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r. c.1235-1255 | Mali Empire Founder</a:t>
            </a:r>
            <a:endParaRPr lang="en-US" sz="850" dirty="0"/>
          </a:p>
        </p:txBody>
      </p:sp>
      <p:sp>
        <p:nvSpPr>
          <p:cNvPr id="18" name="Text 16"/>
          <p:cNvSpPr/>
          <p:nvPr/>
        </p:nvSpPr>
        <p:spPr>
          <a:xfrm>
            <a:off x="3264408" y="1572768"/>
            <a:ext cx="2651760" cy="3063240"/>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Legendary founder of the Mali Empire; unified Mande-speaking peoples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Defeated the Sosso king Sumanguru Kante at the Battle of Kirina (~1235)</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His story preserved in the 'Epic of Sundiata' by griots -- oral history as primary source</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Combined traditional African religious authority with early embrace of Islam</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Established the political framework within which Mansa Musa would later flourish</a:t>
            </a:r>
            <a:endParaRPr lang="en-US" sz="950" dirty="0"/>
          </a:p>
        </p:txBody>
      </p:sp>
      <p:sp>
        <p:nvSpPr>
          <p:cNvPr id="19" name="Shape 17"/>
          <p:cNvSpPr/>
          <p:nvPr/>
        </p:nvSpPr>
        <p:spPr>
          <a:xfrm>
            <a:off x="6126480" y="1024128"/>
            <a:ext cx="2834640" cy="370332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0" name="Shape 18"/>
          <p:cNvSpPr/>
          <p:nvPr/>
        </p:nvSpPr>
        <p:spPr>
          <a:xfrm>
            <a:off x="6126480" y="1024128"/>
            <a:ext cx="2834640" cy="475488"/>
          </a:xfrm>
          <a:prstGeom prst="rect">
            <a:avLst/>
          </a:prstGeom>
          <a:solidFill>
            <a:srgbClr val="1B5E3B"/>
          </a:solidFill>
          <a:ln w="12700">
            <a:solidFill>
              <a:srgbClr val="1B5E3B"/>
            </a:solidFill>
            <a:prstDash val="solid"/>
          </a:ln>
        </p:spPr>
      </p:sp>
      <p:sp>
        <p:nvSpPr>
          <p:cNvPr id="21" name="Text 19"/>
          <p:cNvSpPr/>
          <p:nvPr/>
        </p:nvSpPr>
        <p:spPr>
          <a:xfrm>
            <a:off x="6217920" y="1069848"/>
            <a:ext cx="2697480" cy="25603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Kilwa Sultanate &amp; Swahili Coast</a:t>
            </a:r>
            <a:endParaRPr lang="en-US" sz="1200" dirty="0"/>
          </a:p>
        </p:txBody>
      </p:sp>
      <p:sp>
        <p:nvSpPr>
          <p:cNvPr id="22" name="Text 20"/>
          <p:cNvSpPr/>
          <p:nvPr/>
        </p:nvSpPr>
        <p:spPr>
          <a:xfrm>
            <a:off x="6217920" y="1335024"/>
            <a:ext cx="2697480" cy="164592"/>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c.957-1513 | East African Coast</a:t>
            </a:r>
            <a:endParaRPr lang="en-US" sz="850" dirty="0"/>
          </a:p>
        </p:txBody>
      </p:sp>
      <p:sp>
        <p:nvSpPr>
          <p:cNvPr id="23" name="Text 21"/>
          <p:cNvSpPr/>
          <p:nvPr/>
        </p:nvSpPr>
        <p:spPr>
          <a:xfrm>
            <a:off x="6236208" y="1572768"/>
            <a:ext cx="2651760" cy="3063240"/>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Kilwa: dominant city-state controlling gold trade from Zimbabwe Plateau</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Ibn Battuta visited 1331 -- described as one of world's most beautiful cities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Prosperity built on being the intermediary between inland gold producers and Indian Ocean merchants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Gold, ivory, enslaved people exported; Indian textiles and Chinese porcelain imported</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Demonstrates East Africa's full integration into the Islamic world and Indian Ocean network</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Timeline: Africa 1200-1450</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Ch.4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Focus on trade connections and the role of Islam in shaping African states</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82880" y="1005840"/>
          <a:ext cx="8778240" cy="3767328"/>
        </p:xfrm>
        <a:graphic>
          <a:graphicData uri="http://schemas.openxmlformats.org/drawingml/2006/table">
            <a:tbl>
              <a:tblPr/>
              <a:tblGrid>
                <a:gridCol w="914400"/>
                <a:gridCol w="2286000"/>
                <a:gridCol w="1280160"/>
                <a:gridCol w="4297680"/>
              </a:tblGrid>
              <a:tr h="376733">
                <a:tc>
                  <a:txBody>
                    <a:bodyP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Date</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Event</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Region</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AP Significance</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c.1100</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Great Zimbabwe construction peaks</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Southern Africa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Stone enclosure; controls gold trade to Swahili Coast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c.1200</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Zagwe Dynasty builds Lalibela churches</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Ethiopia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Rock-hewn churches as 'New Jerusalem'; Christian African innovation</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c.1235</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Sundiata founds Mali Empire</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West Africa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Defeats Sosso kingdom; Mali Empire begins controlling gold-salt trade</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1270</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Solomonid Dynasty restored in Ethiopia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Ethiopia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Claims descent from Solomon and Queen of Sheba; divine legitimacy</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1312</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Mansa Musa becomes ruler of Mali</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West Africa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Mali reaches peak power and wealth under his 25-year reign</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1324-25</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Mansa Musa's hajj to Mecca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West Africa / Egypt</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Disrupts Egyptian gold prices; puts Mali on European maps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1331</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Ibn Battuta visits Kilwa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East Africa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Describes it as one of world's most beautiful cities; key primary source</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c.1375</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Mali appears on Catalan Atlas</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Mediterranean</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European cartographers document Mali's wealth; global connectivity</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c.1400</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Songhai begins challenging Mali</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West Africa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Mali's power weakens; Songhai Empire will dominate by 1468</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Themes &amp; Causation</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Ch.4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Practice applying thematic lenses to African examples -- the AP exam LOVES to test Africa</a:t>
            </a:r>
            <a:endParaRPr lang="en-US" sz="1000" dirty="0"/>
          </a:p>
        </p:txBody>
      </p:sp>
      <p:sp>
        <p:nvSpPr>
          <p:cNvPr id="9" name="Shape 7"/>
          <p:cNvSpPr/>
          <p:nvPr/>
        </p:nvSpPr>
        <p:spPr>
          <a:xfrm>
            <a:off x="182880" y="1005840"/>
            <a:ext cx="4297680" cy="1691640"/>
          </a:xfrm>
          <a:prstGeom prst="rect">
            <a:avLst/>
          </a:prstGeom>
          <a:solidFill>
            <a:srgbClr val="E3F0FF"/>
          </a:solidFill>
          <a:ln w="12700">
            <a:solidFill>
              <a:srgbClr val="2A5298"/>
            </a:solidFill>
            <a:prstDash val="solid"/>
          </a:ln>
        </p:spPr>
      </p:sp>
      <p:sp>
        <p:nvSpPr>
          <p:cNvPr id="10" name="Shape 8"/>
          <p:cNvSpPr/>
          <p:nvPr/>
        </p:nvSpPr>
        <p:spPr>
          <a:xfrm>
            <a:off x="182880" y="1005840"/>
            <a:ext cx="4297680" cy="310896"/>
          </a:xfrm>
          <a:prstGeom prst="rect">
            <a:avLst/>
          </a:prstGeom>
          <a:solidFill>
            <a:srgbClr val="2A5298"/>
          </a:solidFill>
          <a:ln w="12700">
            <a:solidFill>
              <a:srgbClr val="2A5298"/>
            </a:solidFill>
            <a:prstDash val="solid"/>
          </a:ln>
        </p:spPr>
      </p:sp>
      <p:sp>
        <p:nvSpPr>
          <p:cNvPr id="11" name="Text 9"/>
          <p:cNvSpPr/>
          <p:nvPr/>
        </p:nvSpPr>
        <p:spPr>
          <a:xfrm>
            <a:off x="274320" y="1005840"/>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GOVERNANCE</a:t>
            </a:r>
            <a:endParaRPr lang="en-US" sz="1000" dirty="0"/>
          </a:p>
        </p:txBody>
      </p:sp>
      <p:sp>
        <p:nvSpPr>
          <p:cNvPr id="12" name="Text 10"/>
          <p:cNvSpPr/>
          <p:nvPr/>
        </p:nvSpPr>
        <p:spPr>
          <a:xfrm>
            <a:off x="274320" y="1371600"/>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Africa shows the DIVERSITY of governance: Mali's centralized empire with dual Islamic/traditional legitimacy; Swahili city-states with Islamic sultans; Great Zimbabwe's ritual-political complex; Ethiopian Christian monarchy; and stateless societies organized by kinship. There is no single 'African governance model' -- this diversity is itself the key lesson.</a:t>
            </a:r>
            <a:endParaRPr lang="en-US" sz="950" dirty="0"/>
          </a:p>
        </p:txBody>
      </p:sp>
      <p:sp>
        <p:nvSpPr>
          <p:cNvPr id="13" name="Shape 11"/>
          <p:cNvSpPr/>
          <p:nvPr/>
        </p:nvSpPr>
        <p:spPr>
          <a:xfrm>
            <a:off x="182880" y="2816352"/>
            <a:ext cx="4297680" cy="1691640"/>
          </a:xfrm>
          <a:prstGeom prst="rect">
            <a:avLst/>
          </a:prstGeom>
          <a:solidFill>
            <a:srgbClr val="FAF0E0"/>
          </a:solidFill>
          <a:ln w="12700">
            <a:solidFill>
              <a:srgbClr val="7B5A2E"/>
            </a:solidFill>
            <a:prstDash val="solid"/>
          </a:ln>
        </p:spPr>
      </p:sp>
      <p:sp>
        <p:nvSpPr>
          <p:cNvPr id="14" name="Shape 12"/>
          <p:cNvSpPr/>
          <p:nvPr/>
        </p:nvSpPr>
        <p:spPr>
          <a:xfrm>
            <a:off x="182880" y="2816352"/>
            <a:ext cx="4297680" cy="310896"/>
          </a:xfrm>
          <a:prstGeom prst="rect">
            <a:avLst/>
          </a:prstGeom>
          <a:solidFill>
            <a:srgbClr val="7B5A2E"/>
          </a:solidFill>
          <a:ln w="12700">
            <a:solidFill>
              <a:srgbClr val="7B5A2E"/>
            </a:solidFill>
            <a:prstDash val="solid"/>
          </a:ln>
        </p:spPr>
      </p:sp>
      <p:sp>
        <p:nvSpPr>
          <p:cNvPr id="15" name="Text 13"/>
          <p:cNvSpPr/>
          <p:nvPr/>
        </p:nvSpPr>
        <p:spPr>
          <a:xfrm>
            <a:off x="274320" y="2816352"/>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ECONOMIC SYSTEMS</a:t>
            </a:r>
            <a:endParaRPr lang="en-US" sz="1000" dirty="0"/>
          </a:p>
        </p:txBody>
      </p:sp>
      <p:sp>
        <p:nvSpPr>
          <p:cNvPr id="16" name="Text 14"/>
          <p:cNvSpPr/>
          <p:nvPr/>
        </p:nvSpPr>
        <p:spPr>
          <a:xfrm>
            <a:off x="274320" y="3182112"/>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West African gold funded Mediterranean economies via trans-Saharan networks -- Africa was economically central, not peripheral. East Africa's Swahili merchants were sophisticated intermediaries in the Indian Ocean network, exporting gold, ivory, and enslaved people. African states did not produce most of what they traded -- their wealth came from CONTROLLING exchange routes.</a:t>
            </a:r>
            <a:endParaRPr lang="en-US" sz="950" dirty="0"/>
          </a:p>
        </p:txBody>
      </p:sp>
      <p:sp>
        <p:nvSpPr>
          <p:cNvPr id="17" name="Shape 15"/>
          <p:cNvSpPr/>
          <p:nvPr/>
        </p:nvSpPr>
        <p:spPr>
          <a:xfrm>
            <a:off x="4663440" y="1005840"/>
            <a:ext cx="4297680" cy="1691640"/>
          </a:xfrm>
          <a:prstGeom prst="rect">
            <a:avLst/>
          </a:prstGeom>
          <a:solidFill>
            <a:srgbClr val="FAE8E4"/>
          </a:solidFill>
          <a:ln w="12700">
            <a:solidFill>
              <a:srgbClr val="B5432A"/>
            </a:solidFill>
            <a:prstDash val="solid"/>
          </a:ln>
        </p:spPr>
      </p:sp>
      <p:sp>
        <p:nvSpPr>
          <p:cNvPr id="18" name="Shape 16"/>
          <p:cNvSpPr/>
          <p:nvPr/>
        </p:nvSpPr>
        <p:spPr>
          <a:xfrm>
            <a:off x="4663440" y="1005840"/>
            <a:ext cx="4297680" cy="310896"/>
          </a:xfrm>
          <a:prstGeom prst="rect">
            <a:avLst/>
          </a:prstGeom>
          <a:solidFill>
            <a:srgbClr val="B5432A"/>
          </a:solidFill>
          <a:ln w="12700">
            <a:solidFill>
              <a:srgbClr val="B5432A"/>
            </a:solidFill>
            <a:prstDash val="solid"/>
          </a:ln>
        </p:spPr>
      </p:sp>
      <p:sp>
        <p:nvSpPr>
          <p:cNvPr id="19" name="Text 17"/>
          <p:cNvSpPr/>
          <p:nvPr/>
        </p:nvSpPr>
        <p:spPr>
          <a:xfrm>
            <a:off x="4754880" y="1005840"/>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CULTURAL DEVELOPMENTS</a:t>
            </a:r>
            <a:endParaRPr lang="en-US" sz="1000" dirty="0"/>
          </a:p>
        </p:txBody>
      </p:sp>
      <p:sp>
        <p:nvSpPr>
          <p:cNvPr id="20" name="Text 18"/>
          <p:cNvSpPr/>
          <p:nvPr/>
        </p:nvSpPr>
        <p:spPr>
          <a:xfrm>
            <a:off x="4754880" y="1371600"/>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Islam transformed West and East African states while leaving Southern Africa and Ethiopia independent. In Mali, 'elite Islam' coexisted with indigenous religious practices among the general population. Swahili culture blended African, Arab, Persian, and Indian elements. Ethiopian Christianity developed distinctive traditions (Ge'ez liturgy, rock-hewn churches) separate from Rome or Byzantium.</a:t>
            </a:r>
            <a:endParaRPr lang="en-US" sz="950" dirty="0"/>
          </a:p>
        </p:txBody>
      </p:sp>
      <p:sp>
        <p:nvSpPr>
          <p:cNvPr id="21" name="Shape 19"/>
          <p:cNvSpPr/>
          <p:nvPr/>
        </p:nvSpPr>
        <p:spPr>
          <a:xfrm>
            <a:off x="4663440" y="2816352"/>
            <a:ext cx="4297680" cy="1691640"/>
          </a:xfrm>
          <a:prstGeom prst="rect">
            <a:avLst/>
          </a:prstGeom>
          <a:solidFill>
            <a:srgbClr val="E8F5EE"/>
          </a:solidFill>
          <a:ln w="12700">
            <a:solidFill>
              <a:srgbClr val="1B5E3B"/>
            </a:solidFill>
            <a:prstDash val="solid"/>
          </a:ln>
        </p:spPr>
      </p:sp>
      <p:sp>
        <p:nvSpPr>
          <p:cNvPr id="22" name="Shape 20"/>
          <p:cNvSpPr/>
          <p:nvPr/>
        </p:nvSpPr>
        <p:spPr>
          <a:xfrm>
            <a:off x="4663440" y="2816352"/>
            <a:ext cx="4297680" cy="310896"/>
          </a:xfrm>
          <a:prstGeom prst="rect">
            <a:avLst/>
          </a:prstGeom>
          <a:solidFill>
            <a:srgbClr val="1B5E3B"/>
          </a:solidFill>
          <a:ln w="12700">
            <a:solidFill>
              <a:srgbClr val="1B5E3B"/>
            </a:solidFill>
            <a:prstDash val="solid"/>
          </a:ln>
        </p:spPr>
      </p:sp>
      <p:sp>
        <p:nvSpPr>
          <p:cNvPr id="23" name="Text 21"/>
          <p:cNvSpPr/>
          <p:nvPr/>
        </p:nvSpPr>
        <p:spPr>
          <a:xfrm>
            <a:off x="4754880" y="2816352"/>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SOCIAL STRUCTURES</a:t>
            </a:r>
            <a:endParaRPr lang="en-US" sz="1000" dirty="0"/>
          </a:p>
        </p:txBody>
      </p:sp>
      <p:sp>
        <p:nvSpPr>
          <p:cNvPr id="24" name="Text 22"/>
          <p:cNvSpPr/>
          <p:nvPr/>
        </p:nvSpPr>
        <p:spPr>
          <a:xfrm>
            <a:off x="4754880" y="3182112"/>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African social structures varied dramatically. Mali had caste-like divisions (nobles, free people, enslaved people) and griots as a special class. West African Queen Mothers held formal political roles. Swahili Coast women participated in trade and owned property. Enslaved people existed in all African societies, though the scale was far smaller than the later Atlantic slave trade.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AP Exam Tips &amp; Must-Know Comparisons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Ch.4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Africa is most often tested through PRIMARY SOURCES -- practice analyzing unfamiliar documents</a:t>
            </a:r>
            <a:endParaRPr lang="en-US" sz="1000" dirty="0"/>
          </a:p>
        </p:txBody>
      </p:sp>
      <p:sp>
        <p:nvSpPr>
          <p:cNvPr id="9" name="Shape 7"/>
          <p:cNvSpPr/>
          <p:nvPr/>
        </p:nvSpPr>
        <p:spPr>
          <a:xfrm>
            <a:off x="182880" y="1005840"/>
            <a:ext cx="5074920" cy="3767328"/>
          </a:xfrm>
          <a:prstGeom prst="rect">
            <a:avLst/>
          </a:prstGeom>
          <a:solidFill>
            <a:srgbClr val="1B5E3B"/>
          </a:solidFill>
          <a:ln w="12700">
            <a:solidFill>
              <a:srgbClr val="1B5E3B"/>
            </a:solidFill>
            <a:prstDash val="solid"/>
          </a:ln>
        </p:spPr>
      </p:sp>
      <p:sp>
        <p:nvSpPr>
          <p:cNvPr id="10" name="Text 8"/>
          <p:cNvSpPr/>
          <p:nvPr/>
        </p:nvSpPr>
        <p:spPr>
          <a:xfrm>
            <a:off x="320040" y="1097280"/>
            <a:ext cx="4846320" cy="274320"/>
          </a:xfrm>
          <a:prstGeom prst="rect">
            <a:avLst/>
          </a:prstGeom>
          <a:noFill/>
          <a:ln/>
        </p:spPr>
        <p:txBody>
          <a:bodyPr wrap="square" lIns="0" tIns="0" rIns="0" bIns="0" rtlCol="0" anchor="ctr"/>
          <a:lstStyle/>
          <a:p>
            <a:pPr indent="0" marL="0">
              <a:buNone/>
            </a:pPr>
            <a:r>
              <a:rPr lang="en-US" sz="1200" b="1" dirty="0">
                <a:solidFill>
                  <a:srgbClr val="E8C97A"/>
                </a:solidFill>
                <a:latin typeface="Trebuchet MS" pitchFamily="34" charset="0"/>
                <a:ea typeface="Trebuchet MS" pitchFamily="34" charset="-122"/>
                <a:cs typeface="Trebuchet MS" pitchFamily="34" charset="-120"/>
              </a:rPr>
              <a:t>★  AP EXAM TIPS</a:t>
            </a:r>
            <a:endParaRPr lang="en-US" sz="1200" dirty="0"/>
          </a:p>
        </p:txBody>
      </p:sp>
      <p:sp>
        <p:nvSpPr>
          <p:cNvPr id="11" name="Text 9"/>
          <p:cNvSpPr/>
          <p:nvPr/>
        </p:nvSpPr>
        <p:spPr>
          <a:xfrm>
            <a:off x="320040" y="1408176"/>
            <a:ext cx="4846320" cy="3273552"/>
          </a:xfrm>
          <a:prstGeom prst="rect">
            <a:avLst/>
          </a:prstGeom>
          <a:noFill/>
          <a:ln/>
        </p:spPr>
        <p:txBody>
          <a:bodyPr wrap="square" lIns="0" tIns="0" rIns="0" bIns="0" rtlCol="0" anchor="t"/>
          <a:lstStyle/>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THREE TRADE NETWORKS: trans-Saharan (West Africa) + Indian Ocean (East Africa) + internal Niger River routes. Know which connects to which region</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MAP QUESTIONS: Identify African states by geographic clue -- trans-Saharan routes = West Africa; Indian Ocean coast = East Africa; highland Christian kingdom = Ethiopia</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Mansa Musa's hajj: test yourself -- explain it as (1) Islamic connectivity, (2) West African wealth, (3) cross-cultural exchange, (4) individual impact on history</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Great Zimbabwe: built by Africans, WITHOUT external influence -- colonists wrongly claimed otherwise. The AP may test your ability to critique biased historical arguments</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Islam in Africa = 'elite Islam': rulers and merchants converted; rural populations often maintained indigenous practices. Know this NUANCE about African Islam</a:t>
            </a:r>
            <a:endParaRPr lang="en-US" sz="1050" dirty="0"/>
          </a:p>
        </p:txBody>
      </p:sp>
      <p:sp>
        <p:nvSpPr>
          <p:cNvPr id="12" name="Shape 10"/>
          <p:cNvSpPr/>
          <p:nvPr/>
        </p:nvSpPr>
        <p:spPr>
          <a:xfrm>
            <a:off x="5440680" y="1005840"/>
            <a:ext cx="3520440" cy="3767328"/>
          </a:xfrm>
          <a:prstGeom prst="rect">
            <a:avLst/>
          </a:prstGeom>
          <a:solidFill>
            <a:srgbClr val="EDE8F5"/>
          </a:solidFill>
          <a:ln w="12700">
            <a:solidFill>
              <a:srgbClr val="4B2D8A"/>
            </a:solidFill>
            <a:prstDash val="solid"/>
          </a:ln>
        </p:spPr>
      </p:sp>
      <p:sp>
        <p:nvSpPr>
          <p:cNvPr id="13" name="Text 11"/>
          <p:cNvSpPr/>
          <p:nvPr/>
        </p:nvSpPr>
        <p:spPr>
          <a:xfrm>
            <a:off x="5559552" y="1078992"/>
            <a:ext cx="3291840" cy="256032"/>
          </a:xfrm>
          <a:prstGeom prst="rect">
            <a:avLst/>
          </a:prstGeom>
          <a:noFill/>
          <a:ln/>
        </p:spPr>
        <p:txBody>
          <a:bodyPr wrap="square" lIns="0" tIns="0" rIns="0" bIns="0" rtlCol="0" anchor="ctr"/>
          <a:lstStyle/>
          <a:p>
            <a:pPr indent="0" marL="0">
              <a:buNone/>
            </a:pPr>
            <a:r>
              <a:rPr lang="en-US" sz="1000" b="1" spc="100" kern="0" dirty="0">
                <a:solidFill>
                  <a:srgbClr val="4B2D8A"/>
                </a:solidFill>
                <a:latin typeface="Trebuchet MS" pitchFamily="34" charset="0"/>
                <a:ea typeface="Trebuchet MS" pitchFamily="34" charset="-122"/>
                <a:cs typeface="Trebuchet MS" pitchFamily="34" charset="-120"/>
              </a:rPr>
              <a:t>MUST-KNOW COMPARISONS</a:t>
            </a:r>
            <a:endParaRPr lang="en-US" sz="1000" dirty="0"/>
          </a:p>
        </p:txBody>
      </p:sp>
      <p:sp>
        <p:nvSpPr>
          <p:cNvPr id="14" name="Shape 12"/>
          <p:cNvSpPr/>
          <p:nvPr/>
        </p:nvSpPr>
        <p:spPr>
          <a:xfrm>
            <a:off x="5559552" y="1371600"/>
            <a:ext cx="3291840" cy="237744"/>
          </a:xfrm>
          <a:prstGeom prst="rect">
            <a:avLst/>
          </a:prstGeom>
          <a:solidFill>
            <a:srgbClr val="4B2D8A"/>
          </a:solidFill>
          <a:ln w="12700">
            <a:solidFill>
              <a:srgbClr val="4B2D8A"/>
            </a:solidFill>
            <a:prstDash val="solid"/>
          </a:ln>
        </p:spPr>
      </p:sp>
      <p:sp>
        <p:nvSpPr>
          <p:cNvPr id="15" name="Text 13"/>
          <p:cNvSpPr/>
          <p:nvPr/>
        </p:nvSpPr>
        <p:spPr>
          <a:xfrm>
            <a:off x="5650992" y="138988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Mali Tribute vs. Aztec Tribute</a:t>
            </a:r>
            <a:endParaRPr lang="en-US" sz="950" dirty="0"/>
          </a:p>
        </p:txBody>
      </p:sp>
      <p:sp>
        <p:nvSpPr>
          <p:cNvPr id="16" name="Text 14"/>
          <p:cNvSpPr/>
          <p:nvPr/>
        </p:nvSpPr>
        <p:spPr>
          <a:xfrm>
            <a:off x="5559552" y="162763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Both empires extracted wealth from subjects/trade. Mali's was commercial (taxing trade routes); Aztec's was extractive (demanding goods from conquered peoples).</a:t>
            </a:r>
            <a:endParaRPr lang="en-US" sz="950" dirty="0"/>
          </a:p>
        </p:txBody>
      </p:sp>
      <p:sp>
        <p:nvSpPr>
          <p:cNvPr id="17" name="Shape 15"/>
          <p:cNvSpPr/>
          <p:nvPr/>
        </p:nvSpPr>
        <p:spPr>
          <a:xfrm>
            <a:off x="5559552" y="2194560"/>
            <a:ext cx="3291840" cy="237744"/>
          </a:xfrm>
          <a:prstGeom prst="rect">
            <a:avLst/>
          </a:prstGeom>
          <a:solidFill>
            <a:srgbClr val="4B2D8A"/>
          </a:solidFill>
          <a:ln w="12700">
            <a:solidFill>
              <a:srgbClr val="4B2D8A"/>
            </a:solidFill>
            <a:prstDash val="solid"/>
          </a:ln>
        </p:spPr>
      </p:sp>
      <p:sp>
        <p:nvSpPr>
          <p:cNvPr id="18" name="Text 16"/>
          <p:cNvSpPr/>
          <p:nvPr/>
        </p:nvSpPr>
        <p:spPr>
          <a:xfrm>
            <a:off x="5650992" y="221284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Swahili Coast vs. Indian Ocean Trade</a:t>
            </a:r>
            <a:endParaRPr lang="en-US" sz="950" dirty="0"/>
          </a:p>
        </p:txBody>
      </p:sp>
      <p:sp>
        <p:nvSpPr>
          <p:cNvPr id="19" name="Text 17"/>
          <p:cNvSpPr/>
          <p:nvPr/>
        </p:nvSpPr>
        <p:spPr>
          <a:xfrm>
            <a:off x="5559552" y="245059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Both Swahili cities and SE Asian ports (Malacca) prospered as intermediaries on the Indian Ocean. Both adopted Islam to align with Muslim merchant networks.</a:t>
            </a:r>
            <a:endParaRPr lang="en-US" sz="950" dirty="0"/>
          </a:p>
        </p:txBody>
      </p:sp>
      <p:sp>
        <p:nvSpPr>
          <p:cNvPr id="20" name="Shape 18"/>
          <p:cNvSpPr/>
          <p:nvPr/>
        </p:nvSpPr>
        <p:spPr>
          <a:xfrm>
            <a:off x="5559552" y="3017520"/>
            <a:ext cx="3291840" cy="237744"/>
          </a:xfrm>
          <a:prstGeom prst="rect">
            <a:avLst/>
          </a:prstGeom>
          <a:solidFill>
            <a:srgbClr val="4B2D8A"/>
          </a:solidFill>
          <a:ln w="12700">
            <a:solidFill>
              <a:srgbClr val="4B2D8A"/>
            </a:solidFill>
            <a:prstDash val="solid"/>
          </a:ln>
        </p:spPr>
      </p:sp>
      <p:sp>
        <p:nvSpPr>
          <p:cNvPr id="21" name="Text 19"/>
          <p:cNvSpPr/>
          <p:nvPr/>
        </p:nvSpPr>
        <p:spPr>
          <a:xfrm>
            <a:off x="5650992" y="303580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Mali's Griots vs. Chinese Movable Type</a:t>
            </a:r>
            <a:endParaRPr lang="en-US" sz="950" dirty="0"/>
          </a:p>
        </p:txBody>
      </p:sp>
      <p:sp>
        <p:nvSpPr>
          <p:cNvPr id="22" name="Text 20"/>
          <p:cNvSpPr/>
          <p:nvPr/>
        </p:nvSpPr>
        <p:spPr>
          <a:xfrm>
            <a:off x="5559552" y="327355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Both preserved and transmitted cultural knowledge, but through radically different methods: oral performance vs. written printing. Neither is 'superior.'</a:t>
            </a:r>
            <a:endParaRPr lang="en-US" sz="950" dirty="0"/>
          </a:p>
        </p:txBody>
      </p:sp>
      <p:sp>
        <p:nvSpPr>
          <p:cNvPr id="23" name="Shape 21"/>
          <p:cNvSpPr/>
          <p:nvPr/>
        </p:nvSpPr>
        <p:spPr>
          <a:xfrm>
            <a:off x="5559552" y="3840480"/>
            <a:ext cx="3291840" cy="237744"/>
          </a:xfrm>
          <a:prstGeom prst="rect">
            <a:avLst/>
          </a:prstGeom>
          <a:solidFill>
            <a:srgbClr val="4B2D8A"/>
          </a:solidFill>
          <a:ln w="12700">
            <a:solidFill>
              <a:srgbClr val="4B2D8A"/>
            </a:solidFill>
            <a:prstDash val="solid"/>
          </a:ln>
        </p:spPr>
      </p:sp>
      <p:sp>
        <p:nvSpPr>
          <p:cNvPr id="24" name="Text 22"/>
          <p:cNvSpPr/>
          <p:nvPr/>
        </p:nvSpPr>
        <p:spPr>
          <a:xfrm>
            <a:off x="5650992" y="385876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Ethiopian Christianity vs. European Christianity</a:t>
            </a:r>
            <a:endParaRPr lang="en-US" sz="950" dirty="0"/>
          </a:p>
        </p:txBody>
      </p:sp>
      <p:sp>
        <p:nvSpPr>
          <p:cNvPr id="25" name="Text 23"/>
          <p:cNvSpPr/>
          <p:nvPr/>
        </p:nvSpPr>
        <p:spPr>
          <a:xfrm>
            <a:off x="5559552" y="409651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Both Christian, but Ethiopia developed independently from Rome -- distinctive liturgy (Ge'ez), unique art, rock-hewn churches. AP may test African Christian distinctiveness.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AP Practice: Multiple Choice Questions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Ch.4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Africa questions often use PRIMARY SOURCE DOCUMENTS -- practice identifying the author's perspective.</a:t>
            </a:r>
            <a:endParaRPr lang="en-US" sz="1000" dirty="0"/>
          </a:p>
        </p:txBody>
      </p:sp>
      <p:sp>
        <p:nvSpPr>
          <p:cNvPr id="9" name="Shape 7"/>
          <p:cNvSpPr/>
          <p:nvPr/>
        </p:nvSpPr>
        <p:spPr>
          <a:xfrm>
            <a:off x="182880" y="987552"/>
            <a:ext cx="8778240" cy="1874520"/>
          </a:xfrm>
          <a:prstGeom prst="rect">
            <a:avLst/>
          </a:prstGeom>
          <a:solidFill>
            <a:srgbClr val="FAF0E0"/>
          </a:solidFill>
          <a:ln w="12700">
            <a:solidFill>
              <a:srgbClr val="D4C090"/>
            </a:solidFill>
            <a:prstDash val="solid"/>
          </a:ln>
        </p:spPr>
      </p:sp>
      <p:sp>
        <p:nvSpPr>
          <p:cNvPr id="10" name="Text 8"/>
          <p:cNvSpPr/>
          <p:nvPr/>
        </p:nvSpPr>
        <p:spPr>
          <a:xfrm>
            <a:off x="320040" y="1033272"/>
            <a:ext cx="8485632" cy="475488"/>
          </a:xfrm>
          <a:prstGeom prst="rect">
            <a:avLst/>
          </a:prstGeom>
          <a:noFill/>
          <a:ln/>
        </p:spPr>
        <p:txBody>
          <a:bodyPr wrap="square" lIns="0" tIns="0" rIns="0" bIns="0" rtlCol="0" anchor="t"/>
          <a:lstStyle/>
          <a:p>
            <a:pPr indent="0" marL="0">
              <a:buNone/>
            </a:pPr>
            <a:r>
              <a:rPr lang="en-US" sz="950" i="1" dirty="0">
                <a:solidFill>
                  <a:srgbClr val="374151"/>
                </a:solidFill>
                <a:latin typeface="Calibri" pitchFamily="34" charset="0"/>
                <a:ea typeface="Calibri" pitchFamily="34" charset="-122"/>
                <a:cs typeface="Calibri" pitchFamily="34" charset="-120"/>
              </a:rPr>
              <a:t>STIMULUS: "At Kilwa is one of the most beautiful and well-constructed towns in the world. The whole of it is elegantly built... The sultan... received me with honour and treated me as his guest. The people are engaged in a holy war for their country is contiguous to the heathen Negroes." -- Ibn Battuta, 1331</a:t>
            </a:r>
            <a:endParaRPr lang="en-US" sz="950" dirty="0"/>
          </a:p>
        </p:txBody>
      </p:sp>
      <p:sp>
        <p:nvSpPr>
          <p:cNvPr id="11" name="Text 9"/>
          <p:cNvSpPr/>
          <p:nvPr/>
        </p:nvSpPr>
        <p:spPr>
          <a:xfrm>
            <a:off x="320040" y="1536192"/>
            <a:ext cx="8485632" cy="274320"/>
          </a:xfrm>
          <a:prstGeom prst="rect">
            <a:avLst/>
          </a:prstGeom>
          <a:noFill/>
          <a:ln/>
        </p:spPr>
        <p:txBody>
          <a:bodyPr wrap="square" lIns="0" tIns="0" rIns="0" bIns="0" rtlCol="0" anchor="ctr"/>
          <a:lstStyle/>
          <a:p>
            <a:pPr indent="0" marL="0">
              <a:buNone/>
            </a:pPr>
            <a:r>
              <a:rPr lang="en-US" sz="1000" b="1" dirty="0">
                <a:solidFill>
                  <a:srgbClr val="1A1A2E"/>
                </a:solidFill>
                <a:latin typeface="Calibri" pitchFamily="34" charset="0"/>
                <a:ea typeface="Calibri" pitchFamily="34" charset="-122"/>
                <a:cs typeface="Calibri" pitchFamily="34" charset="-120"/>
              </a:rPr>
              <a:t>Q1. Ibn Battuta's description of Kilwa most directly illustrates which of the following about the Swahili Coast?</a:t>
            </a:r>
            <a:endParaRPr lang="en-US" sz="1000" dirty="0"/>
          </a:p>
        </p:txBody>
      </p:sp>
      <p:sp>
        <p:nvSpPr>
          <p:cNvPr id="12" name="Shape 10"/>
          <p:cNvSpPr/>
          <p:nvPr/>
        </p:nvSpPr>
        <p:spPr>
          <a:xfrm>
            <a:off x="320040" y="1837944"/>
            <a:ext cx="219456" cy="210312"/>
          </a:xfrm>
          <a:prstGeom prst="rect">
            <a:avLst/>
          </a:prstGeom>
          <a:solidFill>
            <a:srgbClr val="D1D5DB"/>
          </a:solidFill>
          <a:ln w="12700">
            <a:solidFill>
              <a:srgbClr val="D1D5DB"/>
            </a:solidFill>
            <a:prstDash val="solid"/>
          </a:ln>
        </p:spPr>
      </p:sp>
      <p:sp>
        <p:nvSpPr>
          <p:cNvPr id="13" name="Text 11"/>
          <p:cNvSpPr/>
          <p:nvPr/>
        </p:nvSpPr>
        <p:spPr>
          <a:xfrm>
            <a:off x="594360" y="1847088"/>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A) Swahili cities were isolated from the Islamic world and maintained purely African cultural traditions.</a:t>
            </a:r>
            <a:endParaRPr lang="en-US" sz="950" dirty="0"/>
          </a:p>
        </p:txBody>
      </p:sp>
      <p:sp>
        <p:nvSpPr>
          <p:cNvPr id="14" name="Shape 12"/>
          <p:cNvSpPr/>
          <p:nvPr/>
        </p:nvSpPr>
        <p:spPr>
          <a:xfrm>
            <a:off x="320040" y="2084832"/>
            <a:ext cx="219456" cy="210312"/>
          </a:xfrm>
          <a:prstGeom prst="rect">
            <a:avLst/>
          </a:prstGeom>
          <a:solidFill>
            <a:srgbClr val="1B5E3B"/>
          </a:solidFill>
          <a:ln w="12700">
            <a:solidFill>
              <a:srgbClr val="1B5E3B"/>
            </a:solidFill>
            <a:prstDash val="solid"/>
          </a:ln>
        </p:spPr>
      </p:sp>
      <p:sp>
        <p:nvSpPr>
          <p:cNvPr id="15" name="Text 13"/>
          <p:cNvSpPr/>
          <p:nvPr/>
        </p:nvSpPr>
        <p:spPr>
          <a:xfrm>
            <a:off x="594360" y="2093976"/>
            <a:ext cx="8275320" cy="210312"/>
          </a:xfrm>
          <a:prstGeom prst="rect">
            <a:avLst/>
          </a:prstGeom>
          <a:noFill/>
          <a:ln/>
        </p:spPr>
        <p:txBody>
          <a:bodyPr wrap="square" lIns="0" tIns="0" rIns="0" bIns="0" rtlCol="0" anchor="ctr"/>
          <a:lstStyle/>
          <a:p>
            <a:pPr indent="0" marL="0">
              <a:buNone/>
            </a:pPr>
            <a:r>
              <a:rPr lang="en-US" sz="950" b="1" dirty="0">
                <a:solidFill>
                  <a:srgbClr val="1B5E3B"/>
                </a:solidFill>
                <a:latin typeface="Calibri" pitchFamily="34" charset="0"/>
                <a:ea typeface="Calibri" pitchFamily="34" charset="-122"/>
                <a:cs typeface="Calibri" pitchFamily="34" charset="-120"/>
              </a:rPr>
              <a:t>B) Swahili city-states were prosperous Islamic urban centers fully integrated into the wider Dar al-Islam.</a:t>
            </a:r>
            <a:endParaRPr lang="en-US" sz="950" dirty="0"/>
          </a:p>
        </p:txBody>
      </p:sp>
      <p:sp>
        <p:nvSpPr>
          <p:cNvPr id="16" name="Shape 14"/>
          <p:cNvSpPr/>
          <p:nvPr/>
        </p:nvSpPr>
        <p:spPr>
          <a:xfrm>
            <a:off x="320040" y="2331720"/>
            <a:ext cx="219456" cy="210312"/>
          </a:xfrm>
          <a:prstGeom prst="rect">
            <a:avLst/>
          </a:prstGeom>
          <a:solidFill>
            <a:srgbClr val="D1D5DB"/>
          </a:solidFill>
          <a:ln w="12700">
            <a:solidFill>
              <a:srgbClr val="D1D5DB"/>
            </a:solidFill>
            <a:prstDash val="solid"/>
          </a:ln>
        </p:spPr>
      </p:sp>
      <p:sp>
        <p:nvSpPr>
          <p:cNvPr id="17" name="Text 15"/>
          <p:cNvSpPr/>
          <p:nvPr/>
        </p:nvSpPr>
        <p:spPr>
          <a:xfrm>
            <a:off x="594360" y="2340864"/>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C) The Swahili people had converted to Islam through military conquest by Arab armies.</a:t>
            </a:r>
            <a:endParaRPr lang="en-US" sz="950" dirty="0"/>
          </a:p>
        </p:txBody>
      </p:sp>
      <p:sp>
        <p:nvSpPr>
          <p:cNvPr id="18" name="Shape 16"/>
          <p:cNvSpPr/>
          <p:nvPr/>
        </p:nvSpPr>
        <p:spPr>
          <a:xfrm>
            <a:off x="320040" y="2578608"/>
            <a:ext cx="219456" cy="210312"/>
          </a:xfrm>
          <a:prstGeom prst="rect">
            <a:avLst/>
          </a:prstGeom>
          <a:solidFill>
            <a:srgbClr val="D1D5DB"/>
          </a:solidFill>
          <a:ln w="12700">
            <a:solidFill>
              <a:srgbClr val="D1D5DB"/>
            </a:solidFill>
            <a:prstDash val="solid"/>
          </a:ln>
        </p:spPr>
      </p:sp>
      <p:sp>
        <p:nvSpPr>
          <p:cNvPr id="19" name="Text 17"/>
          <p:cNvSpPr/>
          <p:nvPr/>
        </p:nvSpPr>
        <p:spPr>
          <a:xfrm>
            <a:off x="594360" y="2587752"/>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D) Kilwa's wealth derived primarily from agricultural production rather than trade.</a:t>
            </a:r>
            <a:endParaRPr lang="en-US" sz="950" dirty="0"/>
          </a:p>
        </p:txBody>
      </p:sp>
      <p:sp>
        <p:nvSpPr>
          <p:cNvPr id="20" name="Shape 18"/>
          <p:cNvSpPr/>
          <p:nvPr/>
        </p:nvSpPr>
        <p:spPr>
          <a:xfrm>
            <a:off x="182880" y="2926080"/>
            <a:ext cx="8778240" cy="1847088"/>
          </a:xfrm>
          <a:prstGeom prst="rect">
            <a:avLst/>
          </a:prstGeom>
          <a:solidFill>
            <a:srgbClr val="E3F0FF"/>
          </a:solidFill>
          <a:ln w="12700">
            <a:solidFill>
              <a:srgbClr val="C0D4F0"/>
            </a:solidFill>
            <a:prstDash val="solid"/>
          </a:ln>
        </p:spPr>
      </p:sp>
      <p:sp>
        <p:nvSpPr>
          <p:cNvPr id="21" name="Text 19"/>
          <p:cNvSpPr/>
          <p:nvPr/>
        </p:nvSpPr>
        <p:spPr>
          <a:xfrm>
            <a:off x="320040" y="2971800"/>
            <a:ext cx="8485632" cy="402336"/>
          </a:xfrm>
          <a:prstGeom prst="rect">
            <a:avLst/>
          </a:prstGeom>
          <a:noFill/>
          <a:ln/>
        </p:spPr>
        <p:txBody>
          <a:bodyPr wrap="square" lIns="0" tIns="0" rIns="0" bIns="0" rtlCol="0" anchor="t"/>
          <a:lstStyle/>
          <a:p>
            <a:pPr indent="0" marL="0">
              <a:buNone/>
            </a:pPr>
            <a:r>
              <a:rPr lang="en-US" sz="950" i="1" dirty="0">
                <a:solidFill>
                  <a:srgbClr val="374151"/>
                </a:solidFill>
                <a:latin typeface="Calibri" pitchFamily="34" charset="0"/>
                <a:ea typeface="Calibri" pitchFamily="34" charset="-122"/>
                <a:cs typeface="Calibri" pitchFamily="34" charset="-120"/>
              </a:rPr>
              <a:t>STIMULUS: "The king of Mali has supreme power over his people. He rules over a vast empire and commands an army of horsemen... The people show great devotion to learning the Quran by heart." -- Al-Umari, 14th century Arab scholar</a:t>
            </a:r>
            <a:endParaRPr lang="en-US" sz="950" dirty="0"/>
          </a:p>
        </p:txBody>
      </p:sp>
      <p:sp>
        <p:nvSpPr>
          <p:cNvPr id="22" name="Text 20"/>
          <p:cNvSpPr/>
          <p:nvPr/>
        </p:nvSpPr>
        <p:spPr>
          <a:xfrm>
            <a:off x="320040" y="3401568"/>
            <a:ext cx="8485632" cy="256032"/>
          </a:xfrm>
          <a:prstGeom prst="rect">
            <a:avLst/>
          </a:prstGeom>
          <a:noFill/>
          <a:ln/>
        </p:spPr>
        <p:txBody>
          <a:bodyPr wrap="square" lIns="0" tIns="0" rIns="0" bIns="0" rtlCol="0" anchor="ctr"/>
          <a:lstStyle/>
          <a:p>
            <a:pPr indent="0" marL="0">
              <a:buNone/>
            </a:pPr>
            <a:r>
              <a:rPr lang="en-US" sz="1000" b="1" dirty="0">
                <a:solidFill>
                  <a:srgbClr val="1A1A2E"/>
                </a:solidFill>
                <a:latin typeface="Calibri" pitchFamily="34" charset="0"/>
                <a:ea typeface="Calibri" pitchFamily="34" charset="-122"/>
                <a:cs typeface="Calibri" pitchFamily="34" charset="-120"/>
              </a:rPr>
              <a:t>Q2. The description of the Mali Empire above most directly illustrates which of the following?</a:t>
            </a:r>
            <a:endParaRPr lang="en-US" sz="1000" dirty="0"/>
          </a:p>
        </p:txBody>
      </p:sp>
      <p:sp>
        <p:nvSpPr>
          <p:cNvPr id="23" name="Shape 21"/>
          <p:cNvSpPr/>
          <p:nvPr/>
        </p:nvSpPr>
        <p:spPr>
          <a:xfrm>
            <a:off x="320040" y="3694176"/>
            <a:ext cx="219456" cy="210312"/>
          </a:xfrm>
          <a:prstGeom prst="rect">
            <a:avLst/>
          </a:prstGeom>
          <a:solidFill>
            <a:srgbClr val="D1D5DB"/>
          </a:solidFill>
          <a:ln w="12700">
            <a:solidFill>
              <a:srgbClr val="D1D5DB"/>
            </a:solidFill>
            <a:prstDash val="solid"/>
          </a:ln>
        </p:spPr>
      </p:sp>
      <p:sp>
        <p:nvSpPr>
          <p:cNvPr id="24" name="Text 22"/>
          <p:cNvSpPr/>
          <p:nvPr/>
        </p:nvSpPr>
        <p:spPr>
          <a:xfrm>
            <a:off x="594360" y="3703320"/>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A) Mali rulers derived their legitimacy solely from traditional African religious practices.</a:t>
            </a:r>
            <a:endParaRPr lang="en-US" sz="950" dirty="0"/>
          </a:p>
        </p:txBody>
      </p:sp>
      <p:sp>
        <p:nvSpPr>
          <p:cNvPr id="25" name="Shape 23"/>
          <p:cNvSpPr/>
          <p:nvPr/>
        </p:nvSpPr>
        <p:spPr>
          <a:xfrm>
            <a:off x="320040" y="3941064"/>
            <a:ext cx="219456" cy="210312"/>
          </a:xfrm>
          <a:prstGeom prst="rect">
            <a:avLst/>
          </a:prstGeom>
          <a:solidFill>
            <a:srgbClr val="1B5E3B"/>
          </a:solidFill>
          <a:ln w="12700">
            <a:solidFill>
              <a:srgbClr val="1B5E3B"/>
            </a:solidFill>
            <a:prstDash val="solid"/>
          </a:ln>
        </p:spPr>
      </p:sp>
      <p:sp>
        <p:nvSpPr>
          <p:cNvPr id="26" name="Text 24"/>
          <p:cNvSpPr/>
          <p:nvPr/>
        </p:nvSpPr>
        <p:spPr>
          <a:xfrm>
            <a:off x="594360" y="3950208"/>
            <a:ext cx="8275320" cy="210312"/>
          </a:xfrm>
          <a:prstGeom prst="rect">
            <a:avLst/>
          </a:prstGeom>
          <a:noFill/>
          <a:ln/>
        </p:spPr>
        <p:txBody>
          <a:bodyPr wrap="square" lIns="0" tIns="0" rIns="0" bIns="0" rtlCol="0" anchor="ctr"/>
          <a:lstStyle/>
          <a:p>
            <a:pPr indent="0" marL="0">
              <a:buNone/>
            </a:pPr>
            <a:r>
              <a:rPr lang="en-US" sz="950" b="1" dirty="0">
                <a:solidFill>
                  <a:srgbClr val="1B5E3B"/>
                </a:solidFill>
                <a:latin typeface="Calibri" pitchFamily="34" charset="0"/>
                <a:ea typeface="Calibri" pitchFamily="34" charset="-122"/>
                <a:cs typeface="Calibri" pitchFamily="34" charset="-120"/>
              </a:rPr>
              <a:t>B) The Mali Empire's power was based on both military strength and Islamic religious legitimacy.</a:t>
            </a:r>
            <a:endParaRPr lang="en-US" sz="950" dirty="0"/>
          </a:p>
        </p:txBody>
      </p:sp>
      <p:sp>
        <p:nvSpPr>
          <p:cNvPr id="27" name="Shape 25"/>
          <p:cNvSpPr/>
          <p:nvPr/>
        </p:nvSpPr>
        <p:spPr>
          <a:xfrm>
            <a:off x="320040" y="4187952"/>
            <a:ext cx="219456" cy="210312"/>
          </a:xfrm>
          <a:prstGeom prst="rect">
            <a:avLst/>
          </a:prstGeom>
          <a:solidFill>
            <a:srgbClr val="D1D5DB"/>
          </a:solidFill>
          <a:ln w="12700">
            <a:solidFill>
              <a:srgbClr val="D1D5DB"/>
            </a:solidFill>
            <a:prstDash val="solid"/>
          </a:ln>
        </p:spPr>
      </p:sp>
      <p:sp>
        <p:nvSpPr>
          <p:cNvPr id="28" name="Text 26"/>
          <p:cNvSpPr/>
          <p:nvPr/>
        </p:nvSpPr>
        <p:spPr>
          <a:xfrm>
            <a:off x="594360" y="4197096"/>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C) Islam had replaced all indigenous African practices throughout the Mali Empire by the 14th century.</a:t>
            </a:r>
            <a:endParaRPr lang="en-US" sz="950" dirty="0"/>
          </a:p>
        </p:txBody>
      </p:sp>
      <p:sp>
        <p:nvSpPr>
          <p:cNvPr id="29" name="Shape 27"/>
          <p:cNvSpPr/>
          <p:nvPr/>
        </p:nvSpPr>
        <p:spPr>
          <a:xfrm>
            <a:off x="320040" y="4434840"/>
            <a:ext cx="219456" cy="210312"/>
          </a:xfrm>
          <a:prstGeom prst="rect">
            <a:avLst/>
          </a:prstGeom>
          <a:solidFill>
            <a:srgbClr val="D1D5DB"/>
          </a:solidFill>
          <a:ln w="12700">
            <a:solidFill>
              <a:srgbClr val="D1D5DB"/>
            </a:solidFill>
            <a:prstDash val="solid"/>
          </a:ln>
        </p:spPr>
      </p:sp>
      <p:sp>
        <p:nvSpPr>
          <p:cNvPr id="30" name="Text 28"/>
          <p:cNvSpPr/>
          <p:nvPr/>
        </p:nvSpPr>
        <p:spPr>
          <a:xfrm>
            <a:off x="594360" y="4443984"/>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D) The Mali Empire was economically dependent on European trade partners for its wealth.</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AP Practice: Short Answer Question (SAQ)</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Ch.4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3-5 sentences per part. Back every claim with specific evidence -- names, dates, examples.</a:t>
            </a:r>
            <a:endParaRPr lang="en-US" sz="1000" dirty="0"/>
          </a:p>
        </p:txBody>
      </p:sp>
      <p:sp>
        <p:nvSpPr>
          <p:cNvPr id="9" name="Shape 7"/>
          <p:cNvSpPr/>
          <p:nvPr/>
        </p:nvSpPr>
        <p:spPr>
          <a:xfrm>
            <a:off x="182880" y="987552"/>
            <a:ext cx="8778240" cy="658368"/>
          </a:xfrm>
          <a:prstGeom prst="rect">
            <a:avLst/>
          </a:prstGeom>
          <a:solidFill>
            <a:srgbClr val="1B3A6B"/>
          </a:solidFill>
          <a:ln w="12700">
            <a:solidFill>
              <a:srgbClr val="1B3A6B"/>
            </a:solidFill>
            <a:prstDash val="solid"/>
          </a:ln>
        </p:spPr>
      </p:sp>
      <p:sp>
        <p:nvSpPr>
          <p:cNvPr id="10" name="Text 8"/>
          <p:cNvSpPr/>
          <p:nvPr/>
        </p:nvSpPr>
        <p:spPr>
          <a:xfrm>
            <a:off x="320040" y="1024128"/>
            <a:ext cx="1645920" cy="237744"/>
          </a:xfrm>
          <a:prstGeom prst="rect">
            <a:avLst/>
          </a:prstGeom>
          <a:noFill/>
          <a:ln/>
        </p:spPr>
        <p:txBody>
          <a:bodyPr wrap="square" lIns="0" tIns="0" rIns="0" bIns="0" rtlCol="0" anchor="ctr"/>
          <a:lstStyle/>
          <a:p>
            <a:pPr indent="0" marL="0">
              <a:buNone/>
            </a:pPr>
            <a:r>
              <a:rPr lang="en-US" sz="900" b="1" spc="200" kern="0" dirty="0">
                <a:solidFill>
                  <a:srgbClr val="E8C97A"/>
                </a:solidFill>
                <a:latin typeface="Trebuchet MS" pitchFamily="34" charset="0"/>
                <a:ea typeface="Trebuchet MS" pitchFamily="34" charset="-122"/>
                <a:cs typeface="Trebuchet MS" pitchFamily="34" charset="-120"/>
              </a:rPr>
              <a:t>SAQ PROMPT</a:t>
            </a:r>
            <a:endParaRPr lang="en-US" sz="900" dirty="0"/>
          </a:p>
        </p:txBody>
      </p:sp>
      <p:sp>
        <p:nvSpPr>
          <p:cNvPr id="11" name="Text 9"/>
          <p:cNvSpPr/>
          <p:nvPr/>
        </p:nvSpPr>
        <p:spPr>
          <a:xfrm>
            <a:off x="320040" y="1261872"/>
            <a:ext cx="8458200" cy="347472"/>
          </a:xfrm>
          <a:prstGeom prst="rect">
            <a:avLst/>
          </a:prstGeom>
          <a:noFill/>
          <a:ln/>
        </p:spPr>
        <p:txBody>
          <a:bodyPr wrap="square" lIns="0" tIns="0" rIns="0" bIns="0" rtlCol="0" anchor="t"/>
          <a:lstStyle/>
          <a:p>
            <a:pPr indent="0" marL="0">
              <a:buNone/>
            </a:pPr>
            <a:r>
              <a:rPr lang="en-US" sz="1000" i="1" dirty="0">
                <a:solidFill>
                  <a:srgbClr val="FFFFFF"/>
                </a:solidFill>
                <a:latin typeface="Calibri" pitchFamily="34" charset="0"/>
                <a:ea typeface="Calibri" pitchFamily="34" charset="-122"/>
                <a:cs typeface="Calibri" pitchFamily="34" charset="-120"/>
              </a:rPr>
              <a:t>Use the following argument: "African states in the period 1200-1450 were not isolated from global networks but were deeply integrated into interregional trade systems that shaped their political development, cultural forms, and religious identities."</a:t>
            </a:r>
            <a:endParaRPr lang="en-US" sz="1000" dirty="0"/>
          </a:p>
        </p:txBody>
      </p:sp>
      <p:sp>
        <p:nvSpPr>
          <p:cNvPr id="12" name="Shape 10"/>
          <p:cNvSpPr/>
          <p:nvPr/>
        </p:nvSpPr>
        <p:spPr>
          <a:xfrm>
            <a:off x="182880" y="1737360"/>
            <a:ext cx="2834640" cy="3035808"/>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3" name="Shape 11"/>
          <p:cNvSpPr/>
          <p:nvPr/>
        </p:nvSpPr>
        <p:spPr>
          <a:xfrm>
            <a:off x="182880" y="1737360"/>
            <a:ext cx="2834640" cy="320040"/>
          </a:xfrm>
          <a:prstGeom prst="rect">
            <a:avLst/>
          </a:prstGeom>
          <a:solidFill>
            <a:srgbClr val="7B5A2E"/>
          </a:solidFill>
          <a:ln w="12700">
            <a:solidFill>
              <a:srgbClr val="7B5A2E"/>
            </a:solidFill>
            <a:prstDash val="solid"/>
          </a:ln>
        </p:spPr>
      </p:sp>
      <p:sp>
        <p:nvSpPr>
          <p:cNvPr id="14" name="Text 12"/>
          <p:cNvSpPr/>
          <p:nvPr/>
        </p:nvSpPr>
        <p:spPr>
          <a:xfrm>
            <a:off x="256032" y="1737360"/>
            <a:ext cx="2743200" cy="320040"/>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PART A</a:t>
            </a:r>
            <a:endParaRPr lang="en-US" sz="1100" dirty="0"/>
          </a:p>
        </p:txBody>
      </p:sp>
      <p:sp>
        <p:nvSpPr>
          <p:cNvPr id="15" name="Text 13"/>
          <p:cNvSpPr/>
          <p:nvPr/>
        </p:nvSpPr>
        <p:spPr>
          <a:xfrm>
            <a:off x="274320" y="2103120"/>
            <a:ext cx="2651760" cy="658368"/>
          </a:xfrm>
          <a:prstGeom prst="rect">
            <a:avLst/>
          </a:prstGeom>
          <a:noFill/>
          <a:ln/>
        </p:spPr>
        <p:txBody>
          <a:bodyPr wrap="square" lIns="0" tIns="0" rIns="0" bIns="0" rtlCol="0" anchor="t"/>
          <a:lstStyle/>
          <a:p>
            <a:pPr indent="0" marL="0">
              <a:buNone/>
            </a:pPr>
            <a:r>
              <a:rPr lang="en-US" sz="1000" b="1" dirty="0">
                <a:solidFill>
                  <a:srgbClr val="1A1A2E"/>
                </a:solidFill>
                <a:latin typeface="Calibri" pitchFamily="34" charset="0"/>
                <a:ea typeface="Calibri" pitchFamily="34" charset="-122"/>
                <a:cs typeface="Calibri" pitchFamily="34" charset="-120"/>
              </a:rPr>
              <a:t>Explain ONE way an African state in this period was connected to a major interregional trade network.</a:t>
            </a:r>
            <a:endParaRPr lang="en-US" sz="1000" dirty="0"/>
          </a:p>
        </p:txBody>
      </p:sp>
      <p:sp>
        <p:nvSpPr>
          <p:cNvPr id="16" name="Text 14"/>
          <p:cNvSpPr/>
          <p:nvPr/>
        </p:nvSpPr>
        <p:spPr>
          <a:xfrm>
            <a:off x="274320" y="2798064"/>
            <a:ext cx="2651760" cy="228600"/>
          </a:xfrm>
          <a:prstGeom prst="rect">
            <a:avLst/>
          </a:prstGeom>
          <a:noFill/>
          <a:ln/>
        </p:spPr>
        <p:txBody>
          <a:bodyPr wrap="square" lIns="0" tIns="0" rIns="0" bIns="0" rtlCol="0" anchor="ctr"/>
          <a:lstStyle/>
          <a:p>
            <a:pPr indent="0" marL="0">
              <a:buNone/>
            </a:pPr>
            <a:r>
              <a:rPr lang="en-US" sz="900" b="1" dirty="0">
                <a:solidFill>
                  <a:srgbClr val="7B5A2E"/>
                </a:solidFill>
                <a:latin typeface="Trebuchet MS" pitchFamily="34" charset="0"/>
                <a:ea typeface="Trebuchet MS" pitchFamily="34" charset="-122"/>
                <a:cs typeface="Trebuchet MS" pitchFamily="34" charset="-120"/>
              </a:rPr>
              <a:t>A top response includes:</a:t>
            </a:r>
            <a:endParaRPr lang="en-US" sz="900" dirty="0"/>
          </a:p>
        </p:txBody>
      </p:sp>
      <p:sp>
        <p:nvSpPr>
          <p:cNvPr id="17" name="Text 15"/>
          <p:cNvSpPr/>
          <p:nvPr/>
        </p:nvSpPr>
        <p:spPr>
          <a:xfrm>
            <a:off x="274320" y="3035808"/>
            <a:ext cx="2651760" cy="162763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Mali controls trans-Saharan gold-salt trade / Kilwa controls Indian Ocean gold trade from Zimbabwe / Ethiopian Christian kingdom traded via Red Sea / Swahili cities export ivory and enslaved people to Indian Ocean</a:t>
            </a:r>
            <a:endParaRPr lang="en-US" sz="950" dirty="0"/>
          </a:p>
        </p:txBody>
      </p:sp>
      <p:sp>
        <p:nvSpPr>
          <p:cNvPr id="18" name="Shape 16"/>
          <p:cNvSpPr/>
          <p:nvPr/>
        </p:nvSpPr>
        <p:spPr>
          <a:xfrm>
            <a:off x="3154680" y="1737360"/>
            <a:ext cx="2834640" cy="3035808"/>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9" name="Shape 17"/>
          <p:cNvSpPr/>
          <p:nvPr/>
        </p:nvSpPr>
        <p:spPr>
          <a:xfrm>
            <a:off x="3154680" y="1737360"/>
            <a:ext cx="2834640" cy="320040"/>
          </a:xfrm>
          <a:prstGeom prst="rect">
            <a:avLst/>
          </a:prstGeom>
          <a:solidFill>
            <a:srgbClr val="2A5298"/>
          </a:solidFill>
          <a:ln w="12700">
            <a:solidFill>
              <a:srgbClr val="2A5298"/>
            </a:solidFill>
            <a:prstDash val="solid"/>
          </a:ln>
        </p:spPr>
      </p:sp>
      <p:sp>
        <p:nvSpPr>
          <p:cNvPr id="20" name="Text 18"/>
          <p:cNvSpPr/>
          <p:nvPr/>
        </p:nvSpPr>
        <p:spPr>
          <a:xfrm>
            <a:off x="3227832" y="1737360"/>
            <a:ext cx="2743200" cy="320040"/>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PART B</a:t>
            </a:r>
            <a:endParaRPr lang="en-US" sz="1100" dirty="0"/>
          </a:p>
        </p:txBody>
      </p:sp>
      <p:sp>
        <p:nvSpPr>
          <p:cNvPr id="21" name="Text 19"/>
          <p:cNvSpPr/>
          <p:nvPr/>
        </p:nvSpPr>
        <p:spPr>
          <a:xfrm>
            <a:off x="3246120" y="2103120"/>
            <a:ext cx="2651760" cy="658368"/>
          </a:xfrm>
          <a:prstGeom prst="rect">
            <a:avLst/>
          </a:prstGeom>
          <a:noFill/>
          <a:ln/>
        </p:spPr>
        <p:txBody>
          <a:bodyPr wrap="square" lIns="0" tIns="0" rIns="0" bIns="0" rtlCol="0" anchor="t"/>
          <a:lstStyle/>
          <a:p>
            <a:pPr indent="0" marL="0">
              <a:buNone/>
            </a:pPr>
            <a:r>
              <a:rPr lang="en-US" sz="1000" b="1" dirty="0">
                <a:solidFill>
                  <a:srgbClr val="1A1A2E"/>
                </a:solidFill>
                <a:latin typeface="Calibri" pitchFamily="34" charset="0"/>
                <a:ea typeface="Calibri" pitchFamily="34" charset="-122"/>
                <a:cs typeface="Calibri" pitchFamily="34" charset="-120"/>
              </a:rPr>
              <a:t>Explain ONE way trade connections shaped the political or cultural development of an African state.</a:t>
            </a:r>
            <a:endParaRPr lang="en-US" sz="1000" dirty="0"/>
          </a:p>
        </p:txBody>
      </p:sp>
      <p:sp>
        <p:nvSpPr>
          <p:cNvPr id="22" name="Text 20"/>
          <p:cNvSpPr/>
          <p:nvPr/>
        </p:nvSpPr>
        <p:spPr>
          <a:xfrm>
            <a:off x="3246120" y="2798064"/>
            <a:ext cx="2651760" cy="228600"/>
          </a:xfrm>
          <a:prstGeom prst="rect">
            <a:avLst/>
          </a:prstGeom>
          <a:noFill/>
          <a:ln/>
        </p:spPr>
        <p:txBody>
          <a:bodyPr wrap="square" lIns="0" tIns="0" rIns="0" bIns="0" rtlCol="0" anchor="ctr"/>
          <a:lstStyle/>
          <a:p>
            <a:pPr indent="0" marL="0">
              <a:buNone/>
            </a:pPr>
            <a:r>
              <a:rPr lang="en-US" sz="900" b="1" dirty="0">
                <a:solidFill>
                  <a:srgbClr val="2A5298"/>
                </a:solidFill>
                <a:latin typeface="Trebuchet MS" pitchFamily="34" charset="0"/>
                <a:ea typeface="Trebuchet MS" pitchFamily="34" charset="-122"/>
                <a:cs typeface="Trebuchet MS" pitchFamily="34" charset="-120"/>
              </a:rPr>
              <a:t>A top response includes:</a:t>
            </a:r>
            <a:endParaRPr lang="en-US" sz="900" dirty="0"/>
          </a:p>
        </p:txBody>
      </p:sp>
      <p:sp>
        <p:nvSpPr>
          <p:cNvPr id="23" name="Text 21"/>
          <p:cNvSpPr/>
          <p:nvPr/>
        </p:nvSpPr>
        <p:spPr>
          <a:xfrm>
            <a:off x="3246120" y="3035808"/>
            <a:ext cx="2651760" cy="162763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Trans-Saharan trade brought Islam to Mali rulers / Mansa Musa's hajj connected Mali to wider Islamic world / Gold wealth enabled Mansa Musa to build mosques and bring scholars / Kilwa's Islamic culture reflects Indian Ocean merchant influence</a:t>
            </a:r>
            <a:endParaRPr lang="en-US" sz="950" dirty="0"/>
          </a:p>
        </p:txBody>
      </p:sp>
      <p:sp>
        <p:nvSpPr>
          <p:cNvPr id="24" name="Shape 22"/>
          <p:cNvSpPr/>
          <p:nvPr/>
        </p:nvSpPr>
        <p:spPr>
          <a:xfrm>
            <a:off x="6126480" y="1737360"/>
            <a:ext cx="2834640" cy="3035808"/>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5" name="Shape 23"/>
          <p:cNvSpPr/>
          <p:nvPr/>
        </p:nvSpPr>
        <p:spPr>
          <a:xfrm>
            <a:off x="6126480" y="1737360"/>
            <a:ext cx="2834640" cy="320040"/>
          </a:xfrm>
          <a:prstGeom prst="rect">
            <a:avLst/>
          </a:prstGeom>
          <a:solidFill>
            <a:srgbClr val="1B5E3B"/>
          </a:solidFill>
          <a:ln w="12700">
            <a:solidFill>
              <a:srgbClr val="1B5E3B"/>
            </a:solidFill>
            <a:prstDash val="solid"/>
          </a:ln>
        </p:spPr>
      </p:sp>
      <p:sp>
        <p:nvSpPr>
          <p:cNvPr id="26" name="Text 24"/>
          <p:cNvSpPr/>
          <p:nvPr/>
        </p:nvSpPr>
        <p:spPr>
          <a:xfrm>
            <a:off x="6199632" y="1737360"/>
            <a:ext cx="2743200" cy="320040"/>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PART C</a:t>
            </a:r>
            <a:endParaRPr lang="en-US" sz="1100" dirty="0"/>
          </a:p>
        </p:txBody>
      </p:sp>
      <p:sp>
        <p:nvSpPr>
          <p:cNvPr id="27" name="Text 25"/>
          <p:cNvSpPr/>
          <p:nvPr/>
        </p:nvSpPr>
        <p:spPr>
          <a:xfrm>
            <a:off x="6217920" y="2103120"/>
            <a:ext cx="2651760" cy="658368"/>
          </a:xfrm>
          <a:prstGeom prst="rect">
            <a:avLst/>
          </a:prstGeom>
          <a:noFill/>
          <a:ln/>
        </p:spPr>
        <p:txBody>
          <a:bodyPr wrap="square" lIns="0" tIns="0" rIns="0" bIns="0" rtlCol="0" anchor="t"/>
          <a:lstStyle/>
          <a:p>
            <a:pPr indent="0" marL="0">
              <a:buNone/>
            </a:pPr>
            <a:r>
              <a:rPr lang="en-US" sz="1000" b="1" dirty="0">
                <a:solidFill>
                  <a:srgbClr val="1A1A2E"/>
                </a:solidFill>
                <a:latin typeface="Calibri" pitchFamily="34" charset="0"/>
                <a:ea typeface="Calibri" pitchFamily="34" charset="-122"/>
                <a:cs typeface="Calibri" pitchFamily="34" charset="-120"/>
              </a:rPr>
              <a:t>Explain ONE African example that CHALLENGES the argument that all African states were deeply connected to global networks.</a:t>
            </a:r>
            <a:endParaRPr lang="en-US" sz="1000" dirty="0"/>
          </a:p>
        </p:txBody>
      </p:sp>
      <p:sp>
        <p:nvSpPr>
          <p:cNvPr id="28" name="Text 26"/>
          <p:cNvSpPr/>
          <p:nvPr/>
        </p:nvSpPr>
        <p:spPr>
          <a:xfrm>
            <a:off x="6217920" y="2798064"/>
            <a:ext cx="2651760" cy="228600"/>
          </a:xfrm>
          <a:prstGeom prst="rect">
            <a:avLst/>
          </a:prstGeom>
          <a:noFill/>
          <a:ln/>
        </p:spPr>
        <p:txBody>
          <a:bodyPr wrap="square" lIns="0" tIns="0" rIns="0" bIns="0" rtlCol="0" anchor="ctr"/>
          <a:lstStyle/>
          <a:p>
            <a:pPr indent="0" marL="0">
              <a:buNone/>
            </a:pPr>
            <a:r>
              <a:rPr lang="en-US" sz="900" b="1" dirty="0">
                <a:solidFill>
                  <a:srgbClr val="1B5E3B"/>
                </a:solidFill>
                <a:latin typeface="Trebuchet MS" pitchFamily="34" charset="0"/>
                <a:ea typeface="Trebuchet MS" pitchFamily="34" charset="-122"/>
                <a:cs typeface="Trebuchet MS" pitchFamily="34" charset="-120"/>
              </a:rPr>
              <a:t>A top response includes:</a:t>
            </a:r>
            <a:endParaRPr lang="en-US" sz="900" dirty="0"/>
          </a:p>
        </p:txBody>
      </p:sp>
      <p:sp>
        <p:nvSpPr>
          <p:cNvPr id="29" name="Text 27"/>
          <p:cNvSpPr/>
          <p:nvPr/>
        </p:nvSpPr>
        <p:spPr>
          <a:xfrm>
            <a:off x="6217920" y="3035808"/>
            <a:ext cx="2651760" cy="162763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Great Zimbabwe: built and flourished without Islamic or external cultural influence / Stateless societies in sub-Saharan Africa had little direct contact with trans-Saharan or Indian Ocean networks / Ethiopia maintained Christian identity separate from Islamic world</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Connections: How Chapter 4 Fits the AP Arc</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Ch.4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Use these links to write stronger comparative essays and CCOT arguments</a:t>
            </a:r>
            <a:endParaRPr lang="en-US" sz="1000" dirty="0"/>
          </a:p>
        </p:txBody>
      </p:sp>
      <p:sp>
        <p:nvSpPr>
          <p:cNvPr id="9" name="Shape 7"/>
          <p:cNvSpPr/>
          <p:nvPr/>
        </p:nvSpPr>
        <p:spPr>
          <a:xfrm>
            <a:off x="182880" y="987552"/>
            <a:ext cx="2834640" cy="347472"/>
          </a:xfrm>
          <a:prstGeom prst="rect">
            <a:avLst/>
          </a:prstGeom>
          <a:solidFill>
            <a:srgbClr val="2A5298"/>
          </a:solidFill>
          <a:ln w="12700">
            <a:solidFill>
              <a:srgbClr val="2A5298"/>
            </a:solidFill>
            <a:prstDash val="solid"/>
          </a:ln>
        </p:spPr>
      </p:sp>
      <p:sp>
        <p:nvSpPr>
          <p:cNvPr id="10" name="Text 8"/>
          <p:cNvSpPr/>
          <p:nvPr/>
        </p:nvSpPr>
        <p:spPr>
          <a:xfrm>
            <a:off x="256032" y="987552"/>
            <a:ext cx="2715768" cy="347472"/>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 BUILT ON (Earlier)</a:t>
            </a:r>
            <a:endParaRPr lang="en-US" sz="1000" dirty="0"/>
          </a:p>
        </p:txBody>
      </p:sp>
      <p:sp>
        <p:nvSpPr>
          <p:cNvPr id="11" name="Shape 9"/>
          <p:cNvSpPr/>
          <p:nvPr/>
        </p:nvSpPr>
        <p:spPr>
          <a:xfrm>
            <a:off x="182880" y="1335024"/>
            <a:ext cx="2834640" cy="3383280"/>
          </a:xfrm>
          <a:prstGeom prst="rect">
            <a:avLst/>
          </a:prstGeom>
          <a:solidFill>
            <a:srgbClr val="E3F0FF"/>
          </a:solidFill>
          <a:ln w="12700">
            <a:solidFill>
              <a:srgbClr val="2A5298"/>
            </a:solidFill>
            <a:prstDash val="solid"/>
          </a:ln>
        </p:spPr>
      </p:sp>
      <p:sp>
        <p:nvSpPr>
          <p:cNvPr id="12" name="Text 10"/>
          <p:cNvSpPr/>
          <p:nvPr/>
        </p:nvSpPr>
        <p:spPr>
          <a:xfrm>
            <a:off x="292608" y="1408176"/>
            <a:ext cx="2624328" cy="3236976"/>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Ancient Ghana Empire (predecessor to Mali) controlled gold trade</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Aksumite kingdom (Ethiopia) was one of the ancient world's great powers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Indian Ocean trade routes between Arabia and East Africa predate 1200</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Bantu migrations spread agriculture and iron-working across sub-Saharan Africa</a:t>
            </a:r>
            <a:endParaRPr lang="en-US" sz="1050" dirty="0"/>
          </a:p>
        </p:txBody>
      </p:sp>
      <p:sp>
        <p:nvSpPr>
          <p:cNvPr id="13" name="Shape 11"/>
          <p:cNvSpPr/>
          <p:nvPr/>
        </p:nvSpPr>
        <p:spPr>
          <a:xfrm>
            <a:off x="3136392" y="987552"/>
            <a:ext cx="2834640" cy="347472"/>
          </a:xfrm>
          <a:prstGeom prst="rect">
            <a:avLst/>
          </a:prstGeom>
          <a:solidFill>
            <a:srgbClr val="1B5E3B"/>
          </a:solidFill>
          <a:ln w="12700">
            <a:solidFill>
              <a:srgbClr val="1B5E3B"/>
            </a:solidFill>
            <a:prstDash val="solid"/>
          </a:ln>
        </p:spPr>
      </p:sp>
      <p:sp>
        <p:nvSpPr>
          <p:cNvPr id="14" name="Text 12"/>
          <p:cNvSpPr/>
          <p:nvPr/>
        </p:nvSpPr>
        <p:spPr>
          <a:xfrm>
            <a:off x="3209544" y="987552"/>
            <a:ext cx="2715768" cy="347472"/>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 SETS UP (Later Chapters)</a:t>
            </a:r>
            <a:endParaRPr lang="en-US" sz="1000" dirty="0"/>
          </a:p>
        </p:txBody>
      </p:sp>
      <p:sp>
        <p:nvSpPr>
          <p:cNvPr id="15" name="Shape 13"/>
          <p:cNvSpPr/>
          <p:nvPr/>
        </p:nvSpPr>
        <p:spPr>
          <a:xfrm>
            <a:off x="3136392" y="1335024"/>
            <a:ext cx="2834640" cy="3383280"/>
          </a:xfrm>
          <a:prstGeom prst="rect">
            <a:avLst/>
          </a:prstGeom>
          <a:solidFill>
            <a:srgbClr val="E8F5EE"/>
          </a:solidFill>
          <a:ln w="12700">
            <a:solidFill>
              <a:srgbClr val="1B5E3B"/>
            </a:solidFill>
            <a:prstDash val="solid"/>
          </a:ln>
        </p:spPr>
      </p:sp>
      <p:sp>
        <p:nvSpPr>
          <p:cNvPr id="16" name="Text 14"/>
          <p:cNvSpPr/>
          <p:nvPr/>
        </p:nvSpPr>
        <p:spPr>
          <a:xfrm>
            <a:off x="3246120" y="1408176"/>
            <a:ext cx="2624328" cy="3236976"/>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Songhai Empire rises after Mali's decline (after 1450)</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Portuguese arrive on West African coast (1400s) -- seeking gold sources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Atlantic slave trade begins to transform West African societies (Unit 3)</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East African Swahili coast becomes target of Portuguese in Indian Ocean (Unit 3)</a:t>
            </a:r>
            <a:endParaRPr lang="en-US" sz="1050" dirty="0"/>
          </a:p>
        </p:txBody>
      </p:sp>
      <p:sp>
        <p:nvSpPr>
          <p:cNvPr id="17" name="Shape 15"/>
          <p:cNvSpPr/>
          <p:nvPr/>
        </p:nvSpPr>
        <p:spPr>
          <a:xfrm>
            <a:off x="6089904" y="987552"/>
            <a:ext cx="2834640" cy="347472"/>
          </a:xfrm>
          <a:prstGeom prst="rect">
            <a:avLst/>
          </a:prstGeom>
          <a:solidFill>
            <a:srgbClr val="4B2D8A"/>
          </a:solidFill>
          <a:ln w="12700">
            <a:solidFill>
              <a:srgbClr val="4B2D8A"/>
            </a:solidFill>
            <a:prstDash val="solid"/>
          </a:ln>
        </p:spPr>
      </p:sp>
      <p:sp>
        <p:nvSpPr>
          <p:cNvPr id="18" name="Text 16"/>
          <p:cNvSpPr/>
          <p:nvPr/>
        </p:nvSpPr>
        <p:spPr>
          <a:xfrm>
            <a:off x="6163056" y="987552"/>
            <a:ext cx="2715768" cy="347472"/>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 COMPARE WITH</a:t>
            </a:r>
            <a:endParaRPr lang="en-US" sz="1000" dirty="0"/>
          </a:p>
        </p:txBody>
      </p:sp>
      <p:sp>
        <p:nvSpPr>
          <p:cNvPr id="19" name="Shape 17"/>
          <p:cNvSpPr/>
          <p:nvPr/>
        </p:nvSpPr>
        <p:spPr>
          <a:xfrm>
            <a:off x="6089904" y="1335024"/>
            <a:ext cx="2834640" cy="3383280"/>
          </a:xfrm>
          <a:prstGeom prst="rect">
            <a:avLst/>
          </a:prstGeom>
          <a:solidFill>
            <a:srgbClr val="EDE8F5"/>
          </a:solidFill>
          <a:ln w="12700">
            <a:solidFill>
              <a:srgbClr val="4B2D8A"/>
            </a:solidFill>
            <a:prstDash val="solid"/>
          </a:ln>
        </p:spPr>
      </p:sp>
      <p:sp>
        <p:nvSpPr>
          <p:cNvPr id="20" name="Text 18"/>
          <p:cNvSpPr/>
          <p:nvPr/>
        </p:nvSpPr>
        <p:spPr>
          <a:xfrm>
            <a:off x="6199632" y="1408176"/>
            <a:ext cx="2624328" cy="3236976"/>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2: Dar al-Islam -- Swahili Coast is eastern end; trans-Saharan connects to Islamic world</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3: Swahili Coast and Malacca -- both Islamic entrepots on major ocean trade routes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1: Chinese porcelain found in Swahili ruins -- same Indian Ocean trade connecting all regions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5: Mali vs. Aztec tribute systems -- compare how empires extract wealth</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State Building in Africa (1200-1450)</dc:title>
  <dc:subject>PptxGenJS Presentation</dc:subject>
  <dc:creator>PptxGenJS</dc:creator>
  <cp:lastModifiedBy>PptxGenJS</cp:lastModifiedBy>
  <cp:revision>1</cp:revision>
  <dcterms:created xsi:type="dcterms:W3CDTF">2026-05-10T12:39:29Z</dcterms:created>
  <dcterms:modified xsi:type="dcterms:W3CDTF">2026-05-10T12:39:29Z</dcterms:modified>
</cp:coreProperties>
</file>