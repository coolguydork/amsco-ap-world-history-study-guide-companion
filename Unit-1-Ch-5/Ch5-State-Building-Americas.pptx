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73152" cy="514350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2A1545"/>
          </a:solidFill>
          <a:ln w="12700">
            <a:solidFill>
              <a:srgbClr val="2A1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120A20"/>
          </a:solidFill>
          <a:ln w="12700">
            <a:solidFill>
              <a:srgbClr val="120A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 WORLD HISTORY: MODERN  ·  UNIT 1  ·  PERIOD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161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572768"/>
            <a:ext cx="5943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Building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Americas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1200-1450  |  Aztec Empire · Inca Empire · Maya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73152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221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1: THE GLOBAL TAPESTRY  ·  Mesoamerica · Andean South America · North America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1463040" cy="347472"/>
          </a:xfrm>
          <a:prstGeom prst="rect">
            <a:avLst/>
          </a:prstGeom>
          <a:solidFill>
            <a:srgbClr val="2A154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Empire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59152" y="4187952"/>
            <a:ext cx="1463040" cy="347472"/>
          </a:xfrm>
          <a:prstGeom prst="rect">
            <a:avLst/>
          </a:prstGeom>
          <a:solidFill>
            <a:srgbClr val="2A154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Empire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41064" y="4187952"/>
            <a:ext cx="1463040" cy="347472"/>
          </a:xfrm>
          <a:prstGeom prst="rect">
            <a:avLst/>
          </a:prstGeom>
          <a:solidFill>
            <a:srgbClr val="2A154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Tenochtitlan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22976" y="4187952"/>
            <a:ext cx="1463040" cy="347472"/>
          </a:xfrm>
          <a:prstGeom prst="rect">
            <a:avLst/>
          </a:prstGeom>
          <a:solidFill>
            <a:srgbClr val="2A154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Machu Picchu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04888" y="4187952"/>
            <a:ext cx="1463040" cy="347472"/>
          </a:xfrm>
          <a:prstGeom prst="rect">
            <a:avLst/>
          </a:prstGeom>
          <a:solidFill>
            <a:srgbClr val="2A154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4888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Quipu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03504"/>
          </a:xfrm>
          <a:prstGeom prst="rect">
            <a:avLst/>
          </a:prstGeom>
          <a:solidFill>
            <a:srgbClr val="C8853A"/>
          </a:solidFill>
          <a:ln w="12700">
            <a:solidFill>
              <a:srgbClr val="C88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Picture &amp; Learning Objectives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 · Period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Unit 1: The Global Tapestry  ·  Period 1  ·  1200-1450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8778240" cy="1188720"/>
          </a:xfrm>
          <a:prstGeom prst="rect">
            <a:avLst/>
          </a:prstGeom>
          <a:solidFill>
            <a:srgbClr val="4B2D8A"/>
          </a:solidFill>
          <a:ln w="12700">
            <a:solidFill>
              <a:srgbClr val="4B2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795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PICTURE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05156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Americas developed two of history's greatest empires in COMPLETE ISOLATION from Eurasia -- no contact, no borrowed technology, no shared disease. The Aztec Empire built a tribute state with a population rivaling the largest Eurasian cities; the Inca Empire governed 10 million people across 2,500 miles of coastline without writing or wheeled vehicles. These are among the most remarkable examples of independent human achievement in history.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" y="20756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2395728"/>
            <a:ext cx="50749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and why the Aztec and Inca empires developed and expanded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diversity of state structures in the pre-Columbian Americas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role of religion, tribute, and technology in American state formation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continuity in Mesoamerican civilization from the Maya through the Aztec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075688"/>
            <a:ext cx="0" cy="2624328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075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 KEY CONCEPTS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2395728"/>
            <a:ext cx="342900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KC-1.2.II -- American states used religious ideology to legitimize authority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KC-1.3.III -- Regional networks of exchange connected American civilizations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KC-2.1.I -- Large-scale state building in Americas mirrors global patterns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KC-1.2.IV -- American states developed complex tribute and redistribution systems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03504"/>
          </a:xfrm>
          <a:prstGeom prst="rect">
            <a:avLst/>
          </a:prstGeom>
          <a:solidFill>
            <a:srgbClr val="C8853A"/>
          </a:solidFill>
          <a:ln w="12700">
            <a:solidFill>
              <a:srgbClr val="C88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Side-by-Side: Aztec vs. Inca Empires -- The #1 AP Comparison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 · Period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Unit 1: The Global Tapestry  ·  Period 1  ·  1200-1450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7040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comparison is one of the most tested AP topics in Unit 1 -- master every row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3767328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3657600"/>
              </a:tblGrid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Category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AZTEC (Mexica) EMPIRE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INCA EMPIRE (Tawantinsuyu)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298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Location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Valley of Mexico (Mesoamerica); capital: Tenochtitlan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 coast of South America; capital: Cusco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Founded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~1325 (Tenochtitlan); empire from 1427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~1438 under Pachacuti's conquests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Size at Peak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~5-6 million people; central Mexico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million people; 2,500 miles of coastline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How They Got Wealth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TRIBUTE: extracted goods (food, textiles, gold) from conquered peoples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MIT'A: extracted LABOR from subjects; state owned all resources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Administration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-- left local rulers in place; only demanded tribute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-- road network, provincial governors, state storehouses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Writing System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Pictographic/ideographic writing; ritual calendar kept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writing -- used QUIPU (knotted strings) for record-keeping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Technology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Chinampas (floating gardens); causeways; aqueducts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25,000-mile road network; rope bridges; terraced agriculture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Religion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sacrifice required to sustain the sun (Huitzilopochtli)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Ancestor veneration; Sapa Inca = son of the sun god Inti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F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Why It Fell</a:t>
                      </a:r>
                      <a:endParaRPr lang="en-US" sz="9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Resentful tributary peoples allied with Spanish (1521)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pox + Spanish military + civil war (1532)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03504"/>
          </a:xfrm>
          <a:prstGeom prst="rect">
            <a:avLst/>
          </a:prstGeom>
          <a:solidFill>
            <a:srgbClr val="C8853A"/>
          </a:solidFill>
          <a:ln w="12700">
            <a:solidFill>
              <a:srgbClr val="C88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Terms: The Aztec (Mexica) Empire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 · Period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Unit 1: The Global Tapestry  ·  Period 1  ·  1200-1450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7040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terms AND the AP significance of each -- especially tribute, sacrifice, and social structure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005840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005840"/>
            <a:ext cx="64008" cy="1554480"/>
          </a:xfrm>
          <a:prstGeom prst="rect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06070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Tenochtitlan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132588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of the Aztec Empire built on an island in Lake Texcoco; population 200,000-300,000 by 1500 -- one of the world's largest cities.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2194560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2212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scale of Aztec urban achievement astonished Spanish conquerors. Built on artificial islands (chinampas) with causeways and aqueducts.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36392" y="1005840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36392" y="1005840"/>
            <a:ext cx="64008" cy="1554480"/>
          </a:xfrm>
          <a:prstGeom prst="rect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06070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Triple Alliance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55264" y="132588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union between the Mexica (Aztec), Texcoco, and Tlacopan -- the foundation of the Aztec Empire.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36392" y="2194560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2212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Aztec Empire was a confederation, not a unified state -- explains why it was vulnerable when conquered peoples allied with Spanish.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89904" y="1005840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005840"/>
            <a:ext cx="64008" cy="1554480"/>
          </a:xfrm>
          <a:prstGeom prst="rect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06070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Tribute System (Aztec)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08776" y="132588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Conquered peoples required to provide regular payments of goods (food, textiles, cacao, gold, enslaved people) to Tenochtitlan.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2194560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2212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EXTRACTIVE, not mutual -- conquered peoples deeply resented it. Contrast with Chinese tribute system (mutual exchange, symbolic).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2679192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2679192"/>
            <a:ext cx="64008" cy="1554480"/>
          </a:xfrm>
          <a:prstGeom prst="rect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27340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Huitzilopochtli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" y="2999232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sun god requiring regular human sacrifice to sustain the sun's daily journey; patron deity of the Mexica.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3867912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Human sacrifice was central to Aztec state ideology -- the 'Flower Wars' were fought specifically to capture victims, not territory.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36392" y="2679192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36392" y="2679192"/>
            <a:ext cx="64008" cy="1554480"/>
          </a:xfrm>
          <a:prstGeom prst="rect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5264" y="27340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Flower Wars (Xochiyaoyotl)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55264" y="2999232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Ritualized battles with neighboring states fought primarily to capture warriors for sacrifice rather than to conquer territory.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36392" y="3867912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55264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Shows how Aztec religious ideology shaped military strategy. Also shows why some states remained permanently hostile to Aztec rule.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89904" y="2679192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9904" y="2679192"/>
            <a:ext cx="64008" cy="1554480"/>
          </a:xfrm>
          <a:prstGeom prst="rect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08776" y="27340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Calpulli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08776" y="2999232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Aztec social unit -- a clan-based community with shared land, temples, and schools; the building block of Aztec social organization.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9904" y="3867912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08776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Demonstrates complexity below the imperial level. Compare with Inca ayllu (kinship group) as the equivalent basic social unit.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03504"/>
          </a:xfrm>
          <a:prstGeom prst="rect">
            <a:avLst/>
          </a:prstGeom>
          <a:solidFill>
            <a:srgbClr val="C8853A"/>
          </a:solidFill>
          <a:ln w="12700">
            <a:solidFill>
              <a:srgbClr val="C88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Terms: The Inca Empire (Tawantinsuyu)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 · Period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Unit 1: The Global Tapestry  ·  Period 1  ·  1200-1450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7040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Inca are remarkable for what they DIDN'T have -- and what they achieved WITHOUT 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005840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005840"/>
            <a:ext cx="64008" cy="155448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06070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Tawantinsuyu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132588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Inca name for their empire -- means 'Four Quarters of the World.' Stretched 2,500 miles along South America's Pacific coast.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2194560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2212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Governed 10+ million people without writing, wheeled vehicles, or monetary economy. One of history's most impressive administrative achievements.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36392" y="1005840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36392" y="1005840"/>
            <a:ext cx="64008" cy="155448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06070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Pachacuti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55264" y="132588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ruler (r.1438-1471) who transformed a small regional kingdom into a vast empire in a single generation; his name means 'he who shakes the earth.'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36392" y="2194560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2212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Empire-founder equivalent to Sundiata (Mali) or Zhu Yuanzhang (Ming). AP may ask HOW he built it -- roads, mit'a, indirect rule.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89904" y="1005840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005840"/>
            <a:ext cx="64008" cy="155448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06070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Mit'a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08776" y="132588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labor tax system requiring all subjects to contribute labor to the state (roads, temples, mines, military service, state farms).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2194560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2212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Inca economic foundation -- extracted LABOR, not goods. No monetary economy. Compare with Aztec tribute (goods extraction).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2679192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2679192"/>
            <a:ext cx="64008" cy="155448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27340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Quipu (Khipu)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" y="2999232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knotted strings used by the Inca to record numerical data (tribute, census, military records) -- possibly also narrative.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3867912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Demonstrates complex record-keeping and administration WITHOUT conventional writing. AP may ask: what does this tell us about 'civilization'?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36392" y="2679192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36392" y="2679192"/>
            <a:ext cx="64008" cy="155448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5264" y="27340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Machu Picchu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55264" y="2999232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mountain citadel built c.1450 by Pachacuti, likely as a royal estate and religious site; located in the Peruvian Andes at 7,970 ft.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36392" y="3867912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55264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Demonstrates Inca architectural mastery -- perfectly fitted stone without mortar. Most famous pre-Columbian site in South America.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89904" y="2679192"/>
            <a:ext cx="2834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9904" y="2679192"/>
            <a:ext cx="64008" cy="155448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08776" y="27340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Inca Road System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08776" y="2999232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25,000-mile network of paved roads, rope bridges, and tunnels connecting the empire; maintained by mit'a labor; used relay runners (chasquis).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9904" y="3867912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08776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Greatest infrastructure achievement in pre-Columbian Americas. Compare with Roman roads: both enabled military and administrative control of vast territories.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03504"/>
          </a:xfrm>
          <a:prstGeom prst="rect">
            <a:avLst/>
          </a:prstGeom>
          <a:solidFill>
            <a:srgbClr val="C8853A"/>
          </a:solidFill>
          <a:ln w="12700">
            <a:solidFill>
              <a:srgbClr val="C88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People &amp; Groups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 · Period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Unit 1: The Global Tapestry  ·  Period 1  ·  1200-1450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7040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empire-builders and why their decisions shaped American history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024128"/>
            <a:ext cx="283464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024128"/>
            <a:ext cx="2834640" cy="47548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69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Pachacuti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33502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r.1438-1471 | Inca Empire, South America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" y="1572768"/>
            <a:ext cx="2651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Greatest Inca conqueror; transformed a small Cusco kingdom into the vast Tawantinsuyu empire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essential Inca systems: road network, mit'a labor, state storehouses (qollqa), indirect rule via curacas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Commissioned the construction of Machu Picchu as royal estate and religious center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Cusco as a grand imperial capital in the shape of a puma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methods of empire-building are a top AP comparison with Sundiata, Zhu Yuanzhang, and Charlemagne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1024128"/>
            <a:ext cx="283464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024128"/>
            <a:ext cx="2834640" cy="475488"/>
          </a:xfrm>
          <a:prstGeom prst="rect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069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Mexica People &amp; Itzcoatl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133502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c.1200-1521 | Aztec Empire, Mesoamerica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64408" y="1572768"/>
            <a:ext cx="2651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Mexica: nomadic migrants who arrived in Valley of Mexico ~1200, subordinate to established city-states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Tenochtitlan in 1325 on an island (fulfilling divine prophecy: eagle eating serpent on cactus -- still on Mexico's flag)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Itzcoatl (r.1427-1440): formed the Triple Alliance and established Aztec military supremacy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Itzcoatl reportedly ordered destruction of conquered peoples' historical records -- deliberate history revision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century of founding Tenochtitlan, the Mexica controlled the largest Mesoamerican empire in history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024128"/>
            <a:ext cx="283464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24128"/>
            <a:ext cx="2834640" cy="475488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069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Maya &amp; Cahokia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33502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Mesoamerica &amp; North America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36208" y="1572768"/>
            <a:ext cx="2651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Maya: Classic cities collapsed c.800-900 CE but Maya peoples CONTINUED in smaller states in Yucatan and Guatemala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Mayapan dominated Yucatan Maya until collapse ~1441; fragmented into competing city-states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Highland Maya (K'iche', Kaqchikel) maintained distinct kingdoms until Spanish conquest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Cahokia (North America): largest pre-Columbian city north of Mexico (~10,000-20,000); declined c.1350 before European contact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that American civilizations were complex, dynamic, and changing -- not static 'pre-history'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03504"/>
          </a:xfrm>
          <a:prstGeom prst="rect">
            <a:avLst/>
          </a:prstGeom>
          <a:solidFill>
            <a:srgbClr val="C8853A"/>
          </a:solidFill>
          <a:ln w="12700">
            <a:solidFill>
              <a:srgbClr val="C88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Timeline: The Americas 1200-1450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 · Period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Unit 1: The Global Tapestry  ·  Period 1  ·  1200-1450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7040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civilizations developed entirely independently -- yet show the same patterns as Eurasian empires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3767328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1280160"/>
                <a:gridCol w="4297680"/>
              </a:tblGrid>
              <a:tr h="3767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Date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Event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Region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AP Significance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c.800-900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Maya collapse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Mesoamerica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Cities abandoned; Maya SURVIVED in smaller states -- not an extinction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c.1100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Cahokia at peak population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pre-Columbian city north of Mexico; based on maize agriculture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c.1200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Mexica migrate into Valley of Mexico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Mesoamerica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Arrive as subordinate migrants; begin building toward empire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c.1325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Tenochtitlan founded on island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Mexico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Fulfills divine prophecy; becomes one of world's largest cities by 1500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c.1350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Cahokia abandoned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climate change or agricultural failure; before European contact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1427-1440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Itzcoatl forms Triple Alliance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Mexico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of Aztec Empire; military supremacy established in Valley of Mexico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c.1438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Pachacuti begins Inca expansion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America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Cusco kingdom becomes vast Tawantinsuyu empire within one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c.1441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Mayapan collapses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Mesoamerica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Yucatan Maya fragment; multiple competing city-states emerge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3767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c.1450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Machu Picchu constructed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estate of Pachacuti; demonstrates Inca architectural mastery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03504"/>
          </a:xfrm>
          <a:prstGeom prst="rect">
            <a:avLst/>
          </a:prstGeom>
          <a:solidFill>
            <a:srgbClr val="C8853A"/>
          </a:solidFill>
          <a:ln w="12700">
            <a:solidFill>
              <a:srgbClr val="C88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Themes &amp; Causation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 · Period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Unit 1: The Global Tapestry  ·  Period 1  ·  1200-1450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7040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connecting American examples to APWH thematic lenses -- a common exam strategy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005840"/>
            <a:ext cx="4297680" cy="1691640"/>
          </a:xfrm>
          <a:prstGeom prst="rect">
            <a:avLst/>
          </a:prstGeom>
          <a:solidFill>
            <a:srgbClr val="E3F0FF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005840"/>
            <a:ext cx="4297680" cy="31089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371600"/>
            <a:ext cx="4114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Aztec Empire = tribute empire (extract goods, leave local governance intact). The Inca = redistributive state (extract labor, give back during famine, direct administration via road network). Both used religion to legitimize authority. Neither model was 'better' -- the Aztec's resentful tributaries allied with Spanish; the Inca's loyalty was real but collapsed under smallpox and civil war.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2816352"/>
            <a:ext cx="4297680" cy="1691640"/>
          </a:xfrm>
          <a:prstGeom prst="rect">
            <a:avLst/>
          </a:prstGeom>
          <a:solidFill>
            <a:srgbClr val="FAE8E4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816352"/>
            <a:ext cx="4297680" cy="310896"/>
          </a:xfrm>
          <a:prstGeom prst="rect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1635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SYSTEMS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182112"/>
            <a:ext cx="4114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empire used money as the primary economic medium. Aztec extracted tribute goods (concentrated at Tenochtitlan's Tlatelolco market -- one of the world's largest). Inca extracted labor (mit'a) and redistributed goods through state storehouses. Both built on agricultural surpluses: Aztec chinampas (floating gardens), Inca terraced agriculture at multiple altitudes.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297680" cy="1691640"/>
          </a:xfrm>
          <a:prstGeom prst="rect">
            <a:avLst/>
          </a:prstGeom>
          <a:solidFill>
            <a:srgbClr val="E8F5EE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05840"/>
            <a:ext cx="4297680" cy="310896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0584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&amp; ENVIRONMENT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371600"/>
            <a:ext cx="4114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road system (25,000 miles) enabled military and administrative control over a vast geographic range. Aztec chinampas converted lake-bed swamps into productive farmland -- extraordinary hydraulic engineering. Neither civilization had large domesticable animals or wheeled vehicles for transport, yet both achieved architectural and administrative feats that rival any Eurasian civilization.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816352"/>
            <a:ext cx="4297680" cy="1691640"/>
          </a:xfrm>
          <a:prstGeom prst="rect">
            <a:avLst/>
          </a:prstGeom>
          <a:solidFill>
            <a:srgbClr val="EDE8F5"/>
          </a:solidFill>
          <a:ln w="12700">
            <a:solidFill>
              <a:srgbClr val="4B2D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816352"/>
            <a:ext cx="4297680" cy="310896"/>
          </a:xfrm>
          <a:prstGeom prst="rect">
            <a:avLst/>
          </a:prstGeom>
          <a:solidFill>
            <a:srgbClr val="4B2D8A"/>
          </a:solidFill>
          <a:ln w="12700">
            <a:solidFill>
              <a:srgbClr val="4B2D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81635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STRUCTURES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182112"/>
            <a:ext cx="4114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societies were sharply hierarchical. Aztec: noble (pipiltin) vs. commoner (macehualtin); merchant class (pochteca) occupied ambiguous middle; enslaved people existed but could own property. Inca: ethnic Inca nobility at top; curacas (local leaders) in middle; ayllu (kinship groups) organized commoner life. Women's roles: Aztec women managed households and weaving (a tribute good); Inca 'chosen women' (acllaconas) served the state as weavers and brewers.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03504"/>
          </a:xfrm>
          <a:prstGeom prst="rect">
            <a:avLst/>
          </a:prstGeom>
          <a:solidFill>
            <a:srgbClr val="C8853A"/>
          </a:solidFill>
          <a:ln w="12700">
            <a:solidFill>
              <a:srgbClr val="C88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 Exam Tips &amp; Must-Know Comparisons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 · Period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Unit 1: The Global Tapestry  ·  Period 1  ·  1200-1450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7040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Americas are almost always tested through COMPARISONS with Eurasian civilizations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005840"/>
            <a:ext cx="5074920" cy="3767328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97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 AP EXAM TIPS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408176"/>
            <a:ext cx="484632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vs. INCA is the top Americas comparison question -- know tribute (Aztec) vs. mit'a labor (Inca), urban centralization (Aztec) vs. road network (Inca), writing (Aztec) vs. quipu (Inca)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INDEPENDENCE: American civilizations developed entirely independently of Eurasia -- when comparing, explicitly acknowledge this parallel development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QUIPU vs. WRITING: AP may ask 'does Inca lack of writing mean lack of civilization?' -- answer: No. Quipu managed a 10-million-person empire. Complexity ≠ writing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CONTINUITY: The 'Maya collapse' (~900 CE) is often misunderstood -- Maya peoples and states CONTINUED into the 1500s. The AP exam tests whether you know this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TRIBUTE resentment: A KEY cause of Spanish conquest success. Conquered peoples who hated Aztec tribute extraction allied with Cortes. This is a causation question waiting to happen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40680" y="1005840"/>
            <a:ext cx="3520440" cy="3767328"/>
          </a:xfrm>
          <a:prstGeom prst="rect">
            <a:avLst/>
          </a:prstGeom>
          <a:solidFill>
            <a:srgbClr val="EDE8F5"/>
          </a:solidFill>
          <a:ln w="12700">
            <a:solidFill>
              <a:srgbClr val="4B2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9552" y="1078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2D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MUST-KNOW COMPARISONS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59552" y="1371600"/>
            <a:ext cx="3291840" cy="237744"/>
          </a:xfrm>
          <a:prstGeom prst="rect">
            <a:avLst/>
          </a:prstGeom>
          <a:solidFill>
            <a:srgbClr val="4B2D8A"/>
          </a:solidFill>
          <a:ln w="12700">
            <a:solidFill>
              <a:srgbClr val="4B2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13898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Aztec Tribute vs. Chinese Tribute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59552" y="16276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tribute = extractive (goods demanded from conquered peoples). Chinese tribute = symbolic (gifts exchanged; China 'wins' culturally). Radically different logics.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59552" y="2194560"/>
            <a:ext cx="3291840" cy="237744"/>
          </a:xfrm>
          <a:prstGeom prst="rect">
            <a:avLst/>
          </a:prstGeom>
          <a:solidFill>
            <a:srgbClr val="4B2D8A"/>
          </a:solidFill>
          <a:ln w="12700">
            <a:solidFill>
              <a:srgbClr val="4B2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22128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Inca Roads vs. Roman Roads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59552" y="2450592"/>
            <a:ext cx="329184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enabled military and administrative control of vast empires. Both built with state-organized labor. Key difference: Inca had no wheeled vehicles -- roads were for foot traffic and llamas.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59552" y="3017520"/>
            <a:ext cx="3291840" cy="237744"/>
          </a:xfrm>
          <a:prstGeom prst="rect">
            <a:avLst/>
          </a:prstGeom>
          <a:solidFill>
            <a:srgbClr val="4B2D8A"/>
          </a:solidFill>
          <a:ln w="12700">
            <a:solidFill>
              <a:srgbClr val="4B2D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30358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Quipu vs. Writing Systems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59552" y="3273552"/>
            <a:ext cx="329184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Quipu shows record-keeping without conventional writing. Compare with Chinese movable type (literacy spread) -- neither is universally 'superior'; both served their civilizations.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59552" y="3840480"/>
            <a:ext cx="3291840" cy="237744"/>
          </a:xfrm>
          <a:prstGeom prst="rect">
            <a:avLst/>
          </a:prstGeom>
          <a:solidFill>
            <a:srgbClr val="4B2D8A"/>
          </a:solidFill>
          <a:ln w="12700">
            <a:solidFill>
              <a:srgbClr val="4B2D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385876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Aztec vs. Mongol Empire-Building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59552" y="40965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built large empires quickly through military conquest. Both used indirect rule (leaving local leaders in place). Both created resentment that contributed to eventual collapse.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03504"/>
          </a:xfrm>
          <a:prstGeom prst="rect">
            <a:avLst/>
          </a:prstGeom>
          <a:solidFill>
            <a:srgbClr val="C8853A"/>
          </a:solidFill>
          <a:ln w="12700">
            <a:solidFill>
              <a:srgbClr val="C88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 Practice: Multiple Choice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 · Period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Unit 1: The Global Tapestry  ·  Period 1  ·  1200-1450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7040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 MCQs often require comparing American examples to Eurasian civilizations.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987552"/>
            <a:ext cx="8778240" cy="1874520"/>
          </a:xfrm>
          <a:prstGeom prst="rect">
            <a:avLst/>
          </a:prstGeom>
          <a:solidFill>
            <a:srgbClr val="EDE8F5"/>
          </a:solidFill>
          <a:ln w="12700">
            <a:solidFill>
              <a:srgbClr val="C8B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33272"/>
            <a:ext cx="8485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STIMULUS: "The Inca Empire administered a territory of over 2,500 miles without a writing system, using instead the quipu -- a system of knotted strings -- to record tribute payments, census data, and military information, administered by trained specialists called quipucamayoc."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536192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The Inca use of the quipu most directly challenges which of the following assumptions about complex societies?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37944"/>
            <a:ext cx="219456" cy="21031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47088"/>
            <a:ext cx="8275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Complex state administration requires a monetary system to function effectively.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084832"/>
            <a:ext cx="219456" cy="21031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093976"/>
            <a:ext cx="8275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Large empires need written language to manage their administrative and economic systems.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331720"/>
            <a:ext cx="219456" cy="21031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40864"/>
            <a:ext cx="8275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Religious institutions are necessary to legitimize political authority in large states.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578608"/>
            <a:ext cx="219456" cy="21031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87752"/>
            <a:ext cx="8275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Agricultural surplus is required to support specialized occupational classes.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2926080"/>
            <a:ext cx="8778240" cy="1847088"/>
          </a:xfrm>
          <a:prstGeom prst="rect">
            <a:avLst/>
          </a:prstGeom>
          <a:solidFill>
            <a:srgbClr val="FAE8E4"/>
          </a:solidFill>
          <a:ln w="12700">
            <a:solidFill>
              <a:srgbClr val="F5D6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71800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STIMULUS: "The people of Tlaxcala, Texcoco, and many other communities had long resented the Aztec tribute demands, which required them to provide food, goods, and sacrificial victims to Tenochtitlan on a regular basis."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401568"/>
            <a:ext cx="8485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The situation described in the passage most directly helps explain which of the following?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694176"/>
            <a:ext cx="219456" cy="21031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03320"/>
            <a:ext cx="8275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Why the Aztec Empire was unable to expand beyond central Mexico before Spanish arrival.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41064"/>
            <a:ext cx="219456" cy="21031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950208"/>
            <a:ext cx="8275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Why many indigenous peoples allied with Spanish conquistadors against the Aztec Empire.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187952"/>
            <a:ext cx="219456" cy="21031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197096"/>
            <a:ext cx="8275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Why the Aztec military was unable to defeat the Spanish forces in open battle.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434840"/>
            <a:ext cx="219456" cy="21031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443984"/>
            <a:ext cx="8275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Why the Aztec Empire collapsed due to internal economic mismanagement before Spanish contact.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03504"/>
          </a:xfrm>
          <a:prstGeom prst="rect">
            <a:avLst/>
          </a:prstGeom>
          <a:solidFill>
            <a:srgbClr val="C8853A"/>
          </a:solidFill>
          <a:ln w="12700">
            <a:solidFill>
              <a:srgbClr val="C88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 Practice: Short Answer Question (SAQ)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 · Period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Unit 1: The Global Tapestry  ·  Period 1  ·  1200-1450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7040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sentences per part. Use SPECIFIC evidence -- names, places, dates, terms.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987552"/>
            <a:ext cx="877824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241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SAQ PROMPT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261872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following argument: "The Aztec and Inca empires represent two fundamentally different solutions to the challenge of governing large, diverse populations -- one built on fear and extraction, the other on redistribution and administration."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737360"/>
            <a:ext cx="2834640" cy="3035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737360"/>
            <a:ext cx="2834640" cy="320040"/>
          </a:xfrm>
          <a:prstGeom prst="rect">
            <a:avLst/>
          </a:prstGeom>
          <a:solidFill>
            <a:srgbClr val="B5432A"/>
          </a:solidFill>
          <a:ln w="12700">
            <a:solidFill>
              <a:srgbClr val="B54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1031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way the Aztec Empire's tribute system supported the argument that it was 'built on fear and extraction.'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7980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4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top response includes: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3035808"/>
            <a:ext cx="2651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Wars: fought to capture sacrificial victims / Tribute demands (goods, people) resented by conquered peoples / Conquered peoples not integrated -- left as tributaries / Resentment led subject peoples to ally with Spanish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54680" y="1737360"/>
            <a:ext cx="2834640" cy="3035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737360"/>
            <a:ext cx="2834640" cy="3200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21031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way the Inca Empire's system of governance supports the argument that it was built on 'redistribution and administration.'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27980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top response includes: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3035808"/>
            <a:ext cx="2651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Mit'a labor extracted but goods redistributed from state storehouses during famine / Road network enabled direct administration of distant provinces / Curacas (local leaders) maintained in place but integrated into imperial system / Acllaconas (chosen women) produced high-value goods for state redistribution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737360"/>
            <a:ext cx="2834640" cy="3035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737360"/>
            <a:ext cx="2834640" cy="320040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1031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similarity between the Aztec and Inca empires that complicates the idea that they were fundamentally different.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7980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top response includes: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3035808"/>
            <a:ext cx="2651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used religion to legitimize imperial authority (Huitzilopochtli / Inti) / Both relied on indirect rule -- leaving local leaders in place / Both built on Mesoamerican/Andean cultural foundations that preceded them / Both extracted from subjects -- Aztec goods, Inca labor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03504"/>
          </a:xfrm>
          <a:prstGeom prst="rect">
            <a:avLst/>
          </a:prstGeom>
          <a:solidFill>
            <a:srgbClr val="C8853A"/>
          </a:solidFill>
          <a:ln w="12700">
            <a:solidFill>
              <a:srgbClr val="C88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Connections: How Chapter 5 Fits the AP Arc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· Unit 1 · Period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World History: Modern  ·  Unit 1: The Global Tapestry  ·  Period 1  ·  1200-1450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7040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connections to anchor the Americas in the wider AP World History story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987552"/>
            <a:ext cx="2834640" cy="347472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98755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← BUILT ON (Earlier)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335024"/>
            <a:ext cx="2834640" cy="3383280"/>
          </a:xfrm>
          <a:prstGeom prst="rect">
            <a:avLst/>
          </a:prstGeom>
          <a:solidFill>
            <a:srgbClr val="E3F0FF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408176"/>
            <a:ext cx="2624328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Olmec and Maya civilizations laid Mesoamerican cultural foundations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Chavín and Tiwanaku cultures preceded Inca in the Andes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Maya calendar, ballgame, and writing inherited by Aztec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agriculture as the foundational technology of American civilizations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36392" y="987552"/>
            <a:ext cx="2834640" cy="347472"/>
          </a:xfrm>
          <a:prstGeom prst="rect">
            <a:avLst/>
          </a:prstGeom>
          <a:solidFill>
            <a:srgbClr val="1B5E3B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98755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SETS UP (Later Chapters)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36392" y="1335024"/>
            <a:ext cx="2834640" cy="3383280"/>
          </a:xfrm>
          <a:prstGeom prst="rect">
            <a:avLst/>
          </a:prstGeom>
          <a:solidFill>
            <a:srgbClr val="E8F5EE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408176"/>
            <a:ext cx="2624328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conquest of Aztec Empire (1521) -- enabled by tributary resentment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conquest of Inca Empire (1532) -- smallpox + civil war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Columbian Exchange: American crops (maize, potato) transform world agriculture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from American mines finances global trade networks (Unit 3-4)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9904" y="987552"/>
            <a:ext cx="2834640" cy="347472"/>
          </a:xfrm>
          <a:prstGeom prst="rect">
            <a:avLst/>
          </a:prstGeom>
          <a:solidFill>
            <a:srgbClr val="4B2D8A"/>
          </a:solidFill>
          <a:ln w="12700">
            <a:solidFill>
              <a:srgbClr val="4B2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98755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⇄ COMPARE WITH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9904" y="1335024"/>
            <a:ext cx="2834640" cy="3383280"/>
          </a:xfrm>
          <a:prstGeom prst="rect">
            <a:avLst/>
          </a:prstGeom>
          <a:solidFill>
            <a:srgbClr val="EDE8F5"/>
          </a:solidFill>
          <a:ln w="12700">
            <a:solidFill>
              <a:srgbClr val="4B2D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1408176"/>
            <a:ext cx="2624328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tribute vs. Chinese tribute system -- extractive vs. symbolic/mutual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 roads vs. Roman roads -- both for military/administrative control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Quipu vs. Chinese movable type -- two approaches to information management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human sacrifice vs. no Eurasian equivalent -- unique religious practice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State Building in the Americas (1200-1450)</dc:title>
  <dc:subject>PptxGenJS Presentation</dc:subject>
  <dc:creator>PptxGenJS</dc:creator>
  <cp:lastModifiedBy>PptxGenJS</cp:lastModifiedBy>
  <cp:revision>1</cp:revision>
  <dcterms:created xsi:type="dcterms:W3CDTF">2026-05-10T12:39:29Z</dcterms:created>
  <dcterms:modified xsi:type="dcterms:W3CDTF">2026-05-10T12:39:29Z</dcterms:modified>
</cp:coreProperties>
</file>