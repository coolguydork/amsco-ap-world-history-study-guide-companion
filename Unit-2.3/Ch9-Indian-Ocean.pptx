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874520"/>
            <a:ext cx="8887968" cy="45720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A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in the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Ocean Region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•  Unit 2: Networks of Exchange  •  c. 1200–1450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Winds  •  Swahili Coast  •  Islam via Trade  •  Zheng He's Voyages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448056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most active pre-modern maritime trading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Indian Ocean Network: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Unlike Silk Roads, Indian Ocean trade ran on MONSOON WINDS — not political stability. It survived empires falling.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15544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43200" cy="34747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41732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Africa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(Swahili Coast)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81965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Gold, ivory,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enslaved people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29514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Indian textiles,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porcelain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743200" cy="15544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417320"/>
            <a:ext cx="27432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300984" y="141732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Arabian Peninsula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Persia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00984" y="181965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Horses, luxury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goods, dates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00984" y="229514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Spices, textiles,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goods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1417320"/>
            <a:ext cx="2743200" cy="15544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417320"/>
            <a:ext cx="2743200" cy="347472"/>
          </a:xfrm>
          <a:prstGeom prst="rect">
            <a:avLst/>
          </a:prstGeom>
          <a:solidFill>
            <a:srgbClr val="5A6B2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41732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(Malabar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Coast, Gujarat)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08776" y="181965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Cotton textiles,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spices, pepper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08776" y="229514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Gold, silk,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porcelain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36392"/>
            <a:ext cx="2743200" cy="15544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36392"/>
            <a:ext cx="2743200" cy="347472"/>
          </a:xfrm>
          <a:prstGeom prst="rect">
            <a:avLst/>
          </a:prstGeom>
          <a:solidFill>
            <a:srgbClr val="5A3080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313639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Asia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(Malacca, Java)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353872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Spices (nutmeg,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cloves, pepper)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" y="401421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Indian textiles,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goods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3136392"/>
            <a:ext cx="2743200" cy="155448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3136392"/>
            <a:ext cx="2743200" cy="347472"/>
          </a:xfrm>
          <a:prstGeom prst="rect">
            <a:avLst/>
          </a:prstGeom>
          <a:solidFill>
            <a:srgbClr val="804A10"/>
          </a:solidFill>
          <a:ln/>
        </p:spPr>
      </p:sp>
      <p:sp>
        <p:nvSpPr>
          <p:cNvPr id="29" name="Text 27"/>
          <p:cNvSpPr/>
          <p:nvPr/>
        </p:nvSpPr>
        <p:spPr>
          <a:xfrm>
            <a:off x="3300984" y="313639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(Song/Yuan/Ming)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00984" y="353872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Silk, porcelain,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tea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00984" y="401421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Spices, horses,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exotic goods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Monsoon Winds &amp; Maritime Technology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73152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Monsoon (SW)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Blows northeast — ships ride from Arabia/Africa toward India and SE Asia (May–Sept)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56232"/>
            <a:ext cx="73152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93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 Monsoon (NE)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Blows southwest — ships ride from India/China back toward Arabia and East Africa (Oct–Apr)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07792"/>
            <a:ext cx="73152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809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could PLAN voyages around the seasonal calendar. No single empire needed to control routes — nature provided the infrastructure.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59352"/>
            <a:ext cx="4114800" cy="96012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59352"/>
            <a:ext cx="73152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advantage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Roads needed Pax Mongolica (political); Indian Ocean needed only the monsoon (natural). When Mongols collapsed, Indian Ocean trade CONTINUED.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170432"/>
            <a:ext cx="4114800" cy="6858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1243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Dhow: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33872" y="124358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vessel with lateen (triangular) sail — can sail at angles to wind, not just downwind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947672"/>
            <a:ext cx="4114800" cy="685800"/>
          </a:xfrm>
          <a:prstGeom prst="rect">
            <a:avLst/>
          </a:prstGeom>
          <a:solidFill>
            <a:srgbClr val="B8DDD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20208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Lateen Sail: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33872" y="20208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sail enabling navigation at angles to the wind — critical for monsoon patterns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724912"/>
            <a:ext cx="4114800" cy="6858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27980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Junk: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33872" y="2798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Largest, most sophisticated vessels; watertight compartments; carried enormous cargo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502152"/>
            <a:ext cx="4114800" cy="685800"/>
          </a:xfrm>
          <a:prstGeom prst="rect">
            <a:avLst/>
          </a:prstGeom>
          <a:solidFill>
            <a:srgbClr val="B8DDD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36592" y="35753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Compass: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35753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invention diffused westward; enabled more accurate open-ocean navigation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279392"/>
            <a:ext cx="4114800" cy="6858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36592" y="43525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Astrolabe: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33872" y="43525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astronomical tool for determining latitude; improved navigation accuracy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Swahili Coast: East Africa's Indian Ocean Gateway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City-States: </a:t>
            </a:r>
            <a:pPr indent="0" marL="0">
              <a:buNone/>
            </a:pPr>
            <a:r>
              <a:rPr lang="en-US" sz="14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Kilwa  •  Mombasa  •  Zanzibar  •  Malindi  •  Sofala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73152" cy="1143000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exported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gold (from Great Zimbabwe), ivory, enslaved people → Indian Ocean 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73152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420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imported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cotton textiles, Chinese porcelain, Islamic luxury goods, Persian glassware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30752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30752"/>
            <a:ext cx="73152" cy="1143000"/>
          </a:xfrm>
          <a:prstGeom prst="rect">
            <a:avLst/>
          </a:prstGeom>
          <a:solidFill>
            <a:srgbClr val="5B6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&amp; Identity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78224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Bantu African traditions + Arabic commercial practices + Islamic religious identity = Swahili culture; stone mosque architecture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207008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207008"/>
            <a:ext cx="73152" cy="1143000"/>
          </a:xfrm>
          <a:prstGeom prst="rect">
            <a:avLst/>
          </a:prstGeom>
          <a:solidFill>
            <a:srgbClr val="804A1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2801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4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Kilwa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554480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city-state; controlled southern gold trade from Great Zimbabwe; Ibn Battuta: 'one of the world's finest cities' (1331)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468880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468880"/>
            <a:ext cx="73152" cy="1143000"/>
          </a:xfrm>
          <a:prstGeom prst="rect">
            <a:avLst/>
          </a:prstGeom>
          <a:solidFill>
            <a:srgbClr val="5A308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420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of trade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1635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porcelain found archaeologically in Kilwa ruins — proof of Indian Ocean network reach without direct China-Africa contact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730752"/>
            <a:ext cx="4114800" cy="1143000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730752"/>
            <a:ext cx="73152" cy="1143000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they mattered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78224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Africa's interior gold to Indian Ocean commerce; Portuguese targeted them in 1498 specifically because of this wealth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Malacca &amp; the Spread of Islam via Indian Ocean Trade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MALACCA SULTANATE (c. 1400)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0" cy="502920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618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Founded at the Strait of Malacca — chokepoint between Indian Ocean &amp; South China Sea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73936"/>
            <a:ext cx="4114800" cy="502920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Ruler converted to Islam c. 1400 for commercial + diplomatic advantage (not forced)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40864"/>
            <a:ext cx="4114800" cy="502920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Muslim merchants preferred trading with Muslim rulers → commercial incentive to convert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4114800" cy="502920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9626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Became dominant SE Asian commercial hub; taxed ALL traffic through the Strait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114800" cy="502920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5295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 spread through Malay Archipelago via this merchant-conversion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41648"/>
            <a:ext cx="4114800" cy="502920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0965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Portuguese conquered Malacca 1511 (Unit 3 — the story continues)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114800" cy="4160520"/>
          </a:xfrm>
          <a:prstGeom prst="rect">
            <a:avLst/>
          </a:prstGeom>
          <a:solidFill>
            <a:srgbClr val="06293D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804672"/>
            <a:ext cx="411480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804672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ISLAM SPREAD via Indian Ocean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36592" y="1353312"/>
            <a:ext cx="347472" cy="43891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35331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8928" y="14081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establish diasporic communities in every major port city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1920240"/>
            <a:ext cx="347472" cy="43891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192024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38928" y="197510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law (sharia) enables trust-based trade across cultural boundaries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487168"/>
            <a:ext cx="347472" cy="43891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2487168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38928" y="254203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rulers see economic advantage in converting to Islam (merchant trade access)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054096"/>
            <a:ext cx="347472" cy="43891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305409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38928" y="310896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also grants political prestige — membership in transregional Islamic community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36592" y="3621024"/>
            <a:ext cx="347472" cy="43891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3621024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38928" y="367588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Mosques, madrasas built → Islam becomes embedded in local culture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4187952"/>
            <a:ext cx="347472" cy="438912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418795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38928" y="424281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 follow rulers → Islam spreads without military conquest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4663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military conquest required — Islam spread via commercial incentive &amp; voluntary conversion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Zheng He's Voyages (1405–1433): China Enters the Indian Ocean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voyages  •  Hundreds of ships  •  Treasure ships ~444 ft (9x Columbus's Santa María)  •  Reached East Africa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14800" cy="111556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73152" cy="11155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264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DIPLOMATIC, not commercial — collect tribute, assert Ming prestige, extend tributary network; Yongle Emperor commissioned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4114800" cy="111556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87752"/>
            <a:ext cx="73152" cy="1115568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60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naval fleet in the world at the time; dwarfed anything in Europe; Chinese junks most sophisticated vessels afloat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822192"/>
            <a:ext cx="4114800" cy="111556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822192"/>
            <a:ext cx="73152" cy="1115568"/>
          </a:xfrm>
          <a:prstGeom prst="rect">
            <a:avLst/>
          </a:prstGeom>
          <a:solidFill>
            <a:srgbClr val="5B6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953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they went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9664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Asia, India (Calicut), Persian Gulf, Arabian Peninsula, East Africa — brought back giraffes, other exotica to impress the court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353312"/>
            <a:ext cx="4114800" cy="111556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353312"/>
            <a:ext cx="73152" cy="1115568"/>
          </a:xfrm>
          <a:prstGeom prst="rect">
            <a:avLst/>
          </a:prstGeom>
          <a:solidFill>
            <a:srgbClr val="804A1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4264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4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discontinued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700784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Yongle Emperor died; Confucian court reversed policy (merchants = low status; 'foreign entanglements' seen as un-Confucian); fleet records burned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587752"/>
            <a:ext cx="4114800" cy="111556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587752"/>
            <a:ext cx="73152" cy="1115568"/>
          </a:xfrm>
          <a:prstGeom prst="rect">
            <a:avLst/>
          </a:prstGeom>
          <a:solidFill>
            <a:srgbClr val="5A308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660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vacuum created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935224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withdrawal left Indian Ocean without a dominant state actor — Muslim merchants continued to dominate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822192"/>
            <a:ext cx="4114800" cy="1115568"/>
          </a:xfrm>
          <a:prstGeom prst="rect">
            <a:avLst/>
          </a:prstGeom>
          <a:solidFill>
            <a:srgbClr val="FDFAF4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3822192"/>
            <a:ext cx="73152" cy="11155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8953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long-term consequence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169664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entered uncontested Indian Ocean from 1498 — the vacuum Zheng He's withdrawal created was the opportunity European states exploited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Timeline: Indian Ocean Exchange c. 1000–1498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42976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04672"/>
            <a:ext cx="1188720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04672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1000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72768" y="859536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city-states emerge; Muslim Arab merchants establish East African communities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8503920" cy="429768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280160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280160"/>
            <a:ext cx="1188720" cy="429768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28016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1200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72768" y="1335024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Kilwa at peak prosperity; stone mosque construction; Chinese porcelain in archaeological record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755648"/>
            <a:ext cx="8503920" cy="42976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755648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1755648"/>
            <a:ext cx="1188720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75564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18105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 sacked — but Indian Ocean trade continues uninterrupted (monsoon-driven)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231136"/>
            <a:ext cx="8503920" cy="429768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231136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231136"/>
            <a:ext cx="1188720" cy="429768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31136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1290s–1340s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2286000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Battuta travels East Africa, South Asia, SE Asia, China — primary source for network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706624"/>
            <a:ext cx="8503920" cy="42976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706624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706624"/>
            <a:ext cx="1188720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706624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1400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2761488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Malacca Sultanate founded; ruler converts to Islam; becomes dominant SE Asian 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182112"/>
            <a:ext cx="8503920" cy="429768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182112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3182112"/>
            <a:ext cx="1188720" cy="429768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3182112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1405–1433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72768" y="3236976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He's 7 voyages; Ming China's dramatic (and brief) entry into Indian Ocean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8503920" cy="42976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3657600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" y="3657600"/>
            <a:ext cx="1188720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65760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~1430s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72768" y="3712464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 court reverses maritime policy; Zheng He voyages discontinued; records burned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133088"/>
            <a:ext cx="8503920" cy="429768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4133088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320040" y="4133088"/>
            <a:ext cx="1188720" cy="429768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13308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72768" y="418795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Bartolomeu Dias rounds Cape of Good Hope — Portuguese approaching from Atlantic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4608576"/>
            <a:ext cx="8503920" cy="429768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4608576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7" name="Shape 45"/>
          <p:cNvSpPr/>
          <p:nvPr/>
        </p:nvSpPr>
        <p:spPr>
          <a:xfrm>
            <a:off x="320040" y="4608576"/>
            <a:ext cx="1188720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4608576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72768" y="4663440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Vasco da Gama reaches Calicut — Portuguese enter Indian Ocean; Muslim monopoly challenged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Ocean vs. Silk Roads: The AP Exam's Favorite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04672"/>
            <a:ext cx="2057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804672"/>
            <a:ext cx="3246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Trade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804672"/>
            <a:ext cx="3200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Overland Silk Roads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43891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" y="1207008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52344" y="1207008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(monsoon winds)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98464" y="1207008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(Pax Mongolica)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8503920" cy="438912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" y="1682496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transport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52344" y="1682496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Dhows with lateen sails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98464" y="1682496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caravans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57984"/>
            <a:ext cx="8503920" cy="43891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" y="2157984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empires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52344" y="2157984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resilient to collapse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98464" y="2157984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needed Mongol unity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33472"/>
            <a:ext cx="8503920" cy="438912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" y="2633472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spread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52344" y="2633472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(primary)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98464" y="2633472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Islam, Buddhism, Christianity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8503920" cy="43891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" y="3108960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52344" y="3108960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 diasporas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98464" y="3108960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Sogdian → Muslim merchants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8503920" cy="438912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" y="3584448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Mongol collapse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52344" y="3584448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trade continued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98464" y="3584448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— routes destabilized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059936"/>
            <a:ext cx="8503920" cy="438912"/>
          </a:xfrm>
          <a:prstGeom prst="rect">
            <a:avLst/>
          </a:prstGeom>
          <a:solidFill>
            <a:srgbClr val="FDFAF4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" y="4059936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goods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52344" y="4059936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Spices, textiles, gold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98464" y="4059936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Silk, porcelain, spices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535424"/>
            <a:ext cx="8503920" cy="438912"/>
          </a:xfrm>
          <a:prstGeom prst="rect">
            <a:avLst/>
          </a:prstGeom>
          <a:solidFill>
            <a:srgbClr val="B8DDD8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" y="4535424"/>
            <a:ext cx="2002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disruption (Unit 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52344" y="4535424"/>
            <a:ext cx="31912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entry 1498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98464" y="4535424"/>
            <a:ext cx="3145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Mongol collapse + maritime shift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This comparison appears almost every AP exam year — know it cold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A7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EXAM TIPS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9: Indian Ocean Exchange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115568"/>
          </a:xfrm>
          <a:prstGeom prst="rect">
            <a:avLst/>
          </a:prstGeom>
          <a:solidFill>
            <a:srgbClr val="06203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75488" cy="1115568"/>
          </a:xfrm>
          <a:prstGeom prst="rect">
            <a:avLst/>
          </a:prstGeom>
          <a:solidFill>
            <a:srgbClr val="F5C97A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SOURCE 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uses artifacts (Chinese porcelain in African ruins, mosque architecture, Ibn Battuta excerpts) as MCQ stimuli — practice reading them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206240" cy="1115568"/>
          </a:xfrm>
          <a:prstGeom prst="rect">
            <a:avLst/>
          </a:prstGeom>
          <a:solidFill>
            <a:srgbClr val="06203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32304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Indian Ocean trade 'ended' when Mongols fell — it didn't depend on Mongol rule; it's the Silk Roads that declined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206240" cy="1115568"/>
          </a:xfrm>
          <a:prstGeom prst="rect">
            <a:avLst/>
          </a:prstGeom>
          <a:solidFill>
            <a:srgbClr val="06203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94176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He's voyages = DIPLOMATIC (tribute-seeking), NOT commercial like private Muslim merchant trade — very different purposes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4206240" cy="1115568"/>
          </a:xfrm>
          <a:prstGeom prst="rect">
            <a:avLst/>
          </a:prstGeom>
          <a:solidFill>
            <a:srgbClr val="06203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70432"/>
            <a:ext cx="475488" cy="1115568"/>
          </a:xfrm>
          <a:prstGeom prst="rect">
            <a:avLst/>
          </a:prstGeom>
          <a:solidFill>
            <a:srgbClr val="E8704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170432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#3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517904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in SE Asia/E. Africa spread through MERCHANT DIASPORAS, not military conquest — voluntary commercial conversion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206240" cy="1115568"/>
          </a:xfrm>
          <a:prstGeom prst="rect">
            <a:avLst/>
          </a:prstGeom>
          <a:solidFill>
            <a:srgbClr val="06203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475488" cy="1115568"/>
          </a:xfrm>
          <a:prstGeom prst="rect">
            <a:avLst/>
          </a:prstGeom>
          <a:solidFill>
            <a:srgbClr val="7AC8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24323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(monsoon, decentralized, resilient) vs. Silk Roads (political, centralized, dependent on Pax Mongolica)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94176"/>
            <a:ext cx="4206240" cy="1115568"/>
          </a:xfrm>
          <a:prstGeom prst="rect">
            <a:avLst/>
          </a:prstGeom>
          <a:solidFill>
            <a:srgbClr val="062038"/>
          </a:solidFill>
          <a:ln/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94176"/>
            <a:ext cx="475488" cy="1115568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694176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78561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CHAIN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041648"/>
            <a:ext cx="3547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merchants establish diasporas → commercial incentive for rulers to convert → Islam spreads → Malacca model → Portuguese disruption 1498 (Unit 3)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9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Ocean Exchange: 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Indian Ocean was the world's most active pre-modern maritime system — powered by monsoon winds, not political stability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This made it MORE RESILIENT than the Silk Roads — it survived the Abbasid collapse, Mongol invasion, and Black Death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Muslim merchants spread Islam via diasporic communities; local rulers converted voluntarily for commercial advantage (Malacca model)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Swahili city-states (Kilwa) connected East African gold to Indian Ocean commerce — their wealth visible in stone mosques and Chinese porcelain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Zheng He's voyages (1405–33) showed China could dominate; the court's withdrawal created the vacuum Portuguese exploited after 1498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Indian Ocean story in Unit 2 sets up Unit 3: Portuguese entry 1498 disrupts the Muslim-dominated system that this chapter describes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4988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•  Ch9: Indian Ocean Exchange  •  AP World History: Modern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Ch9: Indian Ocean Exchange</dc:title>
  <dc:subject>PptxGenJS Presentation</dc:subject>
  <dc:creator>AP World History Study</dc:creator>
  <cp:lastModifiedBy>AP World History Study</cp:lastModifiedBy>
  <cp:revision>1</cp:revision>
  <dcterms:created xsi:type="dcterms:W3CDTF">2026-05-11T14:38:23Z</dcterms:created>
  <dcterms:modified xsi:type="dcterms:W3CDTF">2026-05-11T14:38:23Z</dcterms:modified>
</cp:coreProperties>
</file>